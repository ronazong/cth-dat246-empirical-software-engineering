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8"/>
  </p:notesMasterIdLst>
  <p:sldIdLst>
    <p:sldId id="259" r:id="rId2"/>
    <p:sldId id="305" r:id="rId3"/>
    <p:sldId id="304" r:id="rId4"/>
    <p:sldId id="260" r:id="rId5"/>
    <p:sldId id="299" r:id="rId6"/>
    <p:sldId id="261" r:id="rId7"/>
    <p:sldId id="262" r:id="rId8"/>
    <p:sldId id="263" r:id="rId9"/>
    <p:sldId id="264" r:id="rId10"/>
    <p:sldId id="265" r:id="rId11"/>
    <p:sldId id="296" r:id="rId12"/>
    <p:sldId id="297" r:id="rId13"/>
    <p:sldId id="298" r:id="rId14"/>
    <p:sldId id="266" r:id="rId15"/>
    <p:sldId id="267" r:id="rId16"/>
    <p:sldId id="268" r:id="rId17"/>
    <p:sldId id="269" r:id="rId18"/>
    <p:sldId id="300" r:id="rId19"/>
    <p:sldId id="270" r:id="rId20"/>
    <p:sldId id="271" r:id="rId21"/>
    <p:sldId id="272" r:id="rId22"/>
    <p:sldId id="273" r:id="rId23"/>
    <p:sldId id="301" r:id="rId24"/>
    <p:sldId id="274" r:id="rId25"/>
    <p:sldId id="275" r:id="rId26"/>
    <p:sldId id="276" r:id="rId27"/>
    <p:sldId id="277" r:id="rId28"/>
    <p:sldId id="302" r:id="rId29"/>
    <p:sldId id="279" r:id="rId30"/>
    <p:sldId id="280" r:id="rId31"/>
    <p:sldId id="281" r:id="rId32"/>
    <p:sldId id="306" r:id="rId33"/>
    <p:sldId id="283" r:id="rId34"/>
    <p:sldId id="284" r:id="rId35"/>
    <p:sldId id="285" r:id="rId36"/>
    <p:sldId id="286" r:id="rId37"/>
    <p:sldId id="303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9144000" cy="6858000" type="screen4x3"/>
  <p:notesSz cx="6858000" cy="9144000"/>
  <p:defaultTextStyle>
    <a:defPPr>
      <a:defRPr lang="sv-S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pitchFamily="9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/>
    <p:restoredTop sz="94589"/>
  </p:normalViewPr>
  <p:slideViewPr>
    <p:cSldViewPr showGuides="1">
      <p:cViewPr varScale="1">
        <p:scale>
          <a:sx n="120" d="100"/>
          <a:sy n="120" d="100"/>
        </p:scale>
        <p:origin x="13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sv-SE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sv-SE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08C084B-7047-4F69-A78E-60BC252BCC38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360298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96" charset="-128"/>
        <a:cs typeface="ＭＳ Ｐゴシック" pitchFamily="9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68" charset="0"/>
        <a:ea typeface="ＭＳ Ｐゴシック" pitchFamily="6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sv-SE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sv-SE" noProof="0"/>
              <a:t>Drag picture to placeholder or click icon to add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724650" y="838200"/>
            <a:ext cx="2152650" cy="5638800"/>
          </a:xfrm>
        </p:spPr>
        <p:txBody>
          <a:bodyPr vert="eaVert"/>
          <a:lstStyle/>
          <a:p>
            <a:r>
              <a:rPr lang="sv-SE"/>
              <a:t>Click to edit Master title style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266700" y="838200"/>
            <a:ext cx="6305550" cy="5638800"/>
          </a:xfrm>
        </p:spPr>
        <p:txBody>
          <a:bodyPr vert="eaVert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0" y="838200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</a:t>
            </a:r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pic>
        <p:nvPicPr>
          <p:cNvPr id="10" name="Bildobjekt 9" descr="Chalmers Univ logo_svart.em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528" y="170728"/>
            <a:ext cx="1105544" cy="213446"/>
          </a:xfrm>
          <a:prstGeom prst="rect">
            <a:avLst/>
          </a:prstGeom>
        </p:spPr>
      </p:pic>
      <p:cxnSp>
        <p:nvCxnSpPr>
          <p:cNvPr id="12" name="Rak 11"/>
          <p:cNvCxnSpPr/>
          <p:nvPr/>
        </p:nvCxnSpPr>
        <p:spPr bwMode="auto">
          <a:xfrm>
            <a:off x="0" y="457200"/>
            <a:ext cx="9144000" cy="1588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" name="Bildobjekt 8" descr="Logo GUeng_leftSV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35696" y="63653"/>
            <a:ext cx="2549834" cy="341012"/>
          </a:xfrm>
          <a:prstGeom prst="rect">
            <a:avLst/>
          </a:prstGeom>
        </p:spPr>
      </p:pic>
      <p:cxnSp>
        <p:nvCxnSpPr>
          <p:cNvPr id="13" name="Rak 12"/>
          <p:cNvCxnSpPr/>
          <p:nvPr/>
        </p:nvCxnSpPr>
        <p:spPr bwMode="auto">
          <a:xfrm rot="5400000">
            <a:off x="1527249" y="240234"/>
            <a:ext cx="184448" cy="397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ＭＳ Ｐゴシック" pitchFamily="96" charset="-128"/>
          <a:cs typeface="Akzidenz-Bd for Chalmer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  <a:ea typeface="ＭＳ Ｐゴシック" pitchFamily="96" charset="-128"/>
          <a:cs typeface="ＭＳ Ｐゴシック" pitchFamily="96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 Black" pitchFamily="6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•"/>
        <a:defRPr sz="2000" b="0" i="0">
          <a:solidFill>
            <a:schemeClr val="tx1"/>
          </a:solidFill>
          <a:latin typeface="+mn-lt"/>
          <a:ea typeface="ＭＳ Ｐゴシック" pitchFamily="96" charset="-128"/>
          <a:cs typeface="Akzidenz for Chalmers Regular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–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•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–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 b="0" i="0">
          <a:solidFill>
            <a:schemeClr val="tx1"/>
          </a:solidFill>
          <a:latin typeface="+mn-lt"/>
          <a:ea typeface="ＭＳ Ｐゴシック" pitchFamily="68" charset="-128"/>
          <a:cs typeface="Akzidenz for Chalmers Regular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150000"/>
        <a:buChar char="»"/>
        <a:defRPr sz="2000">
          <a:solidFill>
            <a:schemeClr val="tx1"/>
          </a:solidFill>
          <a:latin typeface="+mn-lt"/>
          <a:ea typeface="ＭＳ Ｐゴシック" pitchFamily="68" charset="-128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3200" dirty="0"/>
              <a:t>Goals, research questions, hypotheses, evaluating a paper, and all other things you also need to know when doing a master thesis in software engineering at Chalmers and University of Gothenburg </a:t>
            </a:r>
            <a:r>
              <a:rPr lang="en-GB" sz="3200"/>
              <a:t>in 2022</a:t>
            </a:r>
            <a:endParaRPr lang="en-GB" sz="32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5132784"/>
            <a:ext cx="6400800" cy="1752600"/>
          </a:xfrm>
        </p:spPr>
        <p:txBody>
          <a:bodyPr/>
          <a:lstStyle/>
          <a:p>
            <a:r>
              <a:rPr lang="en-GB" dirty="0"/>
              <a:t>Lecturer: Richard Torkar</a:t>
            </a:r>
          </a:p>
          <a:p>
            <a:r>
              <a:rPr lang="en-GB" sz="1600" dirty="0"/>
              <a:t>Slides partly donated by </a:t>
            </a:r>
            <a:r>
              <a:rPr lang="en-GB" sz="1600" dirty="0" err="1"/>
              <a:t>Dr.</a:t>
            </a:r>
            <a:r>
              <a:rPr lang="en-GB" sz="1600" dirty="0"/>
              <a:t> Mikael </a:t>
            </a:r>
            <a:r>
              <a:rPr lang="en-GB" sz="1600" dirty="0" err="1"/>
              <a:t>Svahnberg</a:t>
            </a:r>
            <a:r>
              <a:rPr lang="en-GB" sz="1600" dirty="0"/>
              <a:t> (BTH)</a:t>
            </a:r>
          </a:p>
        </p:txBody>
      </p:sp>
    </p:spTree>
    <p:extLst>
      <p:ext uri="{BB962C8B-B14F-4D97-AF65-F5344CB8AC3E}">
        <p14:creationId xmlns:p14="http://schemas.microsoft.com/office/powerpoint/2010/main" val="3682644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4F84F9E9-0678-5E41-B9C7-7047D0702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50" y="1527572"/>
            <a:ext cx="8991499" cy="3802856"/>
          </a:xfrm>
        </p:spPr>
      </p:pic>
    </p:spTree>
    <p:extLst>
      <p:ext uri="{BB962C8B-B14F-4D97-AF65-F5344CB8AC3E}">
        <p14:creationId xmlns:p14="http://schemas.microsoft.com/office/powerpoint/2010/main" val="4262869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tshållare för innehåll 4" descr="En bild som visar text, dagstidning&#10;&#10;Automatiskt genererad beskrivning">
            <a:extLst>
              <a:ext uri="{FF2B5EF4-FFF2-40B4-BE49-F238E27FC236}">
                <a16:creationId xmlns:a16="http://schemas.microsoft.com/office/drawing/2014/main" id="{E3887CEF-8E8C-E54E-A82B-48823C86D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692696"/>
            <a:ext cx="9144000" cy="5824025"/>
          </a:xfrm>
        </p:spPr>
      </p:pic>
    </p:spTree>
    <p:extLst>
      <p:ext uri="{BB962C8B-B14F-4D97-AF65-F5344CB8AC3E}">
        <p14:creationId xmlns:p14="http://schemas.microsoft.com/office/powerpoint/2010/main" val="132969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 of today’s lecture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Today not about research methods </a:t>
            </a:r>
            <a:r>
              <a:rPr lang="en-GB" i="1" dirty="0"/>
              <a:t>per se, </a:t>
            </a:r>
            <a:r>
              <a:rPr lang="en-GB" dirty="0"/>
              <a:t>rather meta things that also needs to be handled</a:t>
            </a:r>
            <a:endParaRPr lang="en-GB" i="1" dirty="0"/>
          </a:p>
          <a:p>
            <a:r>
              <a:rPr lang="en-GB" dirty="0"/>
              <a:t>How to formulate</a:t>
            </a:r>
          </a:p>
          <a:p>
            <a:pPr lvl="1"/>
            <a:r>
              <a:rPr lang="en-GB" dirty="0"/>
              <a:t>Purpose of a research study (GQM)</a:t>
            </a:r>
          </a:p>
          <a:p>
            <a:pPr lvl="1"/>
            <a:r>
              <a:rPr lang="en-GB" dirty="0"/>
              <a:t>Research questions</a:t>
            </a:r>
          </a:p>
          <a:p>
            <a:pPr lvl="1"/>
            <a:r>
              <a:rPr lang="en-GB" dirty="0"/>
              <a:t>Hypotheses</a:t>
            </a:r>
          </a:p>
          <a:p>
            <a:pPr lvl="1"/>
            <a:r>
              <a:rPr lang="en-GB" dirty="0"/>
              <a:t>Inclusion of theory in your papers</a:t>
            </a:r>
            <a:r>
              <a:rPr lang="is-IS" dirty="0"/>
              <a:t>…</a:t>
            </a:r>
            <a:endParaRPr lang="en-GB" dirty="0"/>
          </a:p>
          <a:p>
            <a:r>
              <a:rPr lang="en-GB" dirty="0"/>
              <a:t>How to assess publications/work that you find</a:t>
            </a:r>
          </a:p>
        </p:txBody>
      </p:sp>
    </p:spTree>
    <p:extLst>
      <p:ext uri="{BB962C8B-B14F-4D97-AF65-F5344CB8AC3E}">
        <p14:creationId xmlns:p14="http://schemas.microsoft.com/office/powerpoint/2010/main" val="1776982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Purpose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2312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Purpose Statement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Your Aim, Intention, Drive, Reason</a:t>
            </a:r>
          </a:p>
          <a:p>
            <a:pPr lvl="1"/>
            <a:r>
              <a:rPr lang="en-GB"/>
              <a:t>What are you going to do?</a:t>
            </a:r>
          </a:p>
          <a:p>
            <a:pPr lvl="1"/>
            <a:r>
              <a:rPr lang="en-GB"/>
              <a:t>Why is this important?</a:t>
            </a:r>
          </a:p>
          <a:p>
            <a:pPr lvl="2"/>
            <a:r>
              <a:rPr lang="en-GB"/>
              <a:t>Scientifically (Research community)</a:t>
            </a:r>
          </a:p>
          <a:p>
            <a:pPr lvl="2"/>
            <a:r>
              <a:rPr lang="en-GB"/>
              <a:t>Economically (Financiers)</a:t>
            </a:r>
          </a:p>
          <a:p>
            <a:endParaRPr lang="en-GB"/>
          </a:p>
          <a:p>
            <a:r>
              <a:rPr lang="en-GB"/>
              <a:t>Used in</a:t>
            </a:r>
          </a:p>
          <a:p>
            <a:pPr lvl="1"/>
            <a:r>
              <a:rPr lang="en-GB"/>
              <a:t>research proposal (Aims &amp; Objectives)</a:t>
            </a:r>
          </a:p>
          <a:p>
            <a:pPr lvl="1"/>
            <a:r>
              <a:rPr lang="en-GB"/>
              <a:t>research report (part of introduction)</a:t>
            </a:r>
          </a:p>
        </p:txBody>
      </p:sp>
    </p:spTree>
    <p:extLst>
      <p:ext uri="{BB962C8B-B14F-4D97-AF65-F5344CB8AC3E}">
        <p14:creationId xmlns:p14="http://schemas.microsoft.com/office/powerpoint/2010/main" val="183146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Problem, Purpose, Question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Distinguish between these</a:t>
            </a:r>
          </a:p>
          <a:p>
            <a:r>
              <a:rPr lang="ja-JP" altLang="en-GB">
                <a:latin typeface="Arial"/>
              </a:rPr>
              <a:t>“</a:t>
            </a:r>
            <a:r>
              <a:rPr lang="en-GB" dirty="0"/>
              <a:t>The problem is XXX</a:t>
            </a:r>
            <a:r>
              <a:rPr lang="ja-JP" altLang="en-GB">
                <a:latin typeface="Arial"/>
              </a:rPr>
              <a:t>”</a:t>
            </a:r>
            <a:endParaRPr lang="en-GB" dirty="0"/>
          </a:p>
          <a:p>
            <a:r>
              <a:rPr lang="ja-JP" altLang="en-GB">
                <a:latin typeface="Arial"/>
              </a:rPr>
              <a:t>“</a:t>
            </a:r>
            <a:r>
              <a:rPr lang="en-GB" dirty="0"/>
              <a:t>The purpose of this study is YYY, [in the context of XXX]</a:t>
            </a:r>
            <a:r>
              <a:rPr lang="ja-JP" altLang="en-GB">
                <a:latin typeface="Arial"/>
              </a:rPr>
              <a:t>”</a:t>
            </a:r>
            <a:endParaRPr lang="en-GB" dirty="0"/>
          </a:p>
          <a:p>
            <a:r>
              <a:rPr lang="ja-JP" altLang="en-GB">
                <a:latin typeface="Arial"/>
              </a:rPr>
              <a:t>“</a:t>
            </a:r>
            <a:r>
              <a:rPr lang="en-GB" dirty="0"/>
              <a:t>The research question is ZZZ</a:t>
            </a:r>
            <a:r>
              <a:rPr lang="ja-JP" altLang="en-GB">
                <a:latin typeface="Arial"/>
              </a:rPr>
              <a:t>”</a:t>
            </a:r>
            <a:endParaRPr lang="en-GB" dirty="0"/>
          </a:p>
          <a:p>
            <a:pPr lvl="1"/>
            <a:r>
              <a:rPr lang="en-GB" dirty="0"/>
              <a:t>will come back to research question later</a:t>
            </a:r>
          </a:p>
        </p:txBody>
      </p:sp>
    </p:spTree>
    <p:extLst>
      <p:ext uri="{BB962C8B-B14F-4D97-AF65-F5344CB8AC3E}">
        <p14:creationId xmlns:p14="http://schemas.microsoft.com/office/powerpoint/2010/main" val="1535748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Keywords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GB">
                <a:latin typeface="Arial"/>
              </a:rPr>
              <a:t>“</a:t>
            </a:r>
            <a:r>
              <a:rPr lang="en-GB" dirty="0"/>
              <a:t>purpose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intention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goal</a:t>
            </a:r>
            <a:r>
              <a:rPr lang="ja-JP" altLang="en-GB">
                <a:latin typeface="Arial"/>
              </a:rPr>
              <a:t>”</a:t>
            </a:r>
            <a:endParaRPr lang="en-GB" dirty="0"/>
          </a:p>
          <a:p>
            <a:endParaRPr lang="en-GB" dirty="0"/>
          </a:p>
          <a:p>
            <a:r>
              <a:rPr lang="ja-JP" altLang="en-GB">
                <a:latin typeface="Arial"/>
              </a:rPr>
              <a:t>“</a:t>
            </a:r>
            <a:r>
              <a:rPr lang="en-GB" dirty="0"/>
              <a:t>discover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identify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evaluate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explore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/>
              <a:t>compare</a:t>
            </a:r>
            <a:r>
              <a:rPr lang="ja-JP" altLang="en-GB">
                <a:latin typeface="Arial"/>
              </a:rPr>
              <a:t>”</a:t>
            </a:r>
            <a:r>
              <a:rPr lang="en-GB" dirty="0"/>
              <a:t>, </a:t>
            </a:r>
            <a:r>
              <a:rPr lang="ja-JP" altLang="en-GB">
                <a:latin typeface="Arial"/>
              </a:rPr>
              <a:t>“</a:t>
            </a:r>
            <a:r>
              <a:rPr lang="en-GB" dirty="0" err="1"/>
              <a:t>analyze</a:t>
            </a:r>
            <a:r>
              <a:rPr lang="ja-JP" altLang="en-GB">
                <a:latin typeface="Arial"/>
              </a:rPr>
              <a:t>”</a:t>
            </a:r>
            <a:endParaRPr lang="en-GB" dirty="0"/>
          </a:p>
          <a:p>
            <a:endParaRPr lang="en-GB" dirty="0"/>
          </a:p>
          <a:p>
            <a:pPr>
              <a:buFont typeface="Wingdings" charset="0"/>
              <a:buNone/>
            </a:pPr>
            <a:r>
              <a:rPr lang="en-GB" dirty="0"/>
              <a:t>Example:</a:t>
            </a:r>
          </a:p>
          <a:p>
            <a:pPr marL="522288" lvl="1" indent="0">
              <a:buFont typeface="Wingdings" charset="0"/>
              <a:buNone/>
            </a:pPr>
            <a:r>
              <a:rPr lang="en-GB" i="1" dirty="0"/>
              <a:t>The purpose of this study is to evaluate the use of Checklist-based Reading in the context of industry software development projects</a:t>
            </a:r>
          </a:p>
          <a:p>
            <a:pPr>
              <a:buFont typeface="Wingdings" charset="0"/>
              <a:buNone/>
            </a:pP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107131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/>
              <a:t>The importance of the</a:t>
            </a:r>
            <a:br>
              <a:rPr lang="en-GB" sz="2400"/>
            </a:br>
            <a:r>
              <a:rPr lang="en-GB" sz="2400"/>
              <a:t>purpose statement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Sets the stage</a:t>
            </a:r>
          </a:p>
          <a:p>
            <a:r>
              <a:rPr lang="en-GB" dirty="0"/>
              <a:t>Limits the research methodologies we are able to use.</a:t>
            </a:r>
          </a:p>
          <a:p>
            <a:pPr marL="712788" lvl="1" indent="0">
              <a:buFont typeface="Wingdings" charset="0"/>
              <a:buNone/>
            </a:pPr>
            <a:r>
              <a:rPr lang="en-GB" i="1" dirty="0"/>
              <a:t>The purpose of this study is to evaluate the use of checklist-based reading in the context of industry software development projects</a:t>
            </a:r>
          </a:p>
          <a:p>
            <a:pPr marL="712788" lvl="1" indent="0">
              <a:buFont typeface="Wingdings" charset="0"/>
              <a:buNone/>
            </a:pPr>
            <a:endParaRPr lang="en-GB" dirty="0"/>
          </a:p>
          <a:p>
            <a:pPr marL="712788" lvl="1" indent="0">
              <a:buFont typeface="Wingdings" charset="0"/>
              <a:buNone/>
            </a:pPr>
            <a:r>
              <a:rPr lang="en-GB" dirty="0"/>
              <a:t>... compare checklist-based reading with perspective-based reading ...</a:t>
            </a:r>
          </a:p>
          <a:p>
            <a:pPr marL="712788" lvl="1" indent="0">
              <a:buFont typeface="Wingdings" charset="0"/>
              <a:buNone/>
            </a:pPr>
            <a:r>
              <a:rPr lang="en-GB" dirty="0"/>
              <a:t>... identify the use of checklist-based reading ...</a:t>
            </a:r>
          </a:p>
        </p:txBody>
      </p:sp>
    </p:spTree>
    <p:extLst>
      <p:ext uri="{BB962C8B-B14F-4D97-AF65-F5344CB8AC3E}">
        <p14:creationId xmlns:p14="http://schemas.microsoft.com/office/powerpoint/2010/main" val="320905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Examples of purpose statements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purpose of this study is to</a:t>
            </a:r>
          </a:p>
          <a:p>
            <a:pPr lvl="1"/>
            <a:r>
              <a:rPr lang="en-GB"/>
              <a:t>evaluate the performance achieved by six java JIT-compilers concerning arithmetic expressions.</a:t>
            </a:r>
          </a:p>
          <a:p>
            <a:pPr lvl="1"/>
            <a:r>
              <a:rPr lang="en-GB"/>
              <a:t>elicit end-user viewpoints regarding the new calendar presentation, and analyse them for improvement suggestions.</a:t>
            </a:r>
          </a:p>
          <a:p>
            <a:pPr lvl="1"/>
            <a:r>
              <a:rPr lang="en-GB"/>
              <a:t>compare Requisite Pro with DOORS with respect to which tool that best fit our current requirements engineering practices.</a:t>
            </a:r>
          </a:p>
          <a:p>
            <a:pPr lvl="1"/>
            <a:r>
              <a:rPr lang="en-GB"/>
              <a:t>develop a simulation model of distance heating networks.</a:t>
            </a:r>
          </a:p>
        </p:txBody>
      </p:sp>
    </p:spTree>
    <p:extLst>
      <p:ext uri="{BB962C8B-B14F-4D97-AF65-F5344CB8AC3E}">
        <p14:creationId xmlns:p14="http://schemas.microsoft.com/office/powerpoint/2010/main" val="1483075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GQM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918648" cy="440012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Goal, Question and Metrics (GQM) framework is used quite often in SE research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Develop a set of corporate, division and project business goals and associated measurement goals for productivity and quality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Generate questions (based on models) that define those goals as completely as possible in a quantifiable way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Specify the measures needed to be collected to answer those questions and track process and product conformance to the goals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Develop mechanisms for data collection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Collect, validate and analyze the data in real time to provide feedback to projects for corrective action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Analyze the data in a postmortem fashion to assess conformance to the goals and to make recommendations for 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676790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GQM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421108"/>
            <a:ext cx="7772400" cy="3615983"/>
          </a:xfrm>
        </p:spPr>
      </p:pic>
    </p:spTree>
    <p:extLst>
      <p:ext uri="{BB962C8B-B14F-4D97-AF65-F5344CB8AC3E}">
        <p14:creationId xmlns:p14="http://schemas.microsoft.com/office/powerpoint/2010/main" val="2089453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Research </a:t>
            </a:r>
            <a:r>
              <a:rPr lang="sv-SE" dirty="0" err="1"/>
              <a:t>questions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5078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Research Question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order to meet/reach your purpose, what questions do you need answered?</a:t>
            </a:r>
          </a:p>
          <a:p>
            <a:r>
              <a:rPr lang="en-GB" dirty="0"/>
              <a:t>The RQs guide your work</a:t>
            </a:r>
          </a:p>
          <a:p>
            <a:pPr lvl="1"/>
            <a:r>
              <a:rPr lang="en-GB" dirty="0"/>
              <a:t>But you may also change the research question based on how the work progresses</a:t>
            </a:r>
          </a:p>
          <a:p>
            <a:r>
              <a:rPr lang="en-GB" dirty="0"/>
              <a:t>Answers to the research questions should contribute to the body of knowledge</a:t>
            </a:r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553" y="4365104"/>
            <a:ext cx="5034022" cy="2297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7956550" y="6453188"/>
            <a:ext cx="9366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[Dawson]</a:t>
            </a:r>
          </a:p>
        </p:txBody>
      </p:sp>
    </p:spTree>
    <p:extLst>
      <p:ext uri="{BB962C8B-B14F-4D97-AF65-F5344CB8AC3E}">
        <p14:creationId xmlns:p14="http://schemas.microsoft.com/office/powerpoint/2010/main" val="1151977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Research Question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One or several main questions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A small number of sub-questions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Not always possible (or necessary) to state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Example: purely exploratory case studies</a:t>
            </a:r>
          </a:p>
          <a:p>
            <a:pPr>
              <a:lnSpc>
                <a:spcPct val="90000"/>
              </a:lnSpc>
            </a:pPr>
            <a:endParaRPr lang="en-GB" sz="2400" dirty="0"/>
          </a:p>
          <a:p>
            <a:pPr>
              <a:lnSpc>
                <a:spcPct val="90000"/>
              </a:lnSpc>
            </a:pPr>
            <a:r>
              <a:rPr lang="en-GB" sz="2400" dirty="0"/>
              <a:t>Avoid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Posing questions that cannot be answered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Asking questions that have already been answered (innovative height)</a:t>
            </a:r>
          </a:p>
        </p:txBody>
      </p:sp>
    </p:spTree>
    <p:extLst>
      <p:ext uri="{BB962C8B-B14F-4D97-AF65-F5344CB8AC3E}">
        <p14:creationId xmlns:p14="http://schemas.microsoft.com/office/powerpoint/2010/main" val="518068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Examples of Research Questions I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Main Question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How can the performance of a container terminal (CT) be improved by using agent-based technologies?</a:t>
            </a:r>
          </a:p>
          <a:p>
            <a:pPr>
              <a:lnSpc>
                <a:spcPct val="90000"/>
              </a:lnSpc>
            </a:pPr>
            <a:r>
              <a:rPr lang="en-GB" dirty="0"/>
              <a:t>Sub-Questions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What is the state-of-the art with respect to improving performance of CTs and can this be appropriately classified?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In order to increase efficiency in a CT, can agent-based technologies be used to control the operations?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How can agent technology be used to simulate and model the CT stakeholders?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How can simulation be used to evaluate berth allocation policies?</a:t>
            </a:r>
          </a:p>
        </p:txBody>
      </p:sp>
    </p:spTree>
    <p:extLst>
      <p:ext uri="{BB962C8B-B14F-4D97-AF65-F5344CB8AC3E}">
        <p14:creationId xmlns:p14="http://schemas.microsoft.com/office/powerpoint/2010/main" val="1951337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Examples of Research Questions II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Given a set of requirements on quality attributes for a system and a set of architecture candidates, which architecture candidate is the most appropriate, i.e. fulfils the requirements on quality attributes on the system best?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Is the perception of the strengths and weaknesses of different architecture candidates with respect to different quality attributes the same among a set of subjects?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Are software architectures perceived as supporting different quality attributes differently?</a:t>
            </a:r>
          </a:p>
          <a:p>
            <a:pPr>
              <a:lnSpc>
                <a:spcPct val="9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5384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Hypotheses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91209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Statements (predictions) based on literature or own experience that is to be falsified in the project</a:t>
            </a:r>
          </a:p>
          <a:p>
            <a:r>
              <a:rPr lang="en-GB" sz="2400" dirty="0"/>
              <a:t>Use statistical analysis to falsify hypothesis (frequentist approach vs. Bayesian approach)</a:t>
            </a:r>
          </a:p>
          <a:p>
            <a:r>
              <a:rPr lang="en-GB" sz="2400" dirty="0"/>
              <a:t>Dawson’s recommendation: Either research question or hypothesis – not both. YMMW</a:t>
            </a:r>
          </a:p>
          <a:p>
            <a:r>
              <a:rPr lang="en-GB" sz="2400" dirty="0"/>
              <a:t>Sometimes it helps to clarify what you are doing if you have both:</a:t>
            </a:r>
          </a:p>
          <a:p>
            <a:pPr lvl="1"/>
            <a:r>
              <a:rPr lang="en-GB" sz="2400" dirty="0"/>
              <a:t>Not always possible to have both</a:t>
            </a:r>
          </a:p>
          <a:p>
            <a:pPr lvl="1"/>
            <a:r>
              <a:rPr lang="en-GB" sz="2400" dirty="0"/>
              <a:t>Not always possible to have hypotheses</a:t>
            </a:r>
          </a:p>
        </p:txBody>
      </p:sp>
    </p:spTree>
    <p:extLst>
      <p:ext uri="{BB962C8B-B14F-4D97-AF65-F5344CB8AC3E}">
        <p14:creationId xmlns:p14="http://schemas.microsoft.com/office/powerpoint/2010/main" val="47176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Hypothesis and null hypothesis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dirty="0"/>
              <a:t>Null hypothesis</a:t>
            </a:r>
          </a:p>
          <a:p>
            <a:pPr lvl="1"/>
            <a:r>
              <a:rPr lang="en-GB" sz="2800" dirty="0"/>
              <a:t>There are no underlying trends or patterns – differences are due to coincidence</a:t>
            </a:r>
          </a:p>
          <a:p>
            <a:pPr lvl="1"/>
            <a:r>
              <a:rPr lang="en-GB" sz="2800" dirty="0"/>
              <a:t>Want to reject this</a:t>
            </a:r>
          </a:p>
          <a:p>
            <a:pPr lvl="2"/>
            <a:r>
              <a:rPr lang="en-GB" sz="2800" i="1" dirty="0"/>
              <a:t>H</a:t>
            </a:r>
            <a:r>
              <a:rPr lang="en-GB" sz="2800" baseline="-25000" dirty="0"/>
              <a:t>0</a:t>
            </a:r>
            <a:r>
              <a:rPr lang="en-GB" sz="2800" i="1" dirty="0"/>
              <a:t>:</a:t>
            </a:r>
            <a:r>
              <a:rPr lang="en-GB" sz="2800" dirty="0"/>
              <a:t> </a:t>
            </a:r>
            <a:r>
              <a:rPr lang="en-GB" sz="2800" i="1" dirty="0" err="1"/>
              <a:t>μ</a:t>
            </a:r>
            <a:r>
              <a:rPr lang="en-GB" sz="2800" baseline="-25000" dirty="0" err="1"/>
              <a:t>old</a:t>
            </a:r>
            <a:r>
              <a:rPr lang="en-GB" sz="2800" dirty="0"/>
              <a:t> = </a:t>
            </a:r>
            <a:r>
              <a:rPr lang="en-GB" sz="2800" i="1" dirty="0" err="1"/>
              <a:t>μ</a:t>
            </a:r>
            <a:r>
              <a:rPr lang="en-GB" sz="2800" baseline="-25000" dirty="0" err="1"/>
              <a:t>new</a:t>
            </a:r>
            <a:endParaRPr lang="en-GB" sz="2800" dirty="0"/>
          </a:p>
          <a:p>
            <a:r>
              <a:rPr lang="en-GB" sz="2800" dirty="0"/>
              <a:t>Alternative Hypothesis</a:t>
            </a:r>
          </a:p>
          <a:p>
            <a:pPr lvl="1"/>
            <a:r>
              <a:rPr lang="en-GB" sz="2800" dirty="0"/>
              <a:t>What holds, for now, if you reject </a:t>
            </a:r>
            <a:r>
              <a:rPr lang="en-GB" sz="2800" i="1" dirty="0"/>
              <a:t>H</a:t>
            </a:r>
            <a:r>
              <a:rPr lang="en-GB" sz="2800" baseline="-25000" dirty="0"/>
              <a:t>0</a:t>
            </a:r>
            <a:endParaRPr lang="en-GB" sz="2800" dirty="0"/>
          </a:p>
          <a:p>
            <a:pPr lvl="2"/>
            <a:r>
              <a:rPr lang="en-GB" sz="2800" i="1" dirty="0"/>
              <a:t>H</a:t>
            </a:r>
            <a:r>
              <a:rPr lang="en-GB" sz="2800" baseline="-25000" dirty="0"/>
              <a:t>1</a:t>
            </a:r>
            <a:r>
              <a:rPr lang="en-GB" sz="2800" i="1" dirty="0"/>
              <a:t>:</a:t>
            </a:r>
            <a:r>
              <a:rPr lang="en-GB" sz="2800" dirty="0"/>
              <a:t> </a:t>
            </a:r>
            <a:r>
              <a:rPr lang="en-GB" sz="2800" i="1" dirty="0" err="1"/>
              <a:t>μ</a:t>
            </a:r>
            <a:r>
              <a:rPr lang="en-GB" sz="2800" baseline="-25000" dirty="0" err="1"/>
              <a:t>old</a:t>
            </a:r>
            <a:r>
              <a:rPr lang="en-GB" sz="2800" dirty="0"/>
              <a:t> ≠ </a:t>
            </a:r>
            <a:r>
              <a:rPr lang="en-GB" sz="2800" i="1" dirty="0" err="1"/>
              <a:t>μ</a:t>
            </a:r>
            <a:r>
              <a:rPr lang="en-GB" sz="2800" baseline="-25000" dirty="0" err="1"/>
              <a:t>new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98326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Hypothesis testing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Type I error:</a:t>
            </a:r>
          </a:p>
          <a:p>
            <a:pPr lvl="1"/>
            <a:r>
              <a:rPr lang="en-GB" sz="2400" dirty="0"/>
              <a:t>Test indicates pattern when there is no pattern (</a:t>
            </a:r>
            <a:r>
              <a:rPr lang="en-GB" sz="2400" dirty="0" err="1"/>
              <a:t>fp</a:t>
            </a:r>
            <a:r>
              <a:rPr lang="en-GB" sz="2400" dirty="0"/>
              <a:t>)</a:t>
            </a:r>
          </a:p>
          <a:p>
            <a:pPr lvl="1"/>
            <a:r>
              <a:rPr lang="en-GB" sz="2400" dirty="0"/>
              <a:t>P(type-I-error) = P(reject H</a:t>
            </a:r>
            <a:r>
              <a:rPr lang="en-GB" sz="2400" baseline="-25000" dirty="0"/>
              <a:t>0</a:t>
            </a:r>
            <a:r>
              <a:rPr lang="en-GB" sz="2400" dirty="0"/>
              <a:t> | H</a:t>
            </a:r>
            <a:r>
              <a:rPr lang="en-GB" sz="2400" baseline="-25000" dirty="0"/>
              <a:t>0</a:t>
            </a:r>
            <a:r>
              <a:rPr lang="en-GB" sz="2400" dirty="0"/>
              <a:t> true)</a:t>
            </a:r>
          </a:p>
          <a:p>
            <a:r>
              <a:rPr lang="en-GB" sz="2400" dirty="0"/>
              <a:t>Type II error:</a:t>
            </a:r>
          </a:p>
          <a:p>
            <a:pPr lvl="1"/>
            <a:r>
              <a:rPr lang="en-GB" sz="2400" dirty="0"/>
              <a:t>Test indicates no pattern, when there actually is a pattern (</a:t>
            </a:r>
            <a:r>
              <a:rPr lang="en-GB" sz="2400" dirty="0" err="1"/>
              <a:t>fn</a:t>
            </a:r>
            <a:r>
              <a:rPr lang="en-GB" sz="2400" dirty="0"/>
              <a:t>)</a:t>
            </a:r>
          </a:p>
          <a:p>
            <a:pPr lvl="1"/>
            <a:r>
              <a:rPr lang="en-GB" sz="2400" dirty="0"/>
              <a:t>P(type-II-error) = P(not reject H</a:t>
            </a:r>
            <a:r>
              <a:rPr lang="en-GB" sz="2400" baseline="-25000" dirty="0"/>
              <a:t>0</a:t>
            </a:r>
            <a:r>
              <a:rPr lang="en-GB" sz="2400" dirty="0"/>
              <a:t> | H</a:t>
            </a:r>
            <a:r>
              <a:rPr lang="en-GB" sz="2400" baseline="-25000" dirty="0"/>
              <a:t>0</a:t>
            </a:r>
            <a:r>
              <a:rPr lang="en-GB" sz="2400" dirty="0"/>
              <a:t> false)</a:t>
            </a:r>
          </a:p>
          <a:p>
            <a:r>
              <a:rPr lang="en-GB" sz="2400" dirty="0"/>
              <a:t>Power:</a:t>
            </a:r>
          </a:p>
          <a:p>
            <a:pPr lvl="1"/>
            <a:r>
              <a:rPr lang="en-GB" sz="2400" dirty="0"/>
              <a:t>probability that the test reveals a true pattern if H</a:t>
            </a:r>
            <a:r>
              <a:rPr lang="en-GB" sz="2400" baseline="-25000" dirty="0"/>
              <a:t>0</a:t>
            </a:r>
            <a:r>
              <a:rPr lang="en-GB" sz="2400" dirty="0"/>
              <a:t> is false</a:t>
            </a:r>
          </a:p>
          <a:p>
            <a:pPr lvl="1"/>
            <a:r>
              <a:rPr lang="en-GB" sz="2400" dirty="0"/>
              <a:t>Power = P(reject H</a:t>
            </a:r>
            <a:r>
              <a:rPr lang="en-GB" sz="2400" baseline="-25000" dirty="0"/>
              <a:t>0</a:t>
            </a:r>
            <a:r>
              <a:rPr lang="en-GB" sz="2400" dirty="0"/>
              <a:t> | H</a:t>
            </a:r>
            <a:r>
              <a:rPr lang="en-GB" sz="2400" baseline="-25000" dirty="0"/>
              <a:t>0</a:t>
            </a:r>
            <a:r>
              <a:rPr lang="en-GB" sz="2400" dirty="0"/>
              <a:t> false) = 1-P(type-II-error)</a:t>
            </a:r>
          </a:p>
        </p:txBody>
      </p:sp>
    </p:spTree>
    <p:extLst>
      <p:ext uri="{BB962C8B-B14F-4D97-AF65-F5344CB8AC3E}">
        <p14:creationId xmlns:p14="http://schemas.microsoft.com/office/powerpoint/2010/main" val="4081255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 of Hypothesis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3200" dirty="0"/>
              <a:t>Null Hypothesis: There is no difference in productivity between computer science students and software engineering students</a:t>
            </a:r>
            <a:br>
              <a:rPr lang="en-GB" sz="3200" dirty="0"/>
            </a:br>
            <a:r>
              <a:rPr lang="en-GB" sz="3200" dirty="0"/>
              <a:t> </a:t>
            </a:r>
            <a:r>
              <a:rPr lang="en-GB" sz="3200" i="1" dirty="0"/>
              <a:t>H</a:t>
            </a:r>
            <a:r>
              <a:rPr lang="en-GB" sz="3200" i="1" baseline="-25000" dirty="0"/>
              <a:t>0</a:t>
            </a:r>
            <a:r>
              <a:rPr lang="en-GB" sz="3200" dirty="0"/>
              <a:t> : Prod(CS) = Prod(SE)</a:t>
            </a:r>
          </a:p>
          <a:p>
            <a:r>
              <a:rPr lang="en-GB" sz="3200" dirty="0"/>
              <a:t>Alternative hypothesis:</a:t>
            </a:r>
            <a:br>
              <a:rPr lang="en-GB" sz="3200" dirty="0"/>
            </a:br>
            <a:r>
              <a:rPr lang="en-GB" sz="3200" dirty="0"/>
              <a:t> </a:t>
            </a:r>
            <a:r>
              <a:rPr lang="en-GB" sz="3200" i="1" dirty="0"/>
              <a:t>H</a:t>
            </a:r>
            <a:r>
              <a:rPr lang="en-GB" sz="3200" i="1" baseline="-25000" dirty="0"/>
              <a:t>1</a:t>
            </a:r>
            <a:r>
              <a:rPr lang="en-GB" sz="3200" dirty="0"/>
              <a:t> : Prod (CS) ≠ Prod(SE)</a:t>
            </a:r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005509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Theory</a:t>
            </a:r>
            <a:r>
              <a:rPr lang="sv-SE" dirty="0"/>
              <a:t> in </a:t>
            </a:r>
            <a:r>
              <a:rPr lang="sv-SE" dirty="0" err="1"/>
              <a:t>papers</a:t>
            </a:r>
            <a:r>
              <a:rPr lang="sv-SE" dirty="0"/>
              <a:t> and </a:t>
            </a:r>
            <a:r>
              <a:rPr lang="sv-SE" dirty="0" err="1"/>
              <a:t>theses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0085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 in papers/theses/etc.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 model of how things work</a:t>
            </a:r>
          </a:p>
          <a:p>
            <a:pPr lvl="1"/>
            <a:r>
              <a:rPr lang="en-GB"/>
              <a:t>Explain</a:t>
            </a:r>
          </a:p>
          <a:p>
            <a:pPr lvl="1"/>
            <a:r>
              <a:rPr lang="en-GB"/>
              <a:t>Predict</a:t>
            </a:r>
          </a:p>
          <a:p>
            <a:r>
              <a:rPr lang="en-GB"/>
              <a:t>Examples of Theories</a:t>
            </a:r>
          </a:p>
          <a:p>
            <a:pPr lvl="1"/>
            <a:r>
              <a:rPr lang="en-GB"/>
              <a:t>Mathematical Models</a:t>
            </a:r>
          </a:p>
          <a:p>
            <a:pPr lvl="1"/>
            <a:r>
              <a:rPr lang="en-GB"/>
              <a:t>Conceptual Model</a:t>
            </a:r>
          </a:p>
          <a:p>
            <a:pPr lvl="1"/>
            <a:r>
              <a:rPr lang="en-GB"/>
              <a:t>Causal Relation</a:t>
            </a:r>
          </a:p>
          <a:p>
            <a:pPr lvl="1"/>
            <a:r>
              <a:rPr lang="en-GB"/>
              <a:t>Statements (like hypotheses)</a:t>
            </a:r>
          </a:p>
          <a:p>
            <a:pPr lvl="1"/>
            <a:r>
              <a:rPr lang="en-GB"/>
              <a:t>Visual Model</a:t>
            </a:r>
          </a:p>
          <a:p>
            <a:pPr lvl="1"/>
            <a:r>
              <a:rPr lang="en-GB"/>
              <a:t>A theoretical lens or perspective to guide your research</a:t>
            </a:r>
          </a:p>
        </p:txBody>
      </p:sp>
    </p:spTree>
    <p:extLst>
      <p:ext uri="{BB962C8B-B14F-4D97-AF65-F5344CB8AC3E}">
        <p14:creationId xmlns:p14="http://schemas.microsoft.com/office/powerpoint/2010/main" val="4076182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Theory and Aristotle</a:t>
            </a:r>
          </a:p>
        </p:txBody>
      </p:sp>
      <p:pic>
        <p:nvPicPr>
          <p:cNvPr id="25604" name="Picture 4" descr="BD18185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852738"/>
            <a:ext cx="293370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5605" name="Picture 5" descr="BD18200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2852738"/>
            <a:ext cx="153352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5606" name="AutoShape 6"/>
          <p:cNvSpPr>
            <a:spLocks noChangeArrowheads="1"/>
          </p:cNvSpPr>
          <p:nvPr/>
        </p:nvSpPr>
        <p:spPr bwMode="auto">
          <a:xfrm>
            <a:off x="2843213" y="2420938"/>
            <a:ext cx="5545137" cy="431800"/>
          </a:xfrm>
          <a:prstGeom prst="curvedDownArrow">
            <a:avLst>
              <a:gd name="adj1" fmla="val 256838"/>
              <a:gd name="adj2" fmla="val 513676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8" name="AutoShape 8"/>
          <p:cNvSpPr>
            <a:spLocks noChangeArrowheads="1"/>
          </p:cNvSpPr>
          <p:nvPr/>
        </p:nvSpPr>
        <p:spPr bwMode="auto">
          <a:xfrm flipH="1">
            <a:off x="2627313" y="4868863"/>
            <a:ext cx="5400675" cy="431800"/>
          </a:xfrm>
          <a:prstGeom prst="curvedUpArrow">
            <a:avLst>
              <a:gd name="adj1" fmla="val 250147"/>
              <a:gd name="adj2" fmla="val 50029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2341563" y="3571875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/>
              <a:t>Observations</a:t>
            </a:r>
          </a:p>
        </p:txBody>
      </p: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7072313" y="3160713"/>
            <a:ext cx="13906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/>
              <a:t>Explanatory</a:t>
            </a:r>
          </a:p>
          <a:p>
            <a:r>
              <a:rPr lang="en-GB"/>
              <a:t>Principles</a:t>
            </a:r>
          </a:p>
          <a:p>
            <a:endParaRPr lang="en-GB"/>
          </a:p>
          <a:p>
            <a:r>
              <a:rPr lang="en-GB"/>
              <a:t>(Theory)</a:t>
            </a: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4787900" y="1989138"/>
            <a:ext cx="1111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/>
              <a:t>Induction</a:t>
            </a:r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5003800" y="5373688"/>
            <a:ext cx="1212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/>
              <a:t>Deduction</a:t>
            </a:r>
          </a:p>
        </p:txBody>
      </p:sp>
    </p:spTree>
    <p:extLst>
      <p:ext uri="{BB962C8B-B14F-4D97-AF65-F5344CB8AC3E}">
        <p14:creationId xmlns:p14="http://schemas.microsoft.com/office/powerpoint/2010/main" val="3949354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Theory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6118448" cy="4495800"/>
          </a:xfrm>
        </p:spPr>
        <p:txBody>
          <a:bodyPr/>
          <a:lstStyle/>
          <a:p>
            <a:r>
              <a:rPr lang="en-GB" sz="2800" dirty="0"/>
              <a:t>Observations to build theory: Inductive</a:t>
            </a:r>
          </a:p>
          <a:p>
            <a:r>
              <a:rPr lang="en-GB" sz="2800" dirty="0"/>
              <a:t>Theory to predict reality: </a:t>
            </a:r>
            <a:br>
              <a:rPr lang="en-GB" sz="2800" dirty="0"/>
            </a:br>
            <a:r>
              <a:rPr lang="en-GB" sz="2800" dirty="0"/>
              <a:t>Deductive</a:t>
            </a:r>
          </a:p>
          <a:p>
            <a:r>
              <a:rPr lang="en-GB" sz="2800" dirty="0"/>
              <a:t>When do theories become </a:t>
            </a:r>
            <a:r>
              <a:rPr lang="en-GB" sz="2800" b="1" dirty="0"/>
              <a:t>K</a:t>
            </a:r>
            <a:r>
              <a:rPr lang="en-GB" sz="2800" dirty="0"/>
              <a:t>nowledge?</a:t>
            </a:r>
          </a:p>
          <a:p>
            <a:pPr lvl="1"/>
            <a:r>
              <a:rPr lang="en-GB" sz="2800" dirty="0"/>
              <a:t>Withstand Challenges</a:t>
            </a:r>
          </a:p>
          <a:p>
            <a:pPr lvl="2"/>
            <a:r>
              <a:rPr lang="en-GB" sz="2800" dirty="0"/>
              <a:t>Withstand Falsification</a:t>
            </a:r>
          </a:p>
          <a:p>
            <a:pPr lvl="1"/>
            <a:r>
              <a:rPr lang="en-GB" sz="2800" dirty="0"/>
              <a:t>C.f. physics and Popper’s work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3140968"/>
            <a:ext cx="2332281" cy="350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55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and how to include theory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Introduction?</a:t>
            </a:r>
          </a:p>
          <a:p>
            <a:r>
              <a:rPr lang="en-GB" dirty="0"/>
              <a:t>Literature review/related work?</a:t>
            </a:r>
          </a:p>
          <a:p>
            <a:r>
              <a:rPr lang="en-GB" dirty="0"/>
              <a:t>After research question/Hypotheses?</a:t>
            </a:r>
          </a:p>
          <a:p>
            <a:r>
              <a:rPr lang="en-GB" dirty="0"/>
              <a:t>Separate section?</a:t>
            </a:r>
          </a:p>
          <a:p>
            <a:r>
              <a:rPr lang="en-GB" dirty="0"/>
              <a:t>Nowhere?</a:t>
            </a:r>
          </a:p>
          <a:p>
            <a:endParaRPr lang="en-GB" dirty="0"/>
          </a:p>
          <a:p>
            <a:r>
              <a:rPr lang="en-GB" dirty="0"/>
              <a:t>Theory as a result of study?</a:t>
            </a:r>
          </a:p>
          <a:p>
            <a:endParaRPr lang="en-GB" dirty="0"/>
          </a:p>
          <a:p>
            <a:r>
              <a:rPr lang="en-GB" dirty="0"/>
              <a:t>What theories do you need to include and explain?</a:t>
            </a:r>
          </a:p>
          <a:p>
            <a:pPr lvl="1"/>
            <a:r>
              <a:rPr lang="en-GB" dirty="0"/>
              <a:t>1+1=2?</a:t>
            </a:r>
          </a:p>
          <a:p>
            <a:pPr lvl="1"/>
            <a:r>
              <a:rPr lang="en-GB" dirty="0"/>
              <a:t>Computer science/software engineering Basics?</a:t>
            </a:r>
          </a:p>
          <a:p>
            <a:pPr lvl="1"/>
            <a:r>
              <a:rPr lang="en-GB" dirty="0"/>
              <a:t>Explicit theory upon which you build or focus your work?</a:t>
            </a:r>
          </a:p>
        </p:txBody>
      </p:sp>
    </p:spTree>
    <p:extLst>
      <p:ext uri="{BB962C8B-B14F-4D97-AF65-F5344CB8AC3E}">
        <p14:creationId xmlns:p14="http://schemas.microsoft.com/office/powerpoint/2010/main" val="1736464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Assessing</a:t>
            </a:r>
            <a:r>
              <a:rPr lang="sv-SE" dirty="0"/>
              <a:t> </a:t>
            </a:r>
            <a:r>
              <a:rPr lang="sv-SE" dirty="0" err="1"/>
              <a:t>published</a:t>
            </a:r>
            <a:r>
              <a:rPr lang="sv-SE" dirty="0"/>
              <a:t> </a:t>
            </a:r>
            <a:r>
              <a:rPr lang="sv-SE" dirty="0" err="1"/>
              <a:t>work</a:t>
            </a: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1996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Assessing the quality of literature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is research?</a:t>
            </a:r>
            <a:br>
              <a:rPr lang="en-GB" dirty="0"/>
            </a:br>
            <a:endParaRPr lang="en-GB" dirty="0"/>
          </a:p>
          <a:p>
            <a:endParaRPr lang="en-GB" dirty="0"/>
          </a:p>
          <a:p>
            <a:r>
              <a:rPr lang="en-GB" dirty="0"/>
              <a:t>Published in Scientific Journals/Conferences</a:t>
            </a:r>
          </a:p>
          <a:p>
            <a:pPr lvl="1"/>
            <a:r>
              <a:rPr lang="en-GB" dirty="0"/>
              <a:t>Decided by reviewers (researchers)</a:t>
            </a:r>
          </a:p>
          <a:p>
            <a:pPr lvl="1"/>
            <a:r>
              <a:rPr lang="en-GB" dirty="0"/>
              <a:t>Peer reviewing</a:t>
            </a:r>
          </a:p>
          <a:p>
            <a:pPr lvl="1"/>
            <a:r>
              <a:rPr lang="en-GB" dirty="0"/>
              <a:t>ACM DL, IEEE Xplore, Springer, Elsevier, Wiley</a:t>
            </a:r>
          </a:p>
          <a:p>
            <a:r>
              <a:rPr lang="en-GB" dirty="0"/>
              <a:t>Thus: no objective definition of research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2301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Why is it important to evaluate published </a:t>
            </a:r>
            <a:br>
              <a:rPr lang="en-GB" sz="2400" dirty="0"/>
            </a:br>
            <a:r>
              <a:rPr lang="en-GB" sz="2400" dirty="0"/>
              <a:t>research publications?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Your research is based on other referenced work</a:t>
            </a:r>
          </a:p>
          <a:p>
            <a:pPr lvl="1"/>
            <a:r>
              <a:rPr lang="en-GB" dirty="0"/>
              <a:t>If that work is bad then your work is likely to be (regarded as) bad</a:t>
            </a:r>
          </a:p>
          <a:p>
            <a:r>
              <a:rPr lang="en-GB" dirty="0"/>
              <a:t>Critical reviewing and thinking is fundamental for research</a:t>
            </a:r>
          </a:p>
          <a:p>
            <a:r>
              <a:rPr lang="en-GB" dirty="0"/>
              <a:t>Ability to assess other researchers’ work helps you to assess the quality of your own work.</a:t>
            </a:r>
          </a:p>
        </p:txBody>
      </p:sp>
    </p:spTree>
    <p:extLst>
      <p:ext uri="{BB962C8B-B14F-4D97-AF65-F5344CB8AC3E}">
        <p14:creationId xmlns:p14="http://schemas.microsoft.com/office/powerpoint/2010/main" val="1478297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38200"/>
            <a:ext cx="9144000" cy="7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500"/>
              <a:t>Assessing the quality of research publications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85800" y="1981200"/>
            <a:ext cx="3810000" cy="44958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/>
              <a:t>Indirectly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Type of publication (is it peer reviewed?)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Check references in publication (have they done their homework?)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Check references </a:t>
            </a:r>
            <a:r>
              <a:rPr lang="en-GB" sz="1800" i="1"/>
              <a:t>to</a:t>
            </a:r>
            <a:r>
              <a:rPr lang="en-GB" sz="1800"/>
              <a:t> the publication (are other people using this as a source?) Careful…</a:t>
            </a:r>
          </a:p>
          <a:p>
            <a:pPr>
              <a:lnSpc>
                <a:spcPct val="90000"/>
              </a:lnSpc>
            </a:pPr>
            <a:r>
              <a:rPr lang="en-GB" sz="1800"/>
              <a:t>Directly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Read the paper (see the paper on Canvas)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Is the publication applicable to your work?</a:t>
            </a:r>
          </a:p>
          <a:p>
            <a:pPr lvl="1">
              <a:lnSpc>
                <a:spcPct val="90000"/>
              </a:lnSpc>
            </a:pPr>
            <a:r>
              <a:rPr lang="en-GB" sz="1800"/>
              <a:t>Does it make sense?</a:t>
            </a:r>
          </a:p>
        </p:txBody>
      </p:sp>
      <p:pic>
        <p:nvPicPr>
          <p:cNvPr id="3" name="Picture 2" descr="A close-up of a white card&#10;&#10;Description automatically generated">
            <a:extLst>
              <a:ext uri="{FF2B5EF4-FFF2-40B4-BE49-F238E27FC236}">
                <a16:creationId xmlns:a16="http://schemas.microsoft.com/office/drawing/2014/main" id="{2B833054-8C79-C0F3-5F6C-75EF02E94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728" y="4737211"/>
            <a:ext cx="3810000" cy="13144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31828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418DC7E-4E2B-6479-5F8C-438A07EB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latshållare för innehåll 4" descr="En bild som visar text, diagram, linje, skärmbild&#10;&#10;Automatiskt genererad beskrivning">
            <a:extLst>
              <a:ext uri="{FF2B5EF4-FFF2-40B4-BE49-F238E27FC236}">
                <a16:creationId xmlns:a16="http://schemas.microsoft.com/office/drawing/2014/main" id="{38F828A1-2CAA-63E7-03DD-81B510AB2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3826" y="1981200"/>
            <a:ext cx="5916347" cy="4495800"/>
          </a:xfrm>
        </p:spPr>
      </p:pic>
      <p:pic>
        <p:nvPicPr>
          <p:cNvPr id="4" name="Bildobjekt 3" descr="En bild som visar text, Teckensnitt, vit, algebra&#10;&#10;Automatiskt genererad beskrivning">
            <a:extLst>
              <a:ext uri="{FF2B5EF4-FFF2-40B4-BE49-F238E27FC236}">
                <a16:creationId xmlns:a16="http://schemas.microsoft.com/office/drawing/2014/main" id="{64B29E2B-B8A5-8AD1-6EB5-7DCF2E7FE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735158"/>
            <a:ext cx="5504656" cy="96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16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/>
              <a:t>Peer Reviewing for (most) Research Journals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/>
              <a:t>Anyone can submit an article/paper to a research journal (or conference or workshop).</a:t>
            </a:r>
          </a:p>
          <a:p>
            <a:pPr>
              <a:lnSpc>
                <a:spcPct val="90000"/>
              </a:lnSpc>
            </a:pPr>
            <a:r>
              <a:rPr lang="en-GB"/>
              <a:t>Each journal has a specification of what types of research papers it is intended for.</a:t>
            </a:r>
          </a:p>
          <a:p>
            <a:pPr>
              <a:lnSpc>
                <a:spcPct val="90000"/>
              </a:lnSpc>
            </a:pPr>
            <a:r>
              <a:rPr lang="en-GB"/>
              <a:t>A chief editor or an editorial board decides whether to accept the papers for publication or not.</a:t>
            </a:r>
          </a:p>
          <a:p>
            <a:pPr>
              <a:lnSpc>
                <a:spcPct val="90000"/>
              </a:lnSpc>
            </a:pPr>
            <a:r>
              <a:rPr lang="en-GB"/>
              <a:t>To assist the board they </a:t>
            </a:r>
            <a:r>
              <a:rPr lang="ja-JP" altLang="en-GB">
                <a:latin typeface="Arial"/>
              </a:rPr>
              <a:t>“</a:t>
            </a:r>
            <a:r>
              <a:rPr lang="en-GB"/>
              <a:t>employ</a:t>
            </a:r>
            <a:r>
              <a:rPr lang="ja-JP" altLang="en-GB">
                <a:latin typeface="Arial"/>
              </a:rPr>
              <a:t>”</a:t>
            </a:r>
            <a:r>
              <a:rPr lang="en-GB"/>
              <a:t> a number of referees (normally 2-3) for each submitted article.</a:t>
            </a:r>
          </a:p>
        </p:txBody>
      </p:sp>
    </p:spTree>
    <p:extLst>
      <p:ext uri="{BB962C8B-B14F-4D97-AF65-F5344CB8AC3E}">
        <p14:creationId xmlns:p14="http://schemas.microsoft.com/office/powerpoint/2010/main" val="245879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Peer Reviewing for Research Journals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Referees are typically </a:t>
            </a:r>
            <a:r>
              <a:rPr lang="ja-JP" altLang="en-GB" sz="2400">
                <a:latin typeface="Arial"/>
              </a:rPr>
              <a:t>“</a:t>
            </a:r>
            <a:r>
              <a:rPr lang="en-GB" sz="2400" dirty="0"/>
              <a:t>known names</a:t>
            </a:r>
            <a:r>
              <a:rPr lang="ja-JP" altLang="en-GB" sz="2400">
                <a:latin typeface="Arial"/>
              </a:rPr>
              <a:t>”</a:t>
            </a:r>
            <a:r>
              <a:rPr lang="en-GB" sz="2400" dirty="0"/>
              <a:t>, and/or previously published in the journal.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Referees are very often anonymous!</a:t>
            </a:r>
          </a:p>
          <a:p>
            <a:pPr lvl="1">
              <a:lnSpc>
                <a:spcPct val="90000"/>
              </a:lnSpc>
            </a:pPr>
            <a:r>
              <a:rPr lang="en-GB" sz="1600" dirty="0"/>
              <a:t>Sometimes the authors are anonymous too (double blind review)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Referees give detailed comments and recommendation of acceptance or rejection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It can be regarded as a form of voting system on what is high quality research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Potentially problematic for new areas of research and interdisciplinary research?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What if you catch the referee on a bad day?</a:t>
            </a:r>
          </a:p>
        </p:txBody>
      </p:sp>
    </p:spTree>
    <p:extLst>
      <p:ext uri="{BB962C8B-B14F-4D97-AF65-F5344CB8AC3E}">
        <p14:creationId xmlns:p14="http://schemas.microsoft.com/office/powerpoint/2010/main" val="3238568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/>
              <a:t>Referees: Assessing the quality</a:t>
            </a:r>
            <a:br>
              <a:rPr lang="en-GB" sz="2400"/>
            </a:br>
            <a:r>
              <a:rPr lang="en-GB" sz="2400"/>
              <a:t>(</a:t>
            </a:r>
            <a:r>
              <a:rPr lang="ja-JP" altLang="en-GB" sz="2400">
                <a:latin typeface="Arial"/>
              </a:rPr>
              <a:t>“</a:t>
            </a:r>
            <a:r>
              <a:rPr lang="en-GB" sz="2400"/>
              <a:t>The task of the Referee</a:t>
            </a:r>
            <a:r>
              <a:rPr lang="ja-JP" altLang="en-GB" sz="2400">
                <a:latin typeface="Arial"/>
              </a:rPr>
              <a:t>”</a:t>
            </a:r>
            <a:r>
              <a:rPr lang="en-GB" sz="2400"/>
              <a:t>, A.J. Smith)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/>
              <a:t>Clearly stated purpose?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Appropriate for the journal?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Significant/useful goal?</a:t>
            </a:r>
          </a:p>
          <a:p>
            <a:pPr lvl="1">
              <a:lnSpc>
                <a:spcPct val="90000"/>
              </a:lnSpc>
            </a:pPr>
            <a:r>
              <a:rPr lang="en-GB" sz="1200" dirty="0"/>
              <a:t>Relevancy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Valid method/approach?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Correct execution of approach?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Correct conclusions?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Presentation (understandable)?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Anything to learn for the reader?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Other Instructions from journal/conference</a:t>
            </a:r>
          </a:p>
          <a:p>
            <a:pPr>
              <a:lnSpc>
                <a:spcPct val="9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8286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Example: Instructions to Referee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	EASE Review Form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Paper Number: 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Reviewer Name: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First Author: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Overall Assessment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Strong Accept / Weak Accept / Weak Reject / Strong Reject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Reasons for assessment (Comments not visible for authors):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Appropriate for conference: (Scope of paper matches call for papers)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High / Medium / Low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Originality:  (For non-replication studies)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High / Medium / Low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Validity of research method: 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High / Medium / Low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Importance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High / Medium / Low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Suitable for Journal Publication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dirty="0"/>
              <a:t>	Yes / No</a:t>
            </a: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r>
              <a:rPr lang="en-GB" sz="1200" b="1" dirty="0"/>
              <a:t>Comments for authors:</a:t>
            </a:r>
          </a:p>
          <a:p>
            <a:pPr>
              <a:lnSpc>
                <a:spcPct val="80000"/>
              </a:lnSpc>
              <a:buFont typeface="Wingdings" charset="0"/>
              <a:buNone/>
            </a:pPr>
            <a:endParaRPr lang="en-GB" sz="1200" b="1" dirty="0"/>
          </a:p>
          <a:p>
            <a:pPr>
              <a:lnSpc>
                <a:spcPct val="80000"/>
              </a:lnSpc>
              <a:buFont typeface="Wingdings" charset="0"/>
              <a:buNone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6327152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1E499DA-6A1E-8245-A18B-2E6C3666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of publications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833D6D1A-A0B6-8746-86F2-E3E8FD16A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179398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Hierarchy of Publications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Academic Journals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Standardised Peer Review Process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Who is the publisher (may have other relevant journals)?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Detailed and specific (might be tough when new to an area)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Rather recent results available</a:t>
            </a:r>
          </a:p>
          <a:p>
            <a:pPr>
              <a:lnSpc>
                <a:spcPct val="90000"/>
              </a:lnSpc>
            </a:pPr>
            <a:r>
              <a:rPr lang="en-GB" dirty="0"/>
              <a:t>Books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Often comprehensive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Might be outdated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No standardised reviewing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Are there references </a:t>
            </a:r>
            <a:r>
              <a:rPr lang="en-GB" i="1" dirty="0"/>
              <a:t>to</a:t>
            </a:r>
            <a:r>
              <a:rPr lang="en-GB" dirty="0"/>
              <a:t> the book?</a:t>
            </a:r>
          </a:p>
        </p:txBody>
      </p:sp>
      <p:grpSp>
        <p:nvGrpSpPr>
          <p:cNvPr id="41988" name="Group 4"/>
          <p:cNvGrpSpPr>
            <a:grpSpLocks/>
          </p:cNvGrpSpPr>
          <p:nvPr/>
        </p:nvGrpSpPr>
        <p:grpSpPr bwMode="auto">
          <a:xfrm>
            <a:off x="7308850" y="5013325"/>
            <a:ext cx="1511300" cy="1512888"/>
            <a:chOff x="1248" y="240"/>
            <a:chExt cx="4176" cy="3600"/>
          </a:xfrm>
        </p:grpSpPr>
        <p:sp>
          <p:nvSpPr>
            <p:cNvPr id="41989" name="Pyr1"/>
            <p:cNvSpPr>
              <a:spLocks noEditPoints="1" noChangeArrowheads="1"/>
            </p:cNvSpPr>
            <p:nvPr/>
          </p:nvSpPr>
          <p:spPr bwMode="auto">
            <a:xfrm>
              <a:off x="2873" y="240"/>
              <a:ext cx="936" cy="798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  <a:gd name="T6" fmla="*/ 5400 w 21600"/>
                <a:gd name="T7" fmla="*/ 11800 h 21600"/>
                <a:gd name="T8" fmla="*/ 16200 w 21600"/>
                <a:gd name="T9" fmla="*/ 20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T6" t="T7" r="T8" b="T9"/>
              <a:pathLst>
                <a:path w="21600" h="2160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0" name="Pyr2"/>
            <p:cNvSpPr>
              <a:spLocks noEditPoints="1" noChangeArrowheads="1"/>
            </p:cNvSpPr>
            <p:nvPr/>
          </p:nvSpPr>
          <p:spPr bwMode="auto">
            <a:xfrm>
              <a:off x="2331" y="1038"/>
              <a:ext cx="2015" cy="936"/>
            </a:xfrm>
            <a:custGeom>
              <a:avLst/>
              <a:gdLst>
                <a:gd name="T0" fmla="*/ 5787 w 21600"/>
                <a:gd name="T1" fmla="*/ 0 h 21600"/>
                <a:gd name="T2" fmla="*/ 15812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787 w 21600"/>
                <a:gd name="T9" fmla="*/ 500 h 21600"/>
                <a:gd name="T10" fmla="*/ 158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5787" y="0"/>
                  </a:moveTo>
                  <a:lnTo>
                    <a:pt x="15812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5787" y="0"/>
                  </a:lnTo>
                  <a:close/>
                </a:path>
              </a:pathLst>
            </a:cu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1" name="Pyr3"/>
            <p:cNvSpPr>
              <a:spLocks noEditPoints="1" noChangeArrowheads="1"/>
            </p:cNvSpPr>
            <p:nvPr/>
          </p:nvSpPr>
          <p:spPr bwMode="auto">
            <a:xfrm>
              <a:off x="1795" y="1974"/>
              <a:ext cx="3087" cy="935"/>
            </a:xfrm>
            <a:custGeom>
              <a:avLst/>
              <a:gdLst>
                <a:gd name="T0" fmla="*/ 3768 w 21600"/>
                <a:gd name="T1" fmla="*/ 0 h 21600"/>
                <a:gd name="T2" fmla="*/ 17831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287 w 21600"/>
                <a:gd name="T9" fmla="*/ 500 h 21600"/>
                <a:gd name="T10" fmla="*/ 16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3768" y="0"/>
                  </a:moveTo>
                  <a:lnTo>
                    <a:pt x="17831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3768" y="0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992" name="Pyr4"/>
            <p:cNvSpPr>
              <a:spLocks noEditPoints="1" noChangeArrowheads="1"/>
            </p:cNvSpPr>
            <p:nvPr/>
          </p:nvSpPr>
          <p:spPr bwMode="auto">
            <a:xfrm>
              <a:off x="1248" y="2904"/>
              <a:ext cx="4176" cy="936"/>
            </a:xfrm>
            <a:custGeom>
              <a:avLst/>
              <a:gdLst>
                <a:gd name="T0" fmla="*/ 2793 w 21600"/>
                <a:gd name="T1" fmla="*/ 0 h 21600"/>
                <a:gd name="T2" fmla="*/ 18806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3287 w 21600"/>
                <a:gd name="T9" fmla="*/ 500 h 21600"/>
                <a:gd name="T10" fmla="*/ 17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2793" y="0"/>
                  </a:moveTo>
                  <a:lnTo>
                    <a:pt x="18806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3157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Hierarchy of Publications: ctd.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Conference Proceedings</a:t>
            </a:r>
          </a:p>
          <a:p>
            <a:pPr lvl="1"/>
            <a:r>
              <a:rPr lang="en-GB"/>
              <a:t>Quality varies between conferences</a:t>
            </a:r>
          </a:p>
          <a:p>
            <a:pPr lvl="2"/>
            <a:r>
              <a:rPr lang="en-GB"/>
              <a:t>Check acceptance ratio</a:t>
            </a:r>
          </a:p>
          <a:p>
            <a:pPr lvl="1"/>
            <a:r>
              <a:rPr lang="en-GB"/>
              <a:t>No standardised way of reviewing</a:t>
            </a:r>
          </a:p>
          <a:p>
            <a:pPr lvl="2"/>
            <a:r>
              <a:rPr lang="en-GB"/>
              <a:t>Established conferences have good quality</a:t>
            </a:r>
          </a:p>
          <a:p>
            <a:pPr lvl="1"/>
            <a:r>
              <a:rPr lang="en-GB"/>
              <a:t>Typically very recent work</a:t>
            </a:r>
          </a:p>
          <a:p>
            <a:r>
              <a:rPr lang="en-GB"/>
              <a:t>Theses (dissertations)</a:t>
            </a:r>
          </a:p>
          <a:p>
            <a:pPr lvl="1"/>
            <a:r>
              <a:rPr lang="en-GB"/>
              <a:t>In some way reviewed</a:t>
            </a:r>
          </a:p>
          <a:p>
            <a:pPr lvl="1"/>
            <a:r>
              <a:rPr lang="en-GB"/>
              <a:t>Varies in Quality</a:t>
            </a:r>
          </a:p>
          <a:p>
            <a:pPr lvl="1"/>
            <a:r>
              <a:rPr lang="en-GB"/>
              <a:t>Often a good starting point for research in a new area</a:t>
            </a:r>
          </a:p>
        </p:txBody>
      </p:sp>
      <p:grpSp>
        <p:nvGrpSpPr>
          <p:cNvPr id="43012" name="Group 4"/>
          <p:cNvGrpSpPr>
            <a:grpSpLocks/>
          </p:cNvGrpSpPr>
          <p:nvPr/>
        </p:nvGrpSpPr>
        <p:grpSpPr bwMode="auto">
          <a:xfrm>
            <a:off x="7308850" y="5013325"/>
            <a:ext cx="1511300" cy="1512888"/>
            <a:chOff x="1248" y="240"/>
            <a:chExt cx="4176" cy="3600"/>
          </a:xfrm>
        </p:grpSpPr>
        <p:sp>
          <p:nvSpPr>
            <p:cNvPr id="43013" name="Pyr1"/>
            <p:cNvSpPr>
              <a:spLocks noEditPoints="1" noChangeArrowheads="1"/>
            </p:cNvSpPr>
            <p:nvPr/>
          </p:nvSpPr>
          <p:spPr bwMode="auto">
            <a:xfrm>
              <a:off x="2873" y="240"/>
              <a:ext cx="936" cy="798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  <a:gd name="T6" fmla="*/ 5400 w 21600"/>
                <a:gd name="T7" fmla="*/ 11800 h 21600"/>
                <a:gd name="T8" fmla="*/ 16200 w 21600"/>
                <a:gd name="T9" fmla="*/ 20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T6" t="T7" r="T8" b="T9"/>
              <a:pathLst>
                <a:path w="21600" h="2160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4" name="Pyr2"/>
            <p:cNvSpPr>
              <a:spLocks noEditPoints="1" noChangeArrowheads="1"/>
            </p:cNvSpPr>
            <p:nvPr/>
          </p:nvSpPr>
          <p:spPr bwMode="auto">
            <a:xfrm>
              <a:off x="2331" y="1038"/>
              <a:ext cx="2015" cy="936"/>
            </a:xfrm>
            <a:custGeom>
              <a:avLst/>
              <a:gdLst>
                <a:gd name="T0" fmla="*/ 5787 w 21600"/>
                <a:gd name="T1" fmla="*/ 0 h 21600"/>
                <a:gd name="T2" fmla="*/ 15812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787 w 21600"/>
                <a:gd name="T9" fmla="*/ 500 h 21600"/>
                <a:gd name="T10" fmla="*/ 158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5787" y="0"/>
                  </a:moveTo>
                  <a:lnTo>
                    <a:pt x="15812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5787" y="0"/>
                  </a:lnTo>
                  <a:close/>
                </a:path>
              </a:pathLst>
            </a:cu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5" name="Pyr3"/>
            <p:cNvSpPr>
              <a:spLocks noEditPoints="1" noChangeArrowheads="1"/>
            </p:cNvSpPr>
            <p:nvPr/>
          </p:nvSpPr>
          <p:spPr bwMode="auto">
            <a:xfrm>
              <a:off x="1795" y="1974"/>
              <a:ext cx="3087" cy="935"/>
            </a:xfrm>
            <a:custGeom>
              <a:avLst/>
              <a:gdLst>
                <a:gd name="T0" fmla="*/ 3768 w 21600"/>
                <a:gd name="T1" fmla="*/ 0 h 21600"/>
                <a:gd name="T2" fmla="*/ 17831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287 w 21600"/>
                <a:gd name="T9" fmla="*/ 500 h 21600"/>
                <a:gd name="T10" fmla="*/ 16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3768" y="0"/>
                  </a:moveTo>
                  <a:lnTo>
                    <a:pt x="17831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3768" y="0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6" name="Pyr4"/>
            <p:cNvSpPr>
              <a:spLocks noEditPoints="1" noChangeArrowheads="1"/>
            </p:cNvSpPr>
            <p:nvPr/>
          </p:nvSpPr>
          <p:spPr bwMode="auto">
            <a:xfrm>
              <a:off x="1248" y="2904"/>
              <a:ext cx="4176" cy="936"/>
            </a:xfrm>
            <a:custGeom>
              <a:avLst/>
              <a:gdLst>
                <a:gd name="T0" fmla="*/ 2793 w 21600"/>
                <a:gd name="T1" fmla="*/ 0 h 21600"/>
                <a:gd name="T2" fmla="*/ 18806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3287 w 21600"/>
                <a:gd name="T9" fmla="*/ 500 h 21600"/>
                <a:gd name="T10" fmla="*/ 17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2793" y="0"/>
                  </a:moveTo>
                  <a:lnTo>
                    <a:pt x="18806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8066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Hierarchy of Publications: ctd.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/>
              <a:t>Workshops</a:t>
            </a:r>
          </a:p>
          <a:p>
            <a:pPr lvl="1"/>
            <a:r>
              <a:rPr lang="en-GB" sz="1600" dirty="0"/>
              <a:t>Unfinished ideas, as well as research results.</a:t>
            </a:r>
          </a:p>
          <a:p>
            <a:pPr lvl="1"/>
            <a:r>
              <a:rPr lang="en-GB" sz="1600" dirty="0"/>
              <a:t>May have a reviewing process in place</a:t>
            </a:r>
          </a:p>
          <a:p>
            <a:pPr lvl="1"/>
            <a:r>
              <a:rPr lang="en-GB" sz="1600" dirty="0"/>
              <a:t>Some workshops are well established and rank higher than conferences – check for references to the workshop</a:t>
            </a:r>
          </a:p>
          <a:p>
            <a:pPr lvl="1"/>
            <a:endParaRPr lang="en-GB" sz="1200" dirty="0"/>
          </a:p>
          <a:p>
            <a:r>
              <a:rPr lang="en-GB" sz="1800" dirty="0"/>
              <a:t>Manuals (of software)</a:t>
            </a:r>
          </a:p>
          <a:p>
            <a:pPr lvl="1"/>
            <a:r>
              <a:rPr lang="en-GB" sz="1600" dirty="0"/>
              <a:t>Often not (scientifically) reviewed. May contain many errors.</a:t>
            </a:r>
          </a:p>
          <a:p>
            <a:pPr lvl="1"/>
            <a:r>
              <a:rPr lang="en-GB" sz="1600" dirty="0"/>
              <a:t>Purpose is to sell – not critically review.</a:t>
            </a:r>
          </a:p>
          <a:p>
            <a:r>
              <a:rPr lang="en-GB" sz="1800" dirty="0"/>
              <a:t>Others (company reports, RFCs, white papers, newspaper articles, etc.)</a:t>
            </a:r>
          </a:p>
          <a:p>
            <a:pPr lvl="1"/>
            <a:endParaRPr lang="en-GB" sz="1200" dirty="0"/>
          </a:p>
        </p:txBody>
      </p:sp>
      <p:grpSp>
        <p:nvGrpSpPr>
          <p:cNvPr id="44036" name="Group 4"/>
          <p:cNvGrpSpPr>
            <a:grpSpLocks/>
          </p:cNvGrpSpPr>
          <p:nvPr/>
        </p:nvGrpSpPr>
        <p:grpSpPr bwMode="auto">
          <a:xfrm>
            <a:off x="7308850" y="5013325"/>
            <a:ext cx="1511300" cy="1512888"/>
            <a:chOff x="1248" y="240"/>
            <a:chExt cx="4176" cy="3600"/>
          </a:xfrm>
        </p:grpSpPr>
        <p:sp>
          <p:nvSpPr>
            <p:cNvPr id="44037" name="Pyr1"/>
            <p:cNvSpPr>
              <a:spLocks noEditPoints="1" noChangeArrowheads="1"/>
            </p:cNvSpPr>
            <p:nvPr/>
          </p:nvSpPr>
          <p:spPr bwMode="auto">
            <a:xfrm>
              <a:off x="2873" y="240"/>
              <a:ext cx="936" cy="798"/>
            </a:xfrm>
            <a:custGeom>
              <a:avLst/>
              <a:gdLst>
                <a:gd name="T0" fmla="*/ 1080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  <a:gd name="T6" fmla="*/ 5400 w 21600"/>
                <a:gd name="T7" fmla="*/ 11800 h 21600"/>
                <a:gd name="T8" fmla="*/ 16200 w 21600"/>
                <a:gd name="T9" fmla="*/ 20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T6" t="T7" r="T8" b="T9"/>
              <a:pathLst>
                <a:path w="21600" h="2160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38" name="Pyr2"/>
            <p:cNvSpPr>
              <a:spLocks noEditPoints="1" noChangeArrowheads="1"/>
            </p:cNvSpPr>
            <p:nvPr/>
          </p:nvSpPr>
          <p:spPr bwMode="auto">
            <a:xfrm>
              <a:off x="2331" y="1038"/>
              <a:ext cx="2015" cy="936"/>
            </a:xfrm>
            <a:custGeom>
              <a:avLst/>
              <a:gdLst>
                <a:gd name="T0" fmla="*/ 5787 w 21600"/>
                <a:gd name="T1" fmla="*/ 0 h 21600"/>
                <a:gd name="T2" fmla="*/ 15812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787 w 21600"/>
                <a:gd name="T9" fmla="*/ 500 h 21600"/>
                <a:gd name="T10" fmla="*/ 158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5787" y="0"/>
                  </a:moveTo>
                  <a:lnTo>
                    <a:pt x="15812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5787" y="0"/>
                  </a:lnTo>
                  <a:close/>
                </a:path>
              </a:pathLst>
            </a:cu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39" name="Pyr3"/>
            <p:cNvSpPr>
              <a:spLocks noEditPoints="1" noChangeArrowheads="1"/>
            </p:cNvSpPr>
            <p:nvPr/>
          </p:nvSpPr>
          <p:spPr bwMode="auto">
            <a:xfrm>
              <a:off x="1795" y="1974"/>
              <a:ext cx="3087" cy="935"/>
            </a:xfrm>
            <a:custGeom>
              <a:avLst/>
              <a:gdLst>
                <a:gd name="T0" fmla="*/ 3768 w 21600"/>
                <a:gd name="T1" fmla="*/ 0 h 21600"/>
                <a:gd name="T2" fmla="*/ 17831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5287 w 21600"/>
                <a:gd name="T9" fmla="*/ 500 h 21600"/>
                <a:gd name="T10" fmla="*/ 16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3768" y="0"/>
                  </a:moveTo>
                  <a:lnTo>
                    <a:pt x="17831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3768" y="0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40" name="Pyr4"/>
            <p:cNvSpPr>
              <a:spLocks noEditPoints="1" noChangeArrowheads="1"/>
            </p:cNvSpPr>
            <p:nvPr/>
          </p:nvSpPr>
          <p:spPr bwMode="auto">
            <a:xfrm>
              <a:off x="1248" y="2904"/>
              <a:ext cx="4176" cy="936"/>
            </a:xfrm>
            <a:custGeom>
              <a:avLst/>
              <a:gdLst>
                <a:gd name="T0" fmla="*/ 2793 w 21600"/>
                <a:gd name="T1" fmla="*/ 0 h 21600"/>
                <a:gd name="T2" fmla="*/ 18806 w 21600"/>
                <a:gd name="T3" fmla="*/ 0 h 21600"/>
                <a:gd name="T4" fmla="*/ 21600 w 21600"/>
                <a:gd name="T5" fmla="*/ 21600 h 21600"/>
                <a:gd name="T6" fmla="*/ 0 w 21600"/>
                <a:gd name="T7" fmla="*/ 21600 h 21600"/>
                <a:gd name="T8" fmla="*/ 3287 w 21600"/>
                <a:gd name="T9" fmla="*/ 500 h 21600"/>
                <a:gd name="T10" fmla="*/ 17312 w 21600"/>
                <a:gd name="T11" fmla="*/ 21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2793" y="0"/>
                  </a:moveTo>
                  <a:lnTo>
                    <a:pt x="18806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07284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Using a publication I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 your own referee</a:t>
            </a:r>
          </a:p>
          <a:p>
            <a:pPr lvl="1"/>
            <a:r>
              <a:rPr lang="en-GB" dirty="0"/>
              <a:t>purpose</a:t>
            </a:r>
          </a:p>
          <a:p>
            <a:pPr lvl="1"/>
            <a:r>
              <a:rPr lang="en-GB" dirty="0"/>
              <a:t>appropriateness</a:t>
            </a:r>
          </a:p>
          <a:p>
            <a:pPr lvl="1"/>
            <a:r>
              <a:rPr lang="en-GB" dirty="0"/>
              <a:t>significant goal</a:t>
            </a:r>
          </a:p>
          <a:p>
            <a:pPr lvl="1"/>
            <a:r>
              <a:rPr lang="en-GB" dirty="0"/>
              <a:t>valid method/approach</a:t>
            </a:r>
          </a:p>
          <a:p>
            <a:pPr lvl="1"/>
            <a:r>
              <a:rPr lang="en-GB" dirty="0"/>
              <a:t>correct execution of approach</a:t>
            </a:r>
          </a:p>
          <a:p>
            <a:pPr lvl="1"/>
            <a:r>
              <a:rPr lang="en-GB" dirty="0"/>
              <a:t>correct conclusions</a:t>
            </a:r>
          </a:p>
          <a:p>
            <a:pPr lvl="1"/>
            <a:r>
              <a:rPr lang="en-GB" dirty="0"/>
              <a:t>presentation</a:t>
            </a:r>
          </a:p>
          <a:p>
            <a:pPr lvl="1"/>
            <a:r>
              <a:rPr lang="en-GB" dirty="0"/>
              <a:t>anything to learn for the reader</a:t>
            </a:r>
          </a:p>
        </p:txBody>
      </p:sp>
    </p:spTree>
    <p:extLst>
      <p:ext uri="{BB962C8B-B14F-4D97-AF65-F5344CB8AC3E}">
        <p14:creationId xmlns:p14="http://schemas.microsoft.com/office/powerpoint/2010/main" val="31749811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Using a publication II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sz="2400" dirty="0"/>
              <a:t>What kind of article?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review, theoretical, case study, experiment etc.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What can you gain?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ideas, techniques, etc.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Is the author recognised in the area?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What is the contribution?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Can it support your work?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Does it fit within the context?</a:t>
            </a:r>
          </a:p>
          <a:p>
            <a:pPr lvl="1">
              <a:lnSpc>
                <a:spcPct val="80000"/>
              </a:lnSpc>
            </a:pPr>
            <a:r>
              <a:rPr lang="en-GB" sz="1600" dirty="0"/>
              <a:t>Context of itself and your work</a:t>
            </a:r>
          </a:p>
          <a:p>
            <a:pPr>
              <a:lnSpc>
                <a:spcPct val="80000"/>
              </a:lnSpc>
            </a:pPr>
            <a:r>
              <a:rPr lang="en-GB" sz="2400" dirty="0"/>
              <a:t>Are the conclusions supported by logic reasoning, the results, and the discussion?</a:t>
            </a:r>
          </a:p>
        </p:txBody>
      </p:sp>
    </p:spTree>
    <p:extLst>
      <p:ext uri="{BB962C8B-B14F-4D97-AF65-F5344CB8AC3E}">
        <p14:creationId xmlns:p14="http://schemas.microsoft.com/office/powerpoint/2010/main" val="16000385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Using a publication III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dirty="0"/>
              <a:t>Are there contradictions with the work of others (in method and/or conclusions)?</a:t>
            </a:r>
          </a:p>
          <a:p>
            <a:r>
              <a:rPr lang="en-GB" sz="2800" dirty="0"/>
              <a:t>Can you distinguish opinions from facts?</a:t>
            </a:r>
          </a:p>
          <a:p>
            <a:r>
              <a:rPr lang="en-GB" sz="2800" dirty="0"/>
              <a:t>Do you agree? Does it make sense?</a:t>
            </a:r>
          </a:p>
          <a:p>
            <a:r>
              <a:rPr lang="en-GB" sz="2800" dirty="0"/>
              <a:t>What references are used?</a:t>
            </a:r>
          </a:p>
          <a:p>
            <a:r>
              <a:rPr lang="en-GB" sz="2800" dirty="0"/>
              <a:t>Can you use the results, methods, ideas, etc. in your research?</a:t>
            </a:r>
          </a:p>
        </p:txBody>
      </p:sp>
    </p:spTree>
    <p:extLst>
      <p:ext uri="{BB962C8B-B14F-4D97-AF65-F5344CB8AC3E}">
        <p14:creationId xmlns:p14="http://schemas.microsoft.com/office/powerpoint/2010/main" val="32579056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Using a publication IV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Does it motivate your work by pointing out where further research is needed?</a:t>
            </a:r>
          </a:p>
          <a:p>
            <a:r>
              <a:rPr lang="en-GB" sz="2400" dirty="0"/>
              <a:t>Does it contain interesting shortcomings or problems that you can </a:t>
            </a:r>
            <a:r>
              <a:rPr lang="ja-JP" altLang="en-GB" sz="2400" dirty="0">
                <a:latin typeface="Arial"/>
              </a:rPr>
              <a:t>“</a:t>
            </a:r>
            <a:r>
              <a:rPr lang="en-GB" sz="2400" dirty="0"/>
              <a:t>fix</a:t>
            </a:r>
            <a:r>
              <a:rPr lang="ja-JP" altLang="en-GB" sz="2400" dirty="0">
                <a:latin typeface="Arial"/>
              </a:rPr>
              <a:t>”</a:t>
            </a:r>
            <a:r>
              <a:rPr lang="en-GB" sz="2400" dirty="0"/>
              <a:t> in your project?</a:t>
            </a:r>
          </a:p>
          <a:p>
            <a:r>
              <a:rPr lang="en-GB" sz="2400" dirty="0"/>
              <a:t>How does it present research questions and hypotheses? Can you learn from that?</a:t>
            </a:r>
          </a:p>
          <a:p>
            <a:r>
              <a:rPr lang="en-GB" sz="2400" dirty="0"/>
              <a:t>Are there techniques that you can use?</a:t>
            </a:r>
          </a:p>
          <a:p>
            <a:pPr lvl="1"/>
            <a:r>
              <a:rPr lang="en-GB" sz="2400" dirty="0"/>
              <a:t>Algorithms, statistical analysis, etc.</a:t>
            </a:r>
          </a:p>
        </p:txBody>
      </p:sp>
    </p:spTree>
    <p:extLst>
      <p:ext uri="{BB962C8B-B14F-4D97-AF65-F5344CB8AC3E}">
        <p14:creationId xmlns:p14="http://schemas.microsoft.com/office/powerpoint/2010/main" val="6923881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Writing a Literature Review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Motivate the need for research</a:t>
            </a:r>
          </a:p>
          <a:p>
            <a:pPr lvl="1"/>
            <a:r>
              <a:rPr lang="en-GB" sz="1600" dirty="0"/>
              <a:t>Is it original research, or has it already been done</a:t>
            </a:r>
          </a:p>
          <a:p>
            <a:r>
              <a:rPr lang="en-GB" sz="2400" dirty="0"/>
              <a:t>Starting point for other researchers (improves </a:t>
            </a:r>
            <a:r>
              <a:rPr lang="en-GB" sz="2400" dirty="0" err="1"/>
              <a:t>understandability</a:t>
            </a:r>
            <a:r>
              <a:rPr lang="en-GB" sz="2400" dirty="0"/>
              <a:t>)</a:t>
            </a:r>
          </a:p>
          <a:p>
            <a:r>
              <a:rPr lang="en-GB" sz="2400" dirty="0"/>
              <a:t>Present the foundations for your research</a:t>
            </a:r>
          </a:p>
          <a:p>
            <a:r>
              <a:rPr lang="en-GB" sz="2400" dirty="0"/>
              <a:t>Helps you in your project</a:t>
            </a:r>
          </a:p>
          <a:p>
            <a:pPr lvl="1"/>
            <a:r>
              <a:rPr lang="en-GB" sz="1600" dirty="0"/>
              <a:t>Identify what you do not need to do yourself</a:t>
            </a:r>
          </a:p>
          <a:p>
            <a:r>
              <a:rPr lang="en-GB" sz="2400" dirty="0"/>
              <a:t>Used to refine your research question</a:t>
            </a:r>
          </a:p>
          <a:p>
            <a:r>
              <a:rPr lang="en-GB" sz="2400" b="1" dirty="0"/>
              <a:t>Relevant!</a:t>
            </a:r>
            <a:r>
              <a:rPr lang="en-GB" sz="2400" dirty="0"/>
              <a:t> Not a history of the world, the universe, and of computer science.</a:t>
            </a:r>
          </a:p>
        </p:txBody>
      </p:sp>
    </p:spTree>
    <p:extLst>
      <p:ext uri="{BB962C8B-B14F-4D97-AF65-F5344CB8AC3E}">
        <p14:creationId xmlns:p14="http://schemas.microsoft.com/office/powerpoint/2010/main" val="38149308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Tips for Literature review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 dirty="0"/>
              <a:t>Always record full reference to the material you find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Keep a record (or database) of your references, including simple classification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Make short summaries of the papers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Use conceptual models of how the literature is connected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Consider using special purpose software for organising your literature (e.g. </a:t>
            </a:r>
            <a:r>
              <a:rPr lang="en-GB" sz="2800" dirty="0" err="1"/>
              <a:t>Bibtex</a:t>
            </a:r>
            <a:r>
              <a:rPr lang="en-GB" sz="2800" dirty="0"/>
              <a:t> and Endnotes)</a:t>
            </a:r>
          </a:p>
        </p:txBody>
      </p:sp>
    </p:spTree>
    <p:extLst>
      <p:ext uri="{BB962C8B-B14F-4D97-AF65-F5344CB8AC3E}">
        <p14:creationId xmlns:p14="http://schemas.microsoft.com/office/powerpoint/2010/main" val="3148229094"/>
      </p:ext>
    </p:extLst>
  </p:cSld>
  <p:clrMapOvr>
    <a:masterClrMapping/>
  </p:clrMapOvr>
</p:sld>
</file>

<file path=ppt/theme/theme1.xml><?xml version="1.0" encoding="utf-8"?>
<a:theme xmlns:a="http://schemas.openxmlformats.org/drawingml/2006/main" name="Chalmers-GU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6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6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Chalmers-GU.potx</Template>
  <TotalTime>462</TotalTime>
  <Words>2238</Words>
  <Application>Microsoft Macintosh PowerPoint</Application>
  <PresentationFormat>On-screen Show (4:3)</PresentationFormat>
  <Paragraphs>303</Paragraphs>
  <Slides>46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Arial Black</vt:lpstr>
      <vt:lpstr>Times</vt:lpstr>
      <vt:lpstr>Wingdings</vt:lpstr>
      <vt:lpstr>Chalmers-GU</vt:lpstr>
      <vt:lpstr>Goals, research questions, hypotheses, evaluating a paper, and all other things you also need to know when doing a master thesis in software engineering at Chalmers and University of Gothenburg in 2022</vt:lpstr>
      <vt:lpstr>PowerPoint Presentation</vt:lpstr>
      <vt:lpstr>PowerPoint Presentation</vt:lpstr>
      <vt:lpstr>Overview of today’s lecture</vt:lpstr>
      <vt:lpstr>Purpose</vt:lpstr>
      <vt:lpstr>Purpose Statement</vt:lpstr>
      <vt:lpstr>Problem, Purpose, Question</vt:lpstr>
      <vt:lpstr>Keywords</vt:lpstr>
      <vt:lpstr>The importance of the purpose statement</vt:lpstr>
      <vt:lpstr>Examples of purpose statements</vt:lpstr>
      <vt:lpstr>GQM</vt:lpstr>
      <vt:lpstr>GQM example</vt:lpstr>
      <vt:lpstr>Research questions</vt:lpstr>
      <vt:lpstr>Research Question</vt:lpstr>
      <vt:lpstr>Research Question</vt:lpstr>
      <vt:lpstr>Examples of Research Questions I</vt:lpstr>
      <vt:lpstr>Examples of Research Questions II</vt:lpstr>
      <vt:lpstr>Hypotheses</vt:lpstr>
      <vt:lpstr>Hypotheses</vt:lpstr>
      <vt:lpstr>Hypothesis and null hypothesis</vt:lpstr>
      <vt:lpstr>Hypothesis testing</vt:lpstr>
      <vt:lpstr>Example of Hypothesis</vt:lpstr>
      <vt:lpstr>Theory in papers and theses</vt:lpstr>
      <vt:lpstr>Theory in papers/theses/etc.</vt:lpstr>
      <vt:lpstr>Theory and Aristotle</vt:lpstr>
      <vt:lpstr>Theory</vt:lpstr>
      <vt:lpstr>Where and how to include theory</vt:lpstr>
      <vt:lpstr>Assessing published work</vt:lpstr>
      <vt:lpstr>Assessing the quality of literature</vt:lpstr>
      <vt:lpstr>Why is it important to evaluate published  research publications?</vt:lpstr>
      <vt:lpstr>Assessing the quality of research publications</vt:lpstr>
      <vt:lpstr>PowerPoint Presentation</vt:lpstr>
      <vt:lpstr>Peer Reviewing for (most) Research Journals</vt:lpstr>
      <vt:lpstr>Peer Reviewing for Research Journals</vt:lpstr>
      <vt:lpstr>Referees: Assessing the quality (“The task of the Referee”, A.J. Smith)</vt:lpstr>
      <vt:lpstr>Example: Instructions to Referee</vt:lpstr>
      <vt:lpstr>Hierarchy of publications</vt:lpstr>
      <vt:lpstr>Hierarchy of Publications</vt:lpstr>
      <vt:lpstr>Hierarchy of Publications: ctd.</vt:lpstr>
      <vt:lpstr>Hierarchy of Publications: ctd.</vt:lpstr>
      <vt:lpstr>Using a publication I</vt:lpstr>
      <vt:lpstr>Using a publication II</vt:lpstr>
      <vt:lpstr>Using a publication III</vt:lpstr>
      <vt:lpstr>Using a publication IV</vt:lpstr>
      <vt:lpstr>Writing a Literature Review</vt:lpstr>
      <vt:lpstr>Tips for Literature review</vt:lpstr>
    </vt:vector>
  </TitlesOfParts>
  <Company>Chalmers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Bild 1</dc:title>
  <dc:creator>ullare</dc:creator>
  <cp:lastModifiedBy>Richard Torkar</cp:lastModifiedBy>
  <cp:revision>99</cp:revision>
  <cp:lastPrinted>2025-09-01T16:00:28Z</cp:lastPrinted>
  <dcterms:created xsi:type="dcterms:W3CDTF">2010-11-02T13:42:29Z</dcterms:created>
  <dcterms:modified xsi:type="dcterms:W3CDTF">2025-09-01T16:00:32Z</dcterms:modified>
</cp:coreProperties>
</file>