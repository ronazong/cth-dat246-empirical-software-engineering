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2"/>
  </p:notesMasterIdLst>
  <p:sldIdLst>
    <p:sldId id="320" r:id="rId2"/>
    <p:sldId id="319" r:id="rId3"/>
    <p:sldId id="259" r:id="rId4"/>
    <p:sldId id="312" r:id="rId5"/>
    <p:sldId id="313" r:id="rId6"/>
    <p:sldId id="314" r:id="rId7"/>
    <p:sldId id="315" r:id="rId8"/>
    <p:sldId id="316" r:id="rId9"/>
    <p:sldId id="317" r:id="rId10"/>
    <p:sldId id="318" r:id="rId11"/>
    <p:sldId id="263" r:id="rId12"/>
    <p:sldId id="309" r:id="rId13"/>
    <p:sldId id="311" r:id="rId14"/>
    <p:sldId id="292" r:id="rId15"/>
    <p:sldId id="294" r:id="rId16"/>
    <p:sldId id="295" r:id="rId17"/>
    <p:sldId id="297" r:id="rId18"/>
    <p:sldId id="298" r:id="rId19"/>
    <p:sldId id="299" r:id="rId20"/>
    <p:sldId id="301" r:id="rId21"/>
    <p:sldId id="302" r:id="rId22"/>
    <p:sldId id="303" r:id="rId23"/>
    <p:sldId id="260" r:id="rId24"/>
    <p:sldId id="261" r:id="rId25"/>
    <p:sldId id="262" r:id="rId26"/>
    <p:sldId id="293" r:id="rId27"/>
    <p:sldId id="304" r:id="rId28"/>
    <p:sldId id="265" r:id="rId29"/>
    <p:sldId id="266" r:id="rId30"/>
    <p:sldId id="267" r:id="rId31"/>
    <p:sldId id="268" r:id="rId32"/>
    <p:sldId id="269" r:id="rId33"/>
    <p:sldId id="270" r:id="rId34"/>
    <p:sldId id="271" r:id="rId35"/>
    <p:sldId id="291" r:id="rId36"/>
    <p:sldId id="305" r:id="rId37"/>
    <p:sldId id="276" r:id="rId38"/>
    <p:sldId id="277" r:id="rId39"/>
    <p:sldId id="278" r:id="rId40"/>
    <p:sldId id="279" r:id="rId41"/>
    <p:sldId id="280" r:id="rId42"/>
    <p:sldId id="306" r:id="rId43"/>
    <p:sldId id="283" r:id="rId44"/>
    <p:sldId id="284" r:id="rId45"/>
    <p:sldId id="307" r:id="rId46"/>
    <p:sldId id="286" r:id="rId47"/>
    <p:sldId id="287" r:id="rId48"/>
    <p:sldId id="308" r:id="rId49"/>
    <p:sldId id="289" r:id="rId50"/>
    <p:sldId id="290" r:id="rId51"/>
  </p:sldIdLst>
  <p:sldSz cx="9144000" cy="6858000" type="screen4x3"/>
  <p:notesSz cx="6858000" cy="9144000"/>
  <p:defaultTextStyle>
    <a:defPPr>
      <a:defRPr lang="sv-SE"/>
    </a:defPPr>
    <a:lvl1pPr algn="l" rtl="0" eaLnBrk="0" fontAlgn="base" hangingPunct="0">
      <a:spcBef>
        <a:spcPct val="0"/>
      </a:spcBef>
      <a:spcAft>
        <a:spcPct val="0"/>
      </a:spcAft>
      <a:defRPr sz="2400" kern="1200">
        <a:solidFill>
          <a:schemeClr val="tx1"/>
        </a:solidFill>
        <a:latin typeface="Times" pitchFamily="96"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96"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96"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96"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96" charset="0"/>
        <a:ea typeface="+mn-ea"/>
        <a:cs typeface="+mn-cs"/>
      </a:defRPr>
    </a:lvl5pPr>
    <a:lvl6pPr marL="2286000" algn="l" defTabSz="457200" rtl="0" eaLnBrk="1" latinLnBrk="0" hangingPunct="1">
      <a:defRPr sz="2400" kern="1200">
        <a:solidFill>
          <a:schemeClr val="tx1"/>
        </a:solidFill>
        <a:latin typeface="Times" pitchFamily="96" charset="0"/>
        <a:ea typeface="+mn-ea"/>
        <a:cs typeface="+mn-cs"/>
      </a:defRPr>
    </a:lvl6pPr>
    <a:lvl7pPr marL="2743200" algn="l" defTabSz="457200" rtl="0" eaLnBrk="1" latinLnBrk="0" hangingPunct="1">
      <a:defRPr sz="2400" kern="1200">
        <a:solidFill>
          <a:schemeClr val="tx1"/>
        </a:solidFill>
        <a:latin typeface="Times" pitchFamily="96" charset="0"/>
        <a:ea typeface="+mn-ea"/>
        <a:cs typeface="+mn-cs"/>
      </a:defRPr>
    </a:lvl7pPr>
    <a:lvl8pPr marL="3200400" algn="l" defTabSz="457200" rtl="0" eaLnBrk="1" latinLnBrk="0" hangingPunct="1">
      <a:defRPr sz="2400" kern="1200">
        <a:solidFill>
          <a:schemeClr val="tx1"/>
        </a:solidFill>
        <a:latin typeface="Times" pitchFamily="96" charset="0"/>
        <a:ea typeface="+mn-ea"/>
        <a:cs typeface="+mn-cs"/>
      </a:defRPr>
    </a:lvl8pPr>
    <a:lvl9pPr marL="3657600" algn="l" defTabSz="457200" rtl="0" eaLnBrk="1" latinLnBrk="0" hangingPunct="1">
      <a:defRPr sz="2400" kern="1200">
        <a:solidFill>
          <a:schemeClr val="tx1"/>
        </a:solidFill>
        <a:latin typeface="Times" pitchFamily="9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27"/>
    <p:restoredTop sz="60073" autoAdjust="0"/>
  </p:normalViewPr>
  <p:slideViewPr>
    <p:cSldViewPr showGuides="1">
      <p:cViewPr>
        <p:scale>
          <a:sx n="66" d="100"/>
          <a:sy n="66" d="100"/>
        </p:scale>
        <p:origin x="323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sv-SE"/>
          </a:p>
        </p:txBody>
      </p:sp>
      <p:sp>
        <p:nvSpPr>
          <p:cNvPr id="4301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sv-SE"/>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301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
        <p:nvSpPr>
          <p:cNvPr id="4301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sv-SE"/>
          </a:p>
        </p:txBody>
      </p:sp>
      <p:sp>
        <p:nvSpPr>
          <p:cNvPr id="4301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08C084B-7047-4F69-A78E-60BC252BCC38}" type="slidenum">
              <a:rPr lang="sv-SE"/>
              <a:pPr/>
              <a:t>‹#›</a:t>
            </a:fld>
            <a:endParaRPr lang="sv-SE"/>
          </a:p>
        </p:txBody>
      </p:sp>
    </p:spTree>
    <p:extLst>
      <p:ext uri="{BB962C8B-B14F-4D97-AF65-F5344CB8AC3E}">
        <p14:creationId xmlns:p14="http://schemas.microsoft.com/office/powerpoint/2010/main" val="26360298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68" charset="0"/>
        <a:ea typeface="ＭＳ Ｐゴシック" pitchFamily="96" charset="-128"/>
        <a:cs typeface="ＭＳ Ｐゴシック" pitchFamily="96" charset="-128"/>
      </a:defRPr>
    </a:lvl1pPr>
    <a:lvl2pPr marL="457200" algn="l" rtl="0" eaLnBrk="0" fontAlgn="base" hangingPunct="0">
      <a:spcBef>
        <a:spcPct val="30000"/>
      </a:spcBef>
      <a:spcAft>
        <a:spcPct val="0"/>
      </a:spcAft>
      <a:defRPr sz="1200" kern="1200">
        <a:solidFill>
          <a:schemeClr val="tx1"/>
        </a:solidFill>
        <a:latin typeface="Times" pitchFamily="68" charset="0"/>
        <a:ea typeface="ＭＳ Ｐゴシック" pitchFamily="68" charset="-128"/>
        <a:cs typeface="+mn-cs"/>
      </a:defRPr>
    </a:lvl2pPr>
    <a:lvl3pPr marL="914400" algn="l" rtl="0" eaLnBrk="0" fontAlgn="base" hangingPunct="0">
      <a:spcBef>
        <a:spcPct val="30000"/>
      </a:spcBef>
      <a:spcAft>
        <a:spcPct val="0"/>
      </a:spcAft>
      <a:defRPr sz="1200" kern="1200">
        <a:solidFill>
          <a:schemeClr val="tx1"/>
        </a:solidFill>
        <a:latin typeface="Times" pitchFamily="68" charset="0"/>
        <a:ea typeface="ＭＳ Ｐゴシック" pitchFamily="68" charset="-128"/>
        <a:cs typeface="+mn-cs"/>
      </a:defRPr>
    </a:lvl3pPr>
    <a:lvl4pPr marL="1371600" algn="l" rtl="0" eaLnBrk="0" fontAlgn="base" hangingPunct="0">
      <a:spcBef>
        <a:spcPct val="30000"/>
      </a:spcBef>
      <a:spcAft>
        <a:spcPct val="0"/>
      </a:spcAft>
      <a:defRPr sz="1200" kern="1200">
        <a:solidFill>
          <a:schemeClr val="tx1"/>
        </a:solidFill>
        <a:latin typeface="Times" pitchFamily="68" charset="0"/>
        <a:ea typeface="ＭＳ Ｐゴシック" pitchFamily="68" charset="-128"/>
        <a:cs typeface="+mn-cs"/>
      </a:defRPr>
    </a:lvl4pPr>
    <a:lvl5pPr marL="1828800" algn="l" rtl="0" eaLnBrk="0" fontAlgn="base" hangingPunct="0">
      <a:spcBef>
        <a:spcPct val="30000"/>
      </a:spcBef>
      <a:spcAft>
        <a:spcPct val="0"/>
      </a:spcAft>
      <a:defRPr sz="1200" kern="1200">
        <a:solidFill>
          <a:schemeClr val="tx1"/>
        </a:solidFill>
        <a:latin typeface="Times" pitchFamily="68" charset="0"/>
        <a:ea typeface="ＭＳ Ｐゴシック" pitchFamily="68"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3B05FB-DA2F-544A-98E6-246B093059ED}" type="slidenum">
              <a:rPr lang="nl-NL"/>
              <a:pPr/>
              <a:t>3</a:t>
            </a:fld>
            <a:endParaRPr lang="nl-NL"/>
          </a:p>
        </p:txBody>
      </p:sp>
      <p:sp>
        <p:nvSpPr>
          <p:cNvPr id="829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82947" name="Rectangle 3"/>
          <p:cNvSpPr>
            <a:spLocks noGrp="1" noChangeArrowheads="1"/>
          </p:cNvSpPr>
          <p:nvPr>
            <p:ph type="body" idx="1"/>
          </p:nvPr>
        </p:nvSpPr>
        <p:spPr/>
        <p:txBody>
          <a:bodyPr/>
          <a:lstStyle/>
          <a:p>
            <a:endParaRPr lang="nl-NL" dirty="0"/>
          </a:p>
        </p:txBody>
      </p:sp>
    </p:spTree>
    <p:extLst>
      <p:ext uri="{BB962C8B-B14F-4D97-AF65-F5344CB8AC3E}">
        <p14:creationId xmlns:p14="http://schemas.microsoft.com/office/powerpoint/2010/main" val="240517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Case Study: Definition</a:t>
            </a:r>
            <a:br>
              <a:rPr lang="en-GB" dirty="0"/>
            </a:br>
            <a:r>
              <a:rPr lang="en-GB" dirty="0"/>
              <a:t>A case study exhibits five essential aspects:</a:t>
            </a:r>
          </a:p>
          <a:p>
            <a:pPr marL="228600" indent="-228600">
              <a:buAutoNum type="arabicPeriod"/>
            </a:pPr>
            <a:r>
              <a:rPr lang="en-GB" dirty="0"/>
              <a:t>Empirical enquiry </a:t>
            </a:r>
            <a:r>
              <a:rPr lang="zh-CN" altLang="en-US" dirty="0"/>
              <a:t>实证调查 </a:t>
            </a:r>
            <a:r>
              <a:rPr lang="en-GB" dirty="0"/>
              <a:t>or investigation: A case study is an empirical research method.</a:t>
            </a:r>
          </a:p>
          <a:p>
            <a:pPr marL="228600" indent="-228600">
              <a:buAutoNum type="arabicPeriod"/>
            </a:pPr>
            <a:r>
              <a:rPr lang="en-GB" dirty="0"/>
              <a:t>Contemporary phenomenon</a:t>
            </a:r>
            <a:r>
              <a:rPr lang="en-US" dirty="0"/>
              <a:t> </a:t>
            </a:r>
            <a:r>
              <a:rPr lang="zh-CN" altLang="en-US" dirty="0"/>
              <a:t>当代现象</a:t>
            </a:r>
            <a:r>
              <a:rPr lang="en-GB" dirty="0"/>
              <a:t>: A phenomenon “occurring at present, i.e. not primarily using purely historical information”.</a:t>
            </a:r>
          </a:p>
          <a:p>
            <a:pPr marL="228600" indent="-228600">
              <a:buAutoNum type="arabicPeriod"/>
            </a:pPr>
            <a:r>
              <a:rPr lang="en-GB" dirty="0"/>
              <a:t>Within its real-life context: More specific context of systems.</a:t>
            </a:r>
          </a:p>
          <a:p>
            <a:pPr marL="228600" indent="-228600">
              <a:buAutoNum type="arabicPeriod"/>
            </a:pPr>
            <a:r>
              <a:rPr lang="en-GB" dirty="0"/>
              <a:t>Using multiple sources: Results from case studies should be based on more than one data source.</a:t>
            </a:r>
          </a:p>
          <a:p>
            <a:pPr marL="228600" indent="-228600">
              <a:buAutoNum type="arabicPeriod"/>
            </a:pPr>
            <a:r>
              <a:rPr lang="en-GB" dirty="0"/>
              <a:t>Boundary between phenomenon and context is unclear: Unclear border that warrants studying the phenomenon within its real-life context.</a:t>
            </a:r>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13</a:t>
            </a:fld>
            <a:endParaRPr lang="sv-SE"/>
          </a:p>
        </p:txBody>
      </p:sp>
    </p:spTree>
    <p:extLst>
      <p:ext uri="{BB962C8B-B14F-4D97-AF65-F5344CB8AC3E}">
        <p14:creationId xmlns:p14="http://schemas.microsoft.com/office/powerpoint/2010/main" val="3275496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Purpose</a:t>
            </a:r>
          </a:p>
          <a:p>
            <a:r>
              <a:rPr lang="en-GB" dirty="0"/>
              <a:t>In software engineering, we distinguish four types of research:</a:t>
            </a:r>
          </a:p>
          <a:p>
            <a:r>
              <a:rPr lang="en-GB" dirty="0"/>
              <a:t>Exploratory: finding out what is happening, seeking new insights and generating ideas and hypotheses for new research.</a:t>
            </a:r>
          </a:p>
          <a:p>
            <a:r>
              <a:rPr lang="en-GB" dirty="0"/>
              <a:t>Descriptive: portraying a situation or phenomenon.</a:t>
            </a:r>
          </a:p>
          <a:p>
            <a:r>
              <a:rPr lang="en-GB" dirty="0"/>
              <a:t>Explanatory: seeking an explanation of a situation or a problem, mostly but not necessarily in the form of a causal relationship</a:t>
            </a:r>
          </a:p>
          <a:p>
            <a:r>
              <a:rPr lang="en-US" dirty="0"/>
              <a:t>Improving: trying to improve a certain aspect of the studied phenomenon.</a:t>
            </a:r>
          </a:p>
          <a:p>
            <a:endParaRPr lang="en-US" dirty="0"/>
          </a:p>
          <a:p>
            <a:r>
              <a:rPr lang="en-US" dirty="0"/>
              <a:t>Note on improving case studies:</a:t>
            </a:r>
          </a:p>
          <a:p>
            <a:r>
              <a:rPr lang="en-US" dirty="0"/>
              <a:t>The software engineering research community is divided on whether research with an improving purpose can still be considered case studies or rather action research.</a:t>
            </a:r>
          </a:p>
          <a:p>
            <a:r>
              <a:rPr lang="en-US" dirty="0"/>
              <a:t>Runeson: Case studies in the SE discipline often take an improvement approach, similar to action research. – realistic </a:t>
            </a:r>
          </a:p>
          <a:p>
            <a:r>
              <a:rPr lang="en-US" dirty="0" err="1"/>
              <a:t>Wohlin</a:t>
            </a:r>
            <a:r>
              <a:rPr lang="en-US" dirty="0"/>
              <a:t>: In case study research, researchers work with participants in the study, while in action research, researchers are involved in the study. – idealistic </a:t>
            </a:r>
          </a:p>
          <a:p>
            <a:endParaRPr lang="en-US" dirty="0"/>
          </a:p>
          <a:p>
            <a:r>
              <a:rPr lang="en-GB" dirty="0"/>
              <a:t>Solution-seeking study</a:t>
            </a:r>
          </a:p>
          <a:p>
            <a:endParaRPr lang="en-GB" dirty="0"/>
          </a:p>
        </p:txBody>
      </p:sp>
      <p:sp>
        <p:nvSpPr>
          <p:cNvPr id="4" name="灯片编号占位符 3"/>
          <p:cNvSpPr>
            <a:spLocks noGrp="1"/>
          </p:cNvSpPr>
          <p:nvPr>
            <p:ph type="sldNum" sz="quarter" idx="5"/>
          </p:nvPr>
        </p:nvSpPr>
        <p:spPr/>
        <p:txBody>
          <a:bodyPr/>
          <a:lstStyle/>
          <a:p>
            <a:fld id="{808C084B-7047-4F69-A78E-60BC252BCC38}" type="slidenum">
              <a:rPr lang="sv-SE" smtClean="0"/>
              <a:pPr/>
              <a:t>15</a:t>
            </a:fld>
            <a:endParaRPr lang="sv-SE"/>
          </a:p>
        </p:txBody>
      </p:sp>
    </p:spTree>
    <p:extLst>
      <p:ext uri="{BB962C8B-B14F-4D97-AF65-F5344CB8AC3E}">
        <p14:creationId xmlns:p14="http://schemas.microsoft.com/office/powerpoint/2010/main" val="1497142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Problem-seeking and </a:t>
            </a:r>
          </a:p>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16</a:t>
            </a:fld>
            <a:endParaRPr lang="sv-SE"/>
          </a:p>
        </p:txBody>
      </p:sp>
    </p:spTree>
    <p:extLst>
      <p:ext uri="{BB962C8B-B14F-4D97-AF65-F5344CB8AC3E}">
        <p14:creationId xmlns:p14="http://schemas.microsoft.com/office/powerpoint/2010/main" val="2002220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Definition: Case</a:t>
            </a:r>
          </a:p>
          <a:p>
            <a:r>
              <a:rPr lang="en-GB" dirty="0"/>
              <a:t>The case may be anything that can be considered a “contemporary phenomenon in its real-life context”. In SE, this may be:</a:t>
            </a:r>
          </a:p>
          <a:p>
            <a:pPr marL="171450" indent="-171450">
              <a:buFontTx/>
              <a:buChar char="-"/>
            </a:pPr>
            <a:r>
              <a:rPr lang="en-GB" dirty="0"/>
              <a:t>A software development project</a:t>
            </a:r>
          </a:p>
          <a:p>
            <a:pPr marL="171450" indent="-171450">
              <a:buFontTx/>
              <a:buChar char="-"/>
            </a:pPr>
            <a:r>
              <a:rPr lang="en-GB" dirty="0"/>
              <a:t>An individual, a group of people, an organisation, a role in the organisation.</a:t>
            </a:r>
          </a:p>
          <a:p>
            <a:pPr marL="171450" indent="-171450">
              <a:buFontTx/>
              <a:buChar char="-"/>
            </a:pPr>
            <a:r>
              <a:rPr lang="en-GB" dirty="0"/>
              <a:t>A process, a product, a policy, or</a:t>
            </a:r>
          </a:p>
          <a:p>
            <a:pPr marL="171450" indent="-171450">
              <a:buFontTx/>
              <a:buChar char="-"/>
            </a:pPr>
            <a:r>
              <a:rPr lang="en-GB" dirty="0"/>
              <a:t>An event, a technology</a:t>
            </a:r>
          </a:p>
          <a:p>
            <a:pPr marL="171450" indent="-171450">
              <a:buFontTx/>
              <a:buChar char="-"/>
            </a:pPr>
            <a:endParaRPr lang="en-US" dirty="0"/>
          </a:p>
          <a:p>
            <a:pPr marL="0" indent="0">
              <a:buFontTx/>
              <a:buNone/>
            </a:pPr>
            <a:r>
              <a:rPr lang="en-US" dirty="0"/>
              <a:t>Motivation</a:t>
            </a:r>
          </a:p>
          <a:p>
            <a:pPr marL="0" indent="0">
              <a:buFontTx/>
              <a:buNone/>
            </a:pPr>
            <a:r>
              <a:rPr lang="en-US" dirty="0"/>
              <a:t>As a rule of thumb, you select a case/field study strategy when</a:t>
            </a:r>
          </a:p>
          <a:p>
            <a:pPr marL="171450" indent="-171450">
              <a:buFontTx/>
              <a:buChar char="-"/>
            </a:pPr>
            <a:r>
              <a:rPr lang="en-US" dirty="0"/>
              <a:t>There are more variables than cases (other than in survey research, where there are more cases than variables), and</a:t>
            </a:r>
          </a:p>
          <a:p>
            <a:pPr marL="171450" indent="-171450">
              <a:buFontTx/>
              <a:buChar char="-"/>
            </a:pPr>
            <a:r>
              <a:rPr lang="en-US" dirty="0"/>
              <a:t>The relevant mechanisms are not entirely clear yet.</a:t>
            </a:r>
          </a:p>
          <a:p>
            <a:pPr marL="0" indent="0">
              <a:buFontTx/>
              <a:buNone/>
            </a:pPr>
            <a:endParaRPr lang="en-US" dirty="0"/>
          </a:p>
          <a:p>
            <a:pPr marL="0" indent="0">
              <a:buFontTx/>
              <a:buNone/>
            </a:pPr>
            <a:r>
              <a:rPr lang="en-US" dirty="0"/>
              <a:t>In SE research, we see three common use cases:</a:t>
            </a:r>
          </a:p>
          <a:p>
            <a:pPr marL="228600" indent="-228600">
              <a:buFontTx/>
              <a:buAutoNum type="arabicPeriod"/>
            </a:pPr>
            <a:r>
              <a:rPr lang="en-US" dirty="0"/>
              <a:t>Motivation of research (i.e. to falsify theories)</a:t>
            </a:r>
          </a:p>
          <a:p>
            <a:pPr marL="228600" indent="-228600">
              <a:buFontTx/>
              <a:buAutoNum type="arabicPeriod"/>
            </a:pPr>
            <a:r>
              <a:rPr lang="en-US" dirty="0"/>
              <a:t>Inspiration for new ideas (i.e. theory building)</a:t>
            </a:r>
          </a:p>
          <a:p>
            <a:pPr marL="228600" indent="-228600">
              <a:buFontTx/>
              <a:buAutoNum type="arabicPeriod"/>
            </a:pPr>
            <a:r>
              <a:rPr lang="en-US" dirty="0"/>
              <a:t>Illustration (i.e. concrete examples of theoretical constructs and to show how causal relationships work)</a:t>
            </a:r>
          </a:p>
        </p:txBody>
      </p:sp>
      <p:sp>
        <p:nvSpPr>
          <p:cNvPr id="4" name="灯片编号占位符 3"/>
          <p:cNvSpPr>
            <a:spLocks noGrp="1"/>
          </p:cNvSpPr>
          <p:nvPr>
            <p:ph type="sldNum" sz="quarter" idx="5"/>
          </p:nvPr>
        </p:nvSpPr>
        <p:spPr/>
        <p:txBody>
          <a:bodyPr/>
          <a:lstStyle/>
          <a:p>
            <a:fld id="{808C084B-7047-4F69-A78E-60BC252BCC38}" type="slidenum">
              <a:rPr lang="sv-SE" smtClean="0"/>
              <a:pPr/>
              <a:t>17</a:t>
            </a:fld>
            <a:endParaRPr lang="sv-SE"/>
          </a:p>
        </p:txBody>
      </p:sp>
    </p:spTree>
    <p:extLst>
      <p:ext uri="{BB962C8B-B14F-4D97-AF65-F5344CB8AC3E}">
        <p14:creationId xmlns:p14="http://schemas.microsoft.com/office/powerpoint/2010/main" val="368619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a:p>
            <a:endParaRPr lang="en-GB" dirty="0"/>
          </a:p>
          <a:p>
            <a:r>
              <a:rPr lang="en-GB" dirty="0"/>
              <a:t>Sampling:</a:t>
            </a:r>
          </a:p>
          <a:p>
            <a:r>
              <a:rPr lang="en-GB" dirty="0"/>
              <a:t>How many cases do you need in your case study?</a:t>
            </a:r>
          </a:p>
          <a:p>
            <a:r>
              <a:rPr lang="en-GB" dirty="0"/>
              <a:t>Siggelkow N: If you want to write a case study that derives its excitement and justification through little more than a description of a particular phenomenon, make sure you have a talking pig. If not, a purely descriptive study will be a hard sell.</a:t>
            </a:r>
          </a:p>
          <a:p>
            <a:r>
              <a:rPr lang="en-GB" dirty="0"/>
              <a:t>Aim for either:</a:t>
            </a:r>
          </a:p>
          <a:p>
            <a:pPr marL="171450" indent="-171450">
              <a:buFontTx/>
              <a:buChar char="-"/>
            </a:pPr>
            <a:r>
              <a:rPr lang="en-GB" dirty="0"/>
              <a:t>One exceptional case, or</a:t>
            </a:r>
          </a:p>
          <a:p>
            <a:pPr marL="171450" indent="-171450">
              <a:buFontTx/>
              <a:buChar char="-"/>
            </a:pPr>
            <a:r>
              <a:rPr lang="en-GB" dirty="0"/>
              <a:t>Multiple, mutually supporting cases</a:t>
            </a:r>
          </a:p>
          <a:p>
            <a:pPr marL="171450" indent="-171450">
              <a:buFontTx/>
              <a:buChar char="-"/>
            </a:pPr>
            <a:endParaRPr lang="en-GB" dirty="0"/>
          </a:p>
          <a:p>
            <a:pPr marL="171450" indent="-171450">
              <a:buFontTx/>
              <a:buChar char="-"/>
            </a:pPr>
            <a:endParaRPr lang="en-GB" dirty="0"/>
          </a:p>
          <a:p>
            <a:endParaRPr lang="en-GB" dirty="0"/>
          </a:p>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18</a:t>
            </a:fld>
            <a:endParaRPr lang="sv-SE"/>
          </a:p>
        </p:txBody>
      </p:sp>
    </p:spTree>
    <p:extLst>
      <p:ext uri="{BB962C8B-B14F-4D97-AF65-F5344CB8AC3E}">
        <p14:creationId xmlns:p14="http://schemas.microsoft.com/office/powerpoint/2010/main" val="2582455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Important to the validity of the data</a:t>
            </a:r>
          </a:p>
          <a:p>
            <a:endParaRPr lang="en-GB" dirty="0"/>
          </a:p>
          <a:p>
            <a:r>
              <a:rPr lang="en-GB" dirty="0"/>
              <a:t>Third degree data is artifacts, can be code and et </a:t>
            </a:r>
          </a:p>
          <a:p>
            <a:endParaRPr lang="en-GB" dirty="0"/>
          </a:p>
          <a:p>
            <a:pPr marL="0" lvl="0" indent="0">
              <a:buFontTx/>
              <a:buNone/>
            </a:pPr>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20</a:t>
            </a:fld>
            <a:endParaRPr lang="sv-SE"/>
          </a:p>
        </p:txBody>
      </p:sp>
    </p:spTree>
    <p:extLst>
      <p:ext uri="{BB962C8B-B14F-4D97-AF65-F5344CB8AC3E}">
        <p14:creationId xmlns:p14="http://schemas.microsoft.com/office/powerpoint/2010/main" val="3117084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eaLnBrk="0" fontAlgn="base" hangingPunct="0"/>
            <a:r>
              <a:rPr lang="en-GB" sz="1200" kern="1200" dirty="0">
                <a:solidFill>
                  <a:schemeClr val="tx1"/>
                </a:solidFill>
                <a:effectLst/>
                <a:latin typeface="Times" pitchFamily="68" charset="0"/>
                <a:ea typeface="ＭＳ Ｐゴシック" pitchFamily="96" charset="-128"/>
                <a:cs typeface="ＭＳ Ｐゴシック" pitchFamily="96" charset="-128"/>
              </a:rPr>
              <a:t>Data Sources:</a:t>
            </a:r>
            <a:endParaRPr lang="en-US" dirty="0">
              <a:effectLst/>
            </a:endParaRPr>
          </a:p>
          <a:p>
            <a:pPr rtl="0" eaLnBrk="0" fontAlgn="base" hangingPunct="0"/>
            <a:r>
              <a:rPr lang="en-GB" sz="1200" kern="1200" dirty="0">
                <a:solidFill>
                  <a:schemeClr val="tx1"/>
                </a:solidFill>
                <a:effectLst/>
                <a:latin typeface="Times" pitchFamily="68" charset="0"/>
                <a:ea typeface="ＭＳ Ｐゴシック" pitchFamily="96" charset="-128"/>
                <a:cs typeface="ＭＳ Ｐゴシック" pitchFamily="96" charset="-128"/>
              </a:rPr>
              <a:t>Several sources of data are eligible in case study research:</a:t>
            </a:r>
            <a:endParaRPr lang="en-US" dirty="0">
              <a:effectLst/>
            </a:endParaRPr>
          </a:p>
          <a:p>
            <a:pPr rtl="0" eaLnBrk="0" fontAlgn="base" hangingPunct="0"/>
            <a:r>
              <a:rPr lang="en-GB" sz="1200" kern="1200" dirty="0">
                <a:solidFill>
                  <a:schemeClr val="tx1"/>
                </a:solidFill>
                <a:effectLst/>
                <a:latin typeface="Times" pitchFamily="68" charset="0"/>
                <a:ea typeface="ＭＳ Ｐゴシック" pitchFamily="96" charset="-128"/>
                <a:cs typeface="ＭＳ Ｐゴシック" pitchFamily="96" charset="-128"/>
              </a:rPr>
              <a:t>Interviews</a:t>
            </a:r>
            <a:endParaRPr lang="en-US" dirty="0">
              <a:effectLst/>
            </a:endParaRPr>
          </a:p>
          <a:p>
            <a:pPr rtl="0" eaLnBrk="0" fontAlgn="base" hangingPunct="0"/>
            <a:r>
              <a:rPr lang="en-GB" sz="1200" kern="1200" dirty="0">
                <a:solidFill>
                  <a:schemeClr val="tx1"/>
                </a:solidFill>
                <a:effectLst/>
                <a:latin typeface="Times" pitchFamily="68" charset="0"/>
                <a:ea typeface="ＭＳ Ｐゴシック" pitchFamily="96" charset="-128"/>
                <a:cs typeface="ＭＳ Ｐゴシック" pitchFamily="96" charset="-128"/>
              </a:rPr>
              <a:t>Observations </a:t>
            </a:r>
            <a:endParaRPr lang="en-US" dirty="0">
              <a:effectLst/>
            </a:endParaRPr>
          </a:p>
          <a:p>
            <a:pPr rtl="0" eaLnBrk="0" fontAlgn="base" hangingPunct="0"/>
            <a:r>
              <a:rPr lang="en-GB" sz="1200" kern="1200" dirty="0">
                <a:solidFill>
                  <a:schemeClr val="tx1"/>
                </a:solidFill>
                <a:effectLst/>
                <a:latin typeface="Times" pitchFamily="68" charset="0"/>
                <a:ea typeface="ＭＳ Ｐゴシック" pitchFamily="96" charset="-128"/>
                <a:cs typeface="ＭＳ Ｐゴシック" pitchFamily="96" charset="-128"/>
              </a:rPr>
              <a:t>Archival data</a:t>
            </a:r>
          </a:p>
          <a:p>
            <a:pPr rtl="0" eaLnBrk="0" fontAlgn="base" hangingPunct="0"/>
            <a:r>
              <a:rPr lang="en-GB" sz="1200" kern="1200" dirty="0">
                <a:solidFill>
                  <a:schemeClr val="tx1"/>
                </a:solidFill>
                <a:effectLst/>
                <a:latin typeface="Times" pitchFamily="68" charset="0"/>
                <a:ea typeface="ＭＳ Ｐゴシック" pitchFamily="96" charset="-128"/>
              </a:rPr>
              <a:t>Metrics</a:t>
            </a:r>
          </a:p>
          <a:p>
            <a:pPr rtl="0" eaLnBrk="0" fontAlgn="base" hangingPunct="0"/>
            <a:endParaRPr lang="en-US" dirty="0">
              <a:effectLst/>
            </a:endParaRPr>
          </a:p>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21</a:t>
            </a:fld>
            <a:endParaRPr lang="sv-SE"/>
          </a:p>
        </p:txBody>
      </p:sp>
    </p:spTree>
    <p:extLst>
      <p:ext uri="{BB962C8B-B14F-4D97-AF65-F5344CB8AC3E}">
        <p14:creationId xmlns:p14="http://schemas.microsoft.com/office/powerpoint/2010/main" val="2853653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a:t>Illustrative</a:t>
            </a:r>
            <a:r>
              <a:rPr lang="en-US" dirty="0"/>
              <a:t> - These are primarily descriptive studies. They typically utilize one or two instances of an event to show the existing situation. Illustrative case studies serve primarily to make the unfamiliar familiar and to give readers a common language about the topic in question.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a:t>Exploratory</a:t>
            </a:r>
            <a:r>
              <a:rPr lang="en-US" dirty="0"/>
              <a:t> - These are condensed case studies performed before implementing a large scale investigation. Their basic function is to help identify questions and select types of measurement prior to the main investigation. The primary pitfall of this type of study is that initial findings may seem convincing enough to be released prematurely as conclusions.</a:t>
            </a:r>
          </a:p>
          <a:p>
            <a:endParaRPr lang="en-US" dirty="0"/>
          </a:p>
          <a:p>
            <a:r>
              <a:rPr lang="en-US" b="1" dirty="0"/>
              <a:t>Cumulative</a:t>
            </a:r>
            <a:r>
              <a:rPr lang="en-US" dirty="0"/>
              <a:t> - These serve to aggregate information from several sites collected at different times. The idea behind these studies is that the collection of past studies will allow for greater generalization without additional cost or time being expended on new, possibly repetitive studies.</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a:t>Critical instance</a:t>
            </a:r>
            <a:r>
              <a:rPr lang="en-US" dirty="0"/>
              <a:t> - These examine one or more sites either for the purpose of examining a situation of unique interest with little to no interest in generalization, or to call into question a highly generalized or universal assertion. This method is useful for answering cause and effect questions.</a:t>
            </a:r>
          </a:p>
          <a:p>
            <a:endParaRPr lang="en-US" dirty="0"/>
          </a:p>
          <a:p>
            <a:endParaRPr lang="en-US" dirty="0"/>
          </a:p>
        </p:txBody>
      </p:sp>
      <p:sp>
        <p:nvSpPr>
          <p:cNvPr id="4" name="Slide Number Placeholder 3"/>
          <p:cNvSpPr>
            <a:spLocks noGrp="1"/>
          </p:cNvSpPr>
          <p:nvPr>
            <p:ph type="sldNum" sz="quarter" idx="10"/>
          </p:nvPr>
        </p:nvSpPr>
        <p:spPr/>
        <p:txBody>
          <a:bodyPr/>
          <a:lstStyle/>
          <a:p>
            <a:fld id="{808C084B-7047-4F69-A78E-60BC252BCC38}" type="slidenum">
              <a:rPr lang="sv-SE" smtClean="0"/>
              <a:pPr/>
              <a:t>26</a:t>
            </a:fld>
            <a:endParaRPr lang="sv-SE"/>
          </a:p>
        </p:txBody>
      </p:sp>
    </p:spTree>
    <p:extLst>
      <p:ext uri="{BB962C8B-B14F-4D97-AF65-F5344CB8AC3E}">
        <p14:creationId xmlns:p14="http://schemas.microsoft.com/office/powerpoint/2010/main" val="5772393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 minimizing</a:t>
            </a:r>
            <a:r>
              <a:rPr lang="en-US" baseline="0" dirty="0"/>
              <a:t> systematic error (bias) (see </a:t>
            </a:r>
            <a:r>
              <a:rPr lang="en-US" baseline="0" dirty="0" err="1"/>
              <a:t>wikipedia</a:t>
            </a:r>
            <a:r>
              <a:rPr lang="en-US" baseline="0" dirty="0"/>
              <a:t> page on bias)</a:t>
            </a:r>
          </a:p>
          <a:p>
            <a:r>
              <a:rPr lang="en-US" dirty="0"/>
              <a:t>External – generalization</a:t>
            </a:r>
          </a:p>
          <a:p>
            <a:r>
              <a:rPr lang="en-US" dirty="0"/>
              <a:t>Reliability – protocols should be solid,</a:t>
            </a:r>
            <a:r>
              <a:rPr lang="en-US" baseline="0" dirty="0"/>
              <a:t> and reproducing results should be possible</a:t>
            </a:r>
          </a:p>
          <a:p>
            <a:r>
              <a:rPr lang="en-US" baseline="0" dirty="0"/>
              <a:t>Construct – Do we measure what we claim to be measuring?</a:t>
            </a:r>
            <a:endParaRPr lang="en-US" dirty="0"/>
          </a:p>
        </p:txBody>
      </p:sp>
      <p:sp>
        <p:nvSpPr>
          <p:cNvPr id="4" name="Slide Number Placeholder 3"/>
          <p:cNvSpPr>
            <a:spLocks noGrp="1"/>
          </p:cNvSpPr>
          <p:nvPr>
            <p:ph type="sldNum" sz="quarter" idx="10"/>
          </p:nvPr>
        </p:nvSpPr>
        <p:spPr/>
        <p:txBody>
          <a:bodyPr/>
          <a:lstStyle/>
          <a:p>
            <a:fld id="{808C084B-7047-4F69-A78E-60BC252BCC38}" type="slidenum">
              <a:rPr lang="sv-SE" smtClean="0"/>
              <a:pPr/>
              <a:t>33</a:t>
            </a:fld>
            <a:endParaRPr lang="sv-SE"/>
          </a:p>
        </p:txBody>
      </p:sp>
    </p:spTree>
    <p:extLst>
      <p:ext uri="{BB962C8B-B14F-4D97-AF65-F5344CB8AC3E}">
        <p14:creationId xmlns:p14="http://schemas.microsoft.com/office/powerpoint/2010/main" val="1659833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35</a:t>
            </a:fld>
            <a:endParaRPr lang="sv-SE"/>
          </a:p>
        </p:txBody>
      </p:sp>
    </p:spTree>
    <p:extLst>
      <p:ext uri="{BB962C8B-B14F-4D97-AF65-F5344CB8AC3E}">
        <p14:creationId xmlns:p14="http://schemas.microsoft.com/office/powerpoint/2010/main" val="4107522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5AB609-F86E-5D4D-8FE6-AA33ED6EC09D}" type="slidenum">
              <a:rPr lang="nl-NL"/>
              <a:pPr/>
              <a:t>37</a:t>
            </a:fld>
            <a:endParaRPr lang="nl-NL"/>
          </a:p>
        </p:txBody>
      </p:sp>
      <p:sp>
        <p:nvSpPr>
          <p:cNvPr id="1320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2099" name="Rectangle 3"/>
          <p:cNvSpPr>
            <a:spLocks noGrp="1" noChangeArrowheads="1"/>
          </p:cNvSpPr>
          <p:nvPr>
            <p:ph type="body" idx="1"/>
          </p:nvPr>
        </p:nvSpPr>
        <p:spPr/>
        <p:txBody>
          <a:bodyPr/>
          <a:lstStyle/>
          <a:p>
            <a:r>
              <a:rPr lang="en-GB"/>
              <a:t>Phineas Gage – Talking Pig</a:t>
            </a:r>
          </a:p>
        </p:txBody>
      </p:sp>
    </p:spTree>
    <p:extLst>
      <p:ext uri="{BB962C8B-B14F-4D97-AF65-F5344CB8AC3E}">
        <p14:creationId xmlns:p14="http://schemas.microsoft.com/office/powerpoint/2010/main" val="1470206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18D041-FD69-F046-BA3D-97FE5A0ECFC9}" type="slidenum">
              <a:rPr lang="nl-NL"/>
              <a:pPr/>
              <a:t>39</a:t>
            </a:fld>
            <a:endParaRPr lang="nl-NL"/>
          </a:p>
        </p:txBody>
      </p:sp>
      <p:sp>
        <p:nvSpPr>
          <p:cNvPr id="1095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09571" name="Rectangle 3"/>
          <p:cNvSpPr>
            <a:spLocks noGrp="1" noChangeArrowheads="1"/>
          </p:cNvSpPr>
          <p:nvPr>
            <p:ph type="body" idx="1"/>
          </p:nvPr>
        </p:nvSpPr>
        <p:spPr/>
        <p:txBody>
          <a:bodyPr/>
          <a:lstStyle/>
          <a:p>
            <a:r>
              <a:rPr lang="en-US" noProof="0" dirty="0"/>
              <a:t>Analytical generalization, not statistical generalization</a:t>
            </a:r>
          </a:p>
          <a:p>
            <a:r>
              <a:rPr lang="en-US" noProof="0" dirty="0"/>
              <a:t>Much statistical generalizations are still no universal generalizations (research done in the US (biotech), does not necessarily apply to Sweden … (business services) )</a:t>
            </a:r>
          </a:p>
        </p:txBody>
      </p:sp>
    </p:spTree>
    <p:extLst>
      <p:ext uri="{BB962C8B-B14F-4D97-AF65-F5344CB8AC3E}">
        <p14:creationId xmlns:p14="http://schemas.microsoft.com/office/powerpoint/2010/main" val="813500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Timeframe</a:t>
            </a:r>
          </a:p>
          <a:p>
            <a:r>
              <a:rPr lang="en-GB" dirty="0"/>
              <a:t>Another factor to decide is the timeframe in respect to the case:</a:t>
            </a:r>
          </a:p>
          <a:p>
            <a:endParaRPr lang="en-GB" dirty="0"/>
          </a:p>
          <a:p>
            <a:r>
              <a:rPr lang="en-GB" dirty="0"/>
              <a:t>Retrospective study:</a:t>
            </a:r>
          </a:p>
          <a:p>
            <a:r>
              <a:rPr lang="en-GB" dirty="0"/>
              <a:t>+ Full view on phenomenon</a:t>
            </a:r>
          </a:p>
          <a:p>
            <a:r>
              <a:rPr lang="en-GB" dirty="0"/>
              <a:t>+ All (available) data accessible at once</a:t>
            </a:r>
          </a:p>
          <a:p>
            <a:endParaRPr lang="en-GB" dirty="0"/>
          </a:p>
          <a:p>
            <a:r>
              <a:rPr lang="en-GB" dirty="0"/>
              <a:t>Longitudinal study:</a:t>
            </a:r>
          </a:p>
          <a:p>
            <a:r>
              <a:rPr lang="en-GB" dirty="0"/>
              <a:t>+ No survival bias</a:t>
            </a:r>
          </a:p>
          <a:p>
            <a:r>
              <a:rPr lang="en-GB" dirty="0"/>
              <a:t>+ Influence on the data collection</a:t>
            </a:r>
          </a:p>
          <a:p>
            <a:r>
              <a:rPr lang="en-GB" dirty="0"/>
              <a:t>Gives more data, but needs more effort</a:t>
            </a:r>
          </a:p>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40</a:t>
            </a:fld>
            <a:endParaRPr lang="sv-SE"/>
          </a:p>
        </p:txBody>
      </p:sp>
    </p:spTree>
    <p:extLst>
      <p:ext uri="{BB962C8B-B14F-4D97-AF65-F5344CB8AC3E}">
        <p14:creationId xmlns:p14="http://schemas.microsoft.com/office/powerpoint/2010/main" val="3285090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Data: Sampling advice</a:t>
            </a:r>
          </a:p>
          <a:p>
            <a:r>
              <a:rPr lang="en-GB" dirty="0"/>
              <a:t>How much data do you need? There</a:t>
            </a:r>
          </a:p>
          <a:p>
            <a:r>
              <a:rPr lang="en-GB" dirty="0"/>
              <a:t>-design your case study to include triangulation</a:t>
            </a:r>
          </a:p>
          <a:p>
            <a:pPr marL="171450" indent="-171450">
              <a:buFontTx/>
              <a:buChar char="-"/>
            </a:pPr>
            <a:r>
              <a:rPr lang="en-GB" dirty="0"/>
              <a:t>N: survey (&gt;40)</a:t>
            </a:r>
            <a:endParaRPr lang="en-US" dirty="0"/>
          </a:p>
          <a:p>
            <a:pPr marL="628650" lvl="1" indent="-171450">
              <a:buFontTx/>
              <a:buChar char="-"/>
            </a:pPr>
            <a:r>
              <a:rPr lang="en-US" dirty="0"/>
              <a:t>Semi-structured interviews (10-40)</a:t>
            </a:r>
          </a:p>
          <a:p>
            <a:pPr marL="628650" lvl="1" indent="-171450">
              <a:buFontTx/>
              <a:buChar char="-"/>
            </a:pPr>
            <a:r>
              <a:rPr lang="en-US" dirty="0"/>
              <a:t>Unstructured interviews (1-10)</a:t>
            </a:r>
          </a:p>
          <a:p>
            <a:pPr marL="628650" lvl="1" indent="-171450">
              <a:buFontTx/>
              <a:buChar char="-"/>
            </a:pPr>
            <a:r>
              <a:rPr lang="en-US" dirty="0"/>
              <a:t>Participation </a:t>
            </a:r>
          </a:p>
          <a:p>
            <a:pPr rtl="0" eaLnBrk="0" fontAlgn="base" hangingPunct="0"/>
            <a:endParaRPr lang="en-US" sz="1200" kern="1200" dirty="0">
              <a:solidFill>
                <a:schemeClr val="tx1"/>
              </a:solidFill>
              <a:effectLst/>
              <a:latin typeface="Times" pitchFamily="68" charset="0"/>
              <a:ea typeface="ＭＳ Ｐゴシック" pitchFamily="96" charset="-128"/>
              <a:cs typeface="ＭＳ Ｐゴシック" pitchFamily="96" charset="-128"/>
            </a:endParaRPr>
          </a:p>
          <a:p>
            <a:pPr rtl="0" eaLnBrk="0" fontAlgn="base" hangingPunct="0"/>
            <a:r>
              <a:rPr lang="en-US" sz="1200" kern="1200" dirty="0">
                <a:solidFill>
                  <a:schemeClr val="tx1"/>
                </a:solidFill>
                <a:effectLst/>
                <a:latin typeface="Times" pitchFamily="68" charset="0"/>
                <a:ea typeface="ＭＳ Ｐゴシック" pitchFamily="96" charset="-128"/>
                <a:cs typeface="ＭＳ Ｐゴシック" pitchFamily="96" charset="-128"/>
              </a:rPr>
              <a:t>Triangulation is important to increase the precision of empirical research. Triangulation means taking different angles towards the studied object and thus providing a broader picture.</a:t>
            </a:r>
            <a:endParaRPr lang="en-US" dirty="0">
              <a:effectLst/>
            </a:endParaRPr>
          </a:p>
          <a:p>
            <a:pPr rtl="0" eaLnBrk="0" fontAlgn="base" hangingPunct="0"/>
            <a:r>
              <a:rPr lang="en-US" sz="1200" kern="1200" dirty="0">
                <a:solidFill>
                  <a:schemeClr val="tx1"/>
                </a:solidFill>
                <a:effectLst/>
                <a:latin typeface="Times" pitchFamily="68" charset="0"/>
                <a:ea typeface="ＭＳ Ｐゴシック" pitchFamily="96" charset="-128"/>
                <a:cs typeface="ＭＳ Ｐゴシック" pitchFamily="96" charset="-128"/>
              </a:rPr>
              <a:t>Types of triangulation:</a:t>
            </a:r>
            <a:endParaRPr lang="en-US" dirty="0">
              <a:effectLst/>
            </a:endParaRPr>
          </a:p>
          <a:p>
            <a:pPr rtl="0" eaLnBrk="0" fontAlgn="base" hangingPunct="0"/>
            <a:r>
              <a:rPr lang="en-US" sz="1200" kern="1200" dirty="0">
                <a:solidFill>
                  <a:schemeClr val="tx1"/>
                </a:solidFill>
                <a:effectLst/>
                <a:latin typeface="Times" pitchFamily="68" charset="0"/>
                <a:ea typeface="ＭＳ Ｐゴシック" pitchFamily="96" charset="-128"/>
                <a:cs typeface="ＭＳ Ｐゴシック" pitchFamily="96" charset="-128"/>
              </a:rPr>
              <a:t>Data (source) triangulation: using more than one data source or collecting the same data at different occasions.</a:t>
            </a:r>
            <a:endParaRPr lang="en-US" dirty="0">
              <a:effectLst/>
            </a:endParaRPr>
          </a:p>
          <a:p>
            <a:pPr rtl="0" eaLnBrk="0" fontAlgn="base" hangingPunct="0"/>
            <a:r>
              <a:rPr lang="en-US" sz="1200" kern="1200" dirty="0">
                <a:solidFill>
                  <a:schemeClr val="tx1"/>
                </a:solidFill>
                <a:effectLst/>
                <a:latin typeface="Times" pitchFamily="68" charset="0"/>
                <a:ea typeface="ＭＳ Ｐゴシック" pitchFamily="96" charset="-128"/>
                <a:cs typeface="ＭＳ Ｐゴシック" pitchFamily="96" charset="-128"/>
              </a:rPr>
              <a:t>Observer triangulation: using more than one observer in the study.</a:t>
            </a:r>
            <a:endParaRPr lang="en-US" dirty="0">
              <a:effectLst/>
            </a:endParaRPr>
          </a:p>
          <a:p>
            <a:pPr rtl="0" eaLnBrk="0" fontAlgn="base" hangingPunct="0"/>
            <a:r>
              <a:rPr lang="en-US" sz="1200" kern="1200" dirty="0">
                <a:solidFill>
                  <a:schemeClr val="tx1"/>
                </a:solidFill>
                <a:effectLst/>
                <a:latin typeface="Times" pitchFamily="68" charset="0"/>
                <a:ea typeface="ＭＳ Ｐゴシック" pitchFamily="96" charset="-128"/>
                <a:cs typeface="ＭＳ Ｐゴシック" pitchFamily="96" charset="-128"/>
              </a:rPr>
              <a:t>Methodological triangulation: combining different types of data collection methods, e.g. qualitative and quantitative methods.</a:t>
            </a:r>
            <a:endParaRPr lang="en-US" dirty="0">
              <a:effectLst/>
            </a:endParaRPr>
          </a:p>
          <a:p>
            <a:pPr rtl="0" eaLnBrk="0" fontAlgn="base" hangingPunct="0"/>
            <a:r>
              <a:rPr lang="en-US" sz="1200" kern="1200" dirty="0">
                <a:solidFill>
                  <a:schemeClr val="tx1"/>
                </a:solidFill>
                <a:effectLst/>
                <a:latin typeface="Times" pitchFamily="68" charset="0"/>
                <a:ea typeface="ＭＳ Ｐゴシック" pitchFamily="96" charset="-128"/>
                <a:cs typeface="ＭＳ Ｐゴシック" pitchFamily="96" charset="-128"/>
              </a:rPr>
              <a:t>Theory triangulation: using alternative theories or viewpoints.</a:t>
            </a:r>
            <a:endParaRPr lang="en-US" dirty="0">
              <a:effectLst/>
            </a:endParaRPr>
          </a:p>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41</a:t>
            </a:fld>
            <a:endParaRPr lang="sv-SE"/>
          </a:p>
        </p:txBody>
      </p:sp>
    </p:spTree>
    <p:extLst>
      <p:ext uri="{BB962C8B-B14F-4D97-AF65-F5344CB8AC3E}">
        <p14:creationId xmlns:p14="http://schemas.microsoft.com/office/powerpoint/2010/main" val="1605314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2CA83B-0753-2A4B-A391-228D806E449C}" type="slidenum">
              <a:rPr lang="nl-NL"/>
              <a:pPr/>
              <a:t>46</a:t>
            </a:fld>
            <a:endParaRPr lang="nl-NL"/>
          </a:p>
        </p:txBody>
      </p:sp>
      <p:sp>
        <p:nvSpPr>
          <p:cNvPr id="1392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267" name="Rectangle 3"/>
          <p:cNvSpPr>
            <a:spLocks noGrp="1" noChangeArrowheads="1"/>
          </p:cNvSpPr>
          <p:nvPr>
            <p:ph type="body" idx="1"/>
          </p:nvPr>
        </p:nvSpPr>
        <p:spPr/>
        <p:txBody>
          <a:bodyPr/>
          <a:lstStyle/>
          <a:p>
            <a:endParaRPr lang="nl-NL" dirty="0"/>
          </a:p>
        </p:txBody>
      </p:sp>
    </p:spTree>
    <p:extLst>
      <p:ext uri="{BB962C8B-B14F-4D97-AF65-F5344CB8AC3E}">
        <p14:creationId xmlns:p14="http://schemas.microsoft.com/office/powerpoint/2010/main" val="16235529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Case studies are a valuable, empirical research strategy but far from trivial.</a:t>
            </a:r>
          </a:p>
          <a:p>
            <a:pPr marL="171450" indent="-171450">
              <a:buFontTx/>
              <a:buChar char="-"/>
            </a:pPr>
            <a:r>
              <a:rPr lang="en-GB" dirty="0"/>
              <a:t>Every research contains cases</a:t>
            </a:r>
          </a:p>
          <a:p>
            <a:pPr marL="171450" indent="-171450">
              <a:buFontTx/>
              <a:buChar char="-"/>
            </a:pPr>
            <a:r>
              <a:rPr lang="en-GB" dirty="0"/>
              <a:t>Do not aim for complete generalizability, rather focus on the internal validity of your claims.</a:t>
            </a:r>
          </a:p>
          <a:p>
            <a:pPr marL="171450" indent="-171450">
              <a:buFontTx/>
              <a:buChar char="-"/>
            </a:pPr>
            <a:r>
              <a:rPr lang="en-GB" dirty="0"/>
              <a:t>Make conscious </a:t>
            </a:r>
            <a:r>
              <a:rPr lang="en-GB" dirty="0" err="1"/>
              <a:t>choiices</a:t>
            </a:r>
            <a:r>
              <a:rPr lang="en-GB" dirty="0"/>
              <a:t> about the study</a:t>
            </a:r>
          </a:p>
          <a:p>
            <a:pPr marL="171450" indent="-171450">
              <a:buFontTx/>
              <a:buChar char="-"/>
            </a:pPr>
            <a:endParaRPr lang="en-GB" dirty="0"/>
          </a:p>
          <a:p>
            <a:pPr marL="171450" indent="-171450">
              <a:buFontTx/>
              <a:buChar char="-"/>
            </a:pPr>
            <a:r>
              <a:rPr lang="en-GB" dirty="0"/>
              <a:t>Replication package</a:t>
            </a:r>
          </a:p>
          <a:p>
            <a:pPr marL="171450" indent="-171450">
              <a:buFontTx/>
              <a:buChar char="-"/>
            </a:pPr>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49</a:t>
            </a:fld>
            <a:endParaRPr lang="sv-SE"/>
          </a:p>
        </p:txBody>
      </p:sp>
    </p:spTree>
    <p:extLst>
      <p:ext uri="{BB962C8B-B14F-4D97-AF65-F5344CB8AC3E}">
        <p14:creationId xmlns:p14="http://schemas.microsoft.com/office/powerpoint/2010/main" val="2894215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2130425"/>
            <a:ext cx="7772400" cy="1470025"/>
          </a:xfrm>
        </p:spPr>
        <p:txBody>
          <a:bodyPr/>
          <a:lstStyle/>
          <a:p>
            <a:r>
              <a:rPr lang="sv-SE"/>
              <a:t>Click to edit Master title style</a:t>
            </a:r>
          </a:p>
        </p:txBody>
      </p:sp>
      <p:sp>
        <p:nvSpPr>
          <p:cNvPr id="3" name="Underrubrik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sv-SE"/>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Click to edit Master title style</a:t>
            </a:r>
          </a:p>
        </p:txBody>
      </p:sp>
      <p:sp>
        <p:nvSpPr>
          <p:cNvPr id="3" name="Platshållare för innehåll 2"/>
          <p:cNvSpPr>
            <a:spLocks noGrp="1"/>
          </p:cNvSpPr>
          <p:nvPr>
            <p:ph idx="1"/>
          </p:nvPr>
        </p:nvSpPr>
        <p:spPr/>
        <p:txBody>
          <a:body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722313" y="4406900"/>
            <a:ext cx="7772400" cy="1362075"/>
          </a:xfrm>
        </p:spPr>
        <p:txBody>
          <a:bodyPr anchor="t"/>
          <a:lstStyle>
            <a:lvl1pPr algn="l">
              <a:defRPr sz="4000" b="1" cap="all"/>
            </a:lvl1pPr>
          </a:lstStyle>
          <a:p>
            <a:r>
              <a:rPr lang="sv-SE"/>
              <a:t>Click to edit Master title style</a:t>
            </a:r>
          </a:p>
        </p:txBody>
      </p:sp>
      <p:sp>
        <p:nvSpPr>
          <p:cNvPr id="3" name="Platshållare för tex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sv-SE"/>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Click to edit Master title style</a:t>
            </a:r>
          </a:p>
        </p:txBody>
      </p:sp>
      <p:sp>
        <p:nvSpPr>
          <p:cNvPr id="3" name="Platshållare för innehåll 2"/>
          <p:cNvSpPr>
            <a:spLocks noGrp="1"/>
          </p:cNvSpPr>
          <p:nvPr>
            <p:ph sz="half" idx="1"/>
          </p:nvPr>
        </p:nvSpPr>
        <p:spPr>
          <a:xfrm>
            <a:off x="685800" y="1981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
        <p:nvSpPr>
          <p:cNvPr id="4" name="Platshållare för innehåll 3"/>
          <p:cNvSpPr>
            <a:spLocks noGrp="1"/>
          </p:cNvSpPr>
          <p:nvPr>
            <p:ph sz="half" idx="2"/>
          </p:nvPr>
        </p:nvSpPr>
        <p:spPr>
          <a:xfrm>
            <a:off x="4648200" y="1981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1143000"/>
          </a:xfrm>
        </p:spPr>
        <p:txBody>
          <a:bodyPr/>
          <a:lstStyle>
            <a:lvl1pPr>
              <a:defRPr/>
            </a:lvl1pPr>
          </a:lstStyle>
          <a:p>
            <a:r>
              <a:rPr lang="sv-SE"/>
              <a:t>Click to edit Master title style</a:t>
            </a:r>
          </a:p>
        </p:txBody>
      </p:sp>
      <p:sp>
        <p:nvSpPr>
          <p:cNvPr id="3" name="Platshållare för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Click to edit Master text styles</a:t>
            </a:r>
          </a:p>
        </p:txBody>
      </p:sp>
      <p:sp>
        <p:nvSpPr>
          <p:cNvPr id="4" name="Platshållare för innehåll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
        <p:nvSpPr>
          <p:cNvPr id="5" name="Platshållare för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Click to edit Master text styles</a:t>
            </a:r>
          </a:p>
        </p:txBody>
      </p:sp>
      <p:sp>
        <p:nvSpPr>
          <p:cNvPr id="6" name="Platshållare för innehåll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457200" y="273050"/>
            <a:ext cx="3008313" cy="1162050"/>
          </a:xfrm>
        </p:spPr>
        <p:txBody>
          <a:bodyPr anchor="b"/>
          <a:lstStyle>
            <a:lvl1pPr algn="l">
              <a:defRPr sz="2000" b="1"/>
            </a:lvl1pPr>
          </a:lstStyle>
          <a:p>
            <a:r>
              <a:rPr lang="sv-SE"/>
              <a:t>Click to edit Master title style</a:t>
            </a:r>
          </a:p>
        </p:txBody>
      </p:sp>
      <p:sp>
        <p:nvSpPr>
          <p:cNvPr id="3" name="Platshållare för innehåll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
        <p:nvSpPr>
          <p:cNvPr id="4" name="Platshållare för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792288" y="4800600"/>
            <a:ext cx="5486400" cy="566738"/>
          </a:xfrm>
        </p:spPr>
        <p:txBody>
          <a:bodyPr anchor="b"/>
          <a:lstStyle>
            <a:lvl1pPr algn="l">
              <a:defRPr sz="2000" b="1"/>
            </a:lvl1pPr>
          </a:lstStyle>
          <a:p>
            <a:r>
              <a:rPr lang="sv-SE"/>
              <a:t>Click to edit Master title style</a:t>
            </a:r>
          </a:p>
        </p:txBody>
      </p:sp>
      <p:sp>
        <p:nvSpPr>
          <p:cNvPr id="3" name="Platshållare för bild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sv-SE" noProof="0"/>
              <a:t>Drag picture to placeholder or click icon to add</a:t>
            </a:r>
          </a:p>
        </p:txBody>
      </p:sp>
      <p:sp>
        <p:nvSpPr>
          <p:cNvPr id="4" name="Platshållare för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Click to edit Master title style</a:t>
            </a:r>
          </a:p>
        </p:txBody>
      </p:sp>
      <p:sp>
        <p:nvSpPr>
          <p:cNvPr id="3" name="Platshållare för lodrät text 2"/>
          <p:cNvSpPr>
            <a:spLocks noGrp="1"/>
          </p:cNvSpPr>
          <p:nvPr>
            <p:ph type="body" orient="vert" idx="1"/>
          </p:nvPr>
        </p:nvSpPr>
        <p:spPr/>
        <p:txBody>
          <a:bodyPr vert="eaVert"/>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6724650" y="838200"/>
            <a:ext cx="2152650" cy="5638800"/>
          </a:xfrm>
        </p:spPr>
        <p:txBody>
          <a:bodyPr vert="eaVert"/>
          <a:lstStyle/>
          <a:p>
            <a:r>
              <a:rPr lang="sv-SE"/>
              <a:t>Click to edit Master title style</a:t>
            </a:r>
          </a:p>
        </p:txBody>
      </p:sp>
      <p:sp>
        <p:nvSpPr>
          <p:cNvPr id="3" name="Platshållare för lodrät text 2"/>
          <p:cNvSpPr>
            <a:spLocks noGrp="1"/>
          </p:cNvSpPr>
          <p:nvPr>
            <p:ph type="body" orient="vert" idx="1"/>
          </p:nvPr>
        </p:nvSpPr>
        <p:spPr>
          <a:xfrm>
            <a:off x="266700" y="838200"/>
            <a:ext cx="6305550" cy="5638800"/>
          </a:xfrm>
        </p:spPr>
        <p:txBody>
          <a:bodyPr vert="eaVert"/>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10"/>
          <p:cNvSpPr>
            <a:spLocks noGrp="1" noChangeArrowheads="1"/>
          </p:cNvSpPr>
          <p:nvPr>
            <p:ph type="title"/>
          </p:nvPr>
        </p:nvSpPr>
        <p:spPr bwMode="auto">
          <a:xfrm>
            <a:off x="0" y="838200"/>
            <a:ext cx="9144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sv-SE"/>
              <a:t>Klicka här för att ändra format</a:t>
            </a:r>
          </a:p>
        </p:txBody>
      </p:sp>
      <p:sp>
        <p:nvSpPr>
          <p:cNvPr id="1028" name="Rectangle 11"/>
          <p:cNvSpPr>
            <a:spLocks noGrp="1" noChangeArrowheads="1"/>
          </p:cNvSpPr>
          <p:nvPr>
            <p:ph type="body" idx="1"/>
          </p:nvPr>
        </p:nvSpPr>
        <p:spPr bwMode="auto">
          <a:xfrm>
            <a:off x="685800" y="1981200"/>
            <a:ext cx="7772400" cy="449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pic>
        <p:nvPicPr>
          <p:cNvPr id="10" name="Bildobjekt 9" descr="Chalmers Univ logo_svart.emf"/>
          <p:cNvPicPr>
            <a:picLocks noChangeAspect="1"/>
          </p:cNvPicPr>
          <p:nvPr/>
        </p:nvPicPr>
        <p:blipFill>
          <a:blip r:embed="rId13"/>
          <a:stretch>
            <a:fillRect/>
          </a:stretch>
        </p:blipFill>
        <p:spPr>
          <a:xfrm>
            <a:off x="323528" y="170728"/>
            <a:ext cx="1105544" cy="213446"/>
          </a:xfrm>
          <a:prstGeom prst="rect">
            <a:avLst/>
          </a:prstGeom>
        </p:spPr>
      </p:pic>
      <p:cxnSp>
        <p:nvCxnSpPr>
          <p:cNvPr id="12" name="Rak 11"/>
          <p:cNvCxnSpPr/>
          <p:nvPr/>
        </p:nvCxnSpPr>
        <p:spPr bwMode="auto">
          <a:xfrm>
            <a:off x="0" y="457200"/>
            <a:ext cx="9144000" cy="1588"/>
          </a:xfrm>
          <a:prstGeom prst="line">
            <a:avLst/>
          </a:prstGeom>
          <a:solidFill>
            <a:schemeClr val="accent1"/>
          </a:solidFill>
          <a:ln w="3175" cap="flat" cmpd="sng" algn="ctr">
            <a:solidFill>
              <a:schemeClr val="bg2">
                <a:lumMod val="40000"/>
                <a:lumOff val="60000"/>
              </a:schemeClr>
            </a:solidFill>
            <a:prstDash val="solid"/>
            <a:round/>
            <a:headEnd type="none" w="med" len="med"/>
            <a:tailEnd type="none" w="med" len="med"/>
          </a:ln>
          <a:effectLst/>
        </p:spPr>
      </p:cxnSp>
      <p:pic>
        <p:nvPicPr>
          <p:cNvPr id="9" name="Bildobjekt 8" descr="Logo GUeng_leftSV.jpg"/>
          <p:cNvPicPr>
            <a:picLocks noChangeAspect="1"/>
          </p:cNvPicPr>
          <p:nvPr/>
        </p:nvPicPr>
        <p:blipFill>
          <a:blip r:embed="rId14"/>
          <a:stretch>
            <a:fillRect/>
          </a:stretch>
        </p:blipFill>
        <p:spPr>
          <a:xfrm>
            <a:off x="1835696" y="63653"/>
            <a:ext cx="2549834" cy="341012"/>
          </a:xfrm>
          <a:prstGeom prst="rect">
            <a:avLst/>
          </a:prstGeom>
        </p:spPr>
      </p:pic>
      <p:cxnSp>
        <p:nvCxnSpPr>
          <p:cNvPr id="13" name="Rak 12"/>
          <p:cNvCxnSpPr/>
          <p:nvPr/>
        </p:nvCxnSpPr>
        <p:spPr bwMode="auto">
          <a:xfrm rot="5400000">
            <a:off x="1527249" y="240234"/>
            <a:ext cx="184448" cy="397"/>
          </a:xfrm>
          <a:prstGeom prst="line">
            <a:avLst/>
          </a:prstGeom>
          <a:solidFill>
            <a:schemeClr val="accent1"/>
          </a:solidFill>
          <a:ln w="6350" cap="flat" cmpd="sng" algn="ctr">
            <a:solidFill>
              <a:schemeClr val="tx1"/>
            </a:solidFill>
            <a:prstDash val="solid"/>
            <a:round/>
            <a:headEnd type="none" w="med" len="med"/>
            <a:tailEnd type="none" w="med" len="med"/>
          </a:ln>
          <a:effectLst/>
        </p:spPr>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000" b="1">
          <a:solidFill>
            <a:schemeClr val="tx1"/>
          </a:solidFill>
          <a:latin typeface="+mj-lt"/>
          <a:ea typeface="ＭＳ Ｐゴシック" pitchFamily="96" charset="-128"/>
          <a:cs typeface="Akzidenz-Bd for Chalmers"/>
        </a:defRPr>
      </a:lvl1pPr>
      <a:lvl2pPr algn="ctr" rtl="0" eaLnBrk="1" fontAlgn="base" hangingPunct="1">
        <a:spcBef>
          <a:spcPct val="0"/>
        </a:spcBef>
        <a:spcAft>
          <a:spcPct val="0"/>
        </a:spcAft>
        <a:defRPr sz="4000">
          <a:solidFill>
            <a:schemeClr val="bg1"/>
          </a:solidFill>
          <a:latin typeface="Arial Black" pitchFamily="68" charset="0"/>
          <a:ea typeface="ＭＳ Ｐゴシック" pitchFamily="96" charset="-128"/>
          <a:cs typeface="ＭＳ Ｐゴシック" pitchFamily="96" charset="-128"/>
        </a:defRPr>
      </a:lvl2pPr>
      <a:lvl3pPr algn="ctr" rtl="0" eaLnBrk="1" fontAlgn="base" hangingPunct="1">
        <a:spcBef>
          <a:spcPct val="0"/>
        </a:spcBef>
        <a:spcAft>
          <a:spcPct val="0"/>
        </a:spcAft>
        <a:defRPr sz="4000">
          <a:solidFill>
            <a:schemeClr val="bg1"/>
          </a:solidFill>
          <a:latin typeface="Arial Black" pitchFamily="68" charset="0"/>
          <a:ea typeface="ＭＳ Ｐゴシック" pitchFamily="96" charset="-128"/>
          <a:cs typeface="ＭＳ Ｐゴシック" pitchFamily="96" charset="-128"/>
        </a:defRPr>
      </a:lvl3pPr>
      <a:lvl4pPr algn="ctr" rtl="0" eaLnBrk="1" fontAlgn="base" hangingPunct="1">
        <a:spcBef>
          <a:spcPct val="0"/>
        </a:spcBef>
        <a:spcAft>
          <a:spcPct val="0"/>
        </a:spcAft>
        <a:defRPr sz="4000">
          <a:solidFill>
            <a:schemeClr val="bg1"/>
          </a:solidFill>
          <a:latin typeface="Arial Black" pitchFamily="68" charset="0"/>
          <a:ea typeface="ＭＳ Ｐゴシック" pitchFamily="96" charset="-128"/>
          <a:cs typeface="ＭＳ Ｐゴシック" pitchFamily="96" charset="-128"/>
        </a:defRPr>
      </a:lvl4pPr>
      <a:lvl5pPr algn="ctr" rtl="0" eaLnBrk="1" fontAlgn="base" hangingPunct="1">
        <a:spcBef>
          <a:spcPct val="0"/>
        </a:spcBef>
        <a:spcAft>
          <a:spcPct val="0"/>
        </a:spcAft>
        <a:defRPr sz="4000">
          <a:solidFill>
            <a:schemeClr val="bg1"/>
          </a:solidFill>
          <a:latin typeface="Arial Black" pitchFamily="68" charset="0"/>
          <a:ea typeface="ＭＳ Ｐゴシック" pitchFamily="96" charset="-128"/>
          <a:cs typeface="ＭＳ Ｐゴシック" pitchFamily="96" charset="-128"/>
        </a:defRPr>
      </a:lvl5pPr>
      <a:lvl6pPr marL="457200" algn="ctr" rtl="0" eaLnBrk="1" fontAlgn="base" hangingPunct="1">
        <a:spcBef>
          <a:spcPct val="0"/>
        </a:spcBef>
        <a:spcAft>
          <a:spcPct val="0"/>
        </a:spcAft>
        <a:defRPr sz="4000">
          <a:solidFill>
            <a:schemeClr val="bg1"/>
          </a:solidFill>
          <a:latin typeface="Arial Black" pitchFamily="68" charset="0"/>
        </a:defRPr>
      </a:lvl6pPr>
      <a:lvl7pPr marL="914400" algn="ctr" rtl="0" eaLnBrk="1" fontAlgn="base" hangingPunct="1">
        <a:spcBef>
          <a:spcPct val="0"/>
        </a:spcBef>
        <a:spcAft>
          <a:spcPct val="0"/>
        </a:spcAft>
        <a:defRPr sz="4000">
          <a:solidFill>
            <a:schemeClr val="bg1"/>
          </a:solidFill>
          <a:latin typeface="Arial Black" pitchFamily="68" charset="0"/>
        </a:defRPr>
      </a:lvl7pPr>
      <a:lvl8pPr marL="1371600" algn="ctr" rtl="0" eaLnBrk="1" fontAlgn="base" hangingPunct="1">
        <a:spcBef>
          <a:spcPct val="0"/>
        </a:spcBef>
        <a:spcAft>
          <a:spcPct val="0"/>
        </a:spcAft>
        <a:defRPr sz="4000">
          <a:solidFill>
            <a:schemeClr val="bg1"/>
          </a:solidFill>
          <a:latin typeface="Arial Black" pitchFamily="68" charset="0"/>
        </a:defRPr>
      </a:lvl8pPr>
      <a:lvl9pPr marL="1828800" algn="ctr" rtl="0" eaLnBrk="1" fontAlgn="base" hangingPunct="1">
        <a:spcBef>
          <a:spcPct val="0"/>
        </a:spcBef>
        <a:spcAft>
          <a:spcPct val="0"/>
        </a:spcAft>
        <a:defRPr sz="4000">
          <a:solidFill>
            <a:schemeClr val="bg1"/>
          </a:solidFill>
          <a:latin typeface="Arial Black" pitchFamily="68" charset="0"/>
        </a:defRPr>
      </a:lvl9pPr>
    </p:titleStyle>
    <p:bodyStyle>
      <a:lvl1pPr marL="342900" indent="-342900" algn="l" rtl="0" eaLnBrk="1" fontAlgn="base" hangingPunct="1">
        <a:spcBef>
          <a:spcPct val="20000"/>
        </a:spcBef>
        <a:spcAft>
          <a:spcPct val="0"/>
        </a:spcAft>
        <a:buClr>
          <a:srgbClr val="FF0000"/>
        </a:buClr>
        <a:buSzPct val="150000"/>
        <a:buChar char="•"/>
        <a:defRPr sz="2000" b="0" i="0">
          <a:solidFill>
            <a:schemeClr val="tx1"/>
          </a:solidFill>
          <a:latin typeface="+mn-lt"/>
          <a:ea typeface="ＭＳ Ｐゴシック" pitchFamily="96" charset="-128"/>
          <a:cs typeface="Akzidenz for Chalmers Regular"/>
        </a:defRPr>
      </a:lvl1pPr>
      <a:lvl2pPr marL="742950" indent="-285750" algn="l" rtl="0" eaLnBrk="1" fontAlgn="base" hangingPunct="1">
        <a:spcBef>
          <a:spcPct val="20000"/>
        </a:spcBef>
        <a:spcAft>
          <a:spcPct val="0"/>
        </a:spcAft>
        <a:buClr>
          <a:srgbClr val="FF0000"/>
        </a:buClr>
        <a:buSzPct val="150000"/>
        <a:buChar char="–"/>
        <a:defRPr sz="2000" b="0" i="0">
          <a:solidFill>
            <a:schemeClr val="tx1"/>
          </a:solidFill>
          <a:latin typeface="+mn-lt"/>
          <a:ea typeface="ＭＳ Ｐゴシック" pitchFamily="68" charset="-128"/>
          <a:cs typeface="Akzidenz for Chalmers Regular"/>
        </a:defRPr>
      </a:lvl2pPr>
      <a:lvl3pPr marL="1143000" indent="-228600" algn="l" rtl="0" eaLnBrk="1" fontAlgn="base" hangingPunct="1">
        <a:spcBef>
          <a:spcPct val="20000"/>
        </a:spcBef>
        <a:spcAft>
          <a:spcPct val="0"/>
        </a:spcAft>
        <a:buClr>
          <a:srgbClr val="FF0000"/>
        </a:buClr>
        <a:buSzPct val="150000"/>
        <a:buChar char="•"/>
        <a:defRPr sz="2000" b="0" i="0">
          <a:solidFill>
            <a:schemeClr val="tx1"/>
          </a:solidFill>
          <a:latin typeface="+mn-lt"/>
          <a:ea typeface="ＭＳ Ｐゴシック" pitchFamily="68" charset="-128"/>
          <a:cs typeface="Akzidenz for Chalmers Regular"/>
        </a:defRPr>
      </a:lvl3pPr>
      <a:lvl4pPr marL="1600200" indent="-228600" algn="l" rtl="0" eaLnBrk="1" fontAlgn="base" hangingPunct="1">
        <a:spcBef>
          <a:spcPct val="20000"/>
        </a:spcBef>
        <a:spcAft>
          <a:spcPct val="0"/>
        </a:spcAft>
        <a:buClr>
          <a:srgbClr val="FF0000"/>
        </a:buClr>
        <a:buSzPct val="150000"/>
        <a:buChar char="–"/>
        <a:defRPr sz="2000" b="0" i="0">
          <a:solidFill>
            <a:schemeClr val="tx1"/>
          </a:solidFill>
          <a:latin typeface="+mn-lt"/>
          <a:ea typeface="ＭＳ Ｐゴシック" pitchFamily="68" charset="-128"/>
          <a:cs typeface="Akzidenz for Chalmers Regular"/>
        </a:defRPr>
      </a:lvl4pPr>
      <a:lvl5pPr marL="2057400" indent="-228600" algn="l" rtl="0" eaLnBrk="1" fontAlgn="base" hangingPunct="1">
        <a:spcBef>
          <a:spcPct val="20000"/>
        </a:spcBef>
        <a:spcAft>
          <a:spcPct val="0"/>
        </a:spcAft>
        <a:buClr>
          <a:srgbClr val="FF0000"/>
        </a:buClr>
        <a:buSzPct val="150000"/>
        <a:buChar char="»"/>
        <a:defRPr sz="2000" b="0" i="0">
          <a:solidFill>
            <a:schemeClr val="tx1"/>
          </a:solidFill>
          <a:latin typeface="+mn-lt"/>
          <a:ea typeface="ＭＳ Ｐゴシック" pitchFamily="68" charset="-128"/>
          <a:cs typeface="Akzidenz for Chalmers Regular"/>
        </a:defRPr>
      </a:lvl5pPr>
      <a:lvl6pPr marL="2514600" indent="-228600" algn="l" rtl="0" eaLnBrk="1" fontAlgn="base" hangingPunct="1">
        <a:spcBef>
          <a:spcPct val="20000"/>
        </a:spcBef>
        <a:spcAft>
          <a:spcPct val="0"/>
        </a:spcAft>
        <a:buClr>
          <a:srgbClr val="FF0000"/>
        </a:buClr>
        <a:buSzPct val="150000"/>
        <a:buChar char="»"/>
        <a:defRPr sz="2000">
          <a:solidFill>
            <a:schemeClr val="tx1"/>
          </a:solidFill>
          <a:latin typeface="+mn-lt"/>
          <a:ea typeface="ＭＳ Ｐゴシック" pitchFamily="68" charset="-128"/>
        </a:defRPr>
      </a:lvl6pPr>
      <a:lvl7pPr marL="2971800" indent="-228600" algn="l" rtl="0" eaLnBrk="1" fontAlgn="base" hangingPunct="1">
        <a:spcBef>
          <a:spcPct val="20000"/>
        </a:spcBef>
        <a:spcAft>
          <a:spcPct val="0"/>
        </a:spcAft>
        <a:buClr>
          <a:srgbClr val="FF0000"/>
        </a:buClr>
        <a:buSzPct val="150000"/>
        <a:buChar char="»"/>
        <a:defRPr sz="2000">
          <a:solidFill>
            <a:schemeClr val="tx1"/>
          </a:solidFill>
          <a:latin typeface="+mn-lt"/>
          <a:ea typeface="ＭＳ Ｐゴシック" pitchFamily="68" charset="-128"/>
        </a:defRPr>
      </a:lvl7pPr>
      <a:lvl8pPr marL="3429000" indent="-228600" algn="l" rtl="0" eaLnBrk="1" fontAlgn="base" hangingPunct="1">
        <a:spcBef>
          <a:spcPct val="20000"/>
        </a:spcBef>
        <a:spcAft>
          <a:spcPct val="0"/>
        </a:spcAft>
        <a:buClr>
          <a:srgbClr val="FF0000"/>
        </a:buClr>
        <a:buSzPct val="150000"/>
        <a:buChar char="»"/>
        <a:defRPr sz="2000">
          <a:solidFill>
            <a:schemeClr val="tx1"/>
          </a:solidFill>
          <a:latin typeface="+mn-lt"/>
          <a:ea typeface="ＭＳ Ｐゴシック" pitchFamily="68" charset="-128"/>
        </a:defRPr>
      </a:lvl8pPr>
      <a:lvl9pPr marL="3886200" indent="-228600" algn="l" rtl="0" eaLnBrk="1" fontAlgn="base" hangingPunct="1">
        <a:spcBef>
          <a:spcPct val="20000"/>
        </a:spcBef>
        <a:spcAft>
          <a:spcPct val="0"/>
        </a:spcAft>
        <a:buClr>
          <a:srgbClr val="FF0000"/>
        </a:buClr>
        <a:buSzPct val="150000"/>
        <a:buChar char="»"/>
        <a:defRPr sz="2000">
          <a:solidFill>
            <a:schemeClr val="tx1"/>
          </a:solidFill>
          <a:latin typeface="+mn-lt"/>
          <a:ea typeface="ＭＳ Ｐゴシック" pitchFamily="68" charset="-128"/>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BE5C5F5-753F-1543-28FE-C6B35C75B625}"/>
              </a:ext>
            </a:extLst>
          </p:cNvPr>
          <p:cNvSpPr>
            <a:spLocks noGrp="1"/>
          </p:cNvSpPr>
          <p:nvPr>
            <p:ph type="title"/>
          </p:nvPr>
        </p:nvSpPr>
        <p:spPr/>
        <p:txBody>
          <a:bodyPr/>
          <a:lstStyle/>
          <a:p>
            <a:endParaRPr lang="en-US"/>
          </a:p>
        </p:txBody>
      </p:sp>
      <p:pic>
        <p:nvPicPr>
          <p:cNvPr id="5" name="Platshållare för innehåll 4" descr="En bild som visar text, Teckensnitt, linje, skärmbild&#10;&#10;Automatiskt genererad beskrivning">
            <a:extLst>
              <a:ext uri="{FF2B5EF4-FFF2-40B4-BE49-F238E27FC236}">
                <a16:creationId xmlns:a16="http://schemas.microsoft.com/office/drawing/2014/main" id="{491425E7-74B7-BFA5-5193-31C2C1D4969C}"/>
              </a:ext>
            </a:extLst>
          </p:cNvPr>
          <p:cNvPicPr>
            <a:picLocks noGrp="1" noChangeAspect="1"/>
          </p:cNvPicPr>
          <p:nvPr>
            <p:ph idx="1"/>
          </p:nvPr>
        </p:nvPicPr>
        <p:blipFill>
          <a:blip r:embed="rId2"/>
          <a:stretch>
            <a:fillRect/>
          </a:stretch>
        </p:blipFill>
        <p:spPr>
          <a:xfrm>
            <a:off x="685800" y="3645536"/>
            <a:ext cx="7772400" cy="1167128"/>
          </a:xfrm>
        </p:spPr>
      </p:pic>
    </p:spTree>
    <p:extLst>
      <p:ext uri="{BB962C8B-B14F-4D97-AF65-F5344CB8AC3E}">
        <p14:creationId xmlns:p14="http://schemas.microsoft.com/office/powerpoint/2010/main" val="238737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4C79660-71A5-0F0E-DF81-17E318F42168}"/>
              </a:ext>
            </a:extLst>
          </p:cNvPr>
          <p:cNvSpPr>
            <a:spLocks noGrp="1"/>
          </p:cNvSpPr>
          <p:nvPr>
            <p:ph type="title"/>
          </p:nvPr>
        </p:nvSpPr>
        <p:spPr/>
        <p:txBody>
          <a:bodyPr/>
          <a:lstStyle/>
          <a:p>
            <a:endParaRPr lang="en-US"/>
          </a:p>
        </p:txBody>
      </p:sp>
      <p:pic>
        <p:nvPicPr>
          <p:cNvPr id="5" name="Platshållare för innehåll 4" descr="En bild som visar text, skärmbild, Teckensnitt&#10;&#10;Automatiskt genererad beskrivning">
            <a:extLst>
              <a:ext uri="{FF2B5EF4-FFF2-40B4-BE49-F238E27FC236}">
                <a16:creationId xmlns:a16="http://schemas.microsoft.com/office/drawing/2014/main" id="{F4A0533C-B05A-032F-3BDF-8F99590A7634}"/>
              </a:ext>
            </a:extLst>
          </p:cNvPr>
          <p:cNvPicPr>
            <a:picLocks noGrp="1" noChangeAspect="1"/>
          </p:cNvPicPr>
          <p:nvPr>
            <p:ph idx="1"/>
          </p:nvPr>
        </p:nvPicPr>
        <p:blipFill>
          <a:blip r:embed="rId2"/>
          <a:stretch>
            <a:fillRect/>
          </a:stretch>
        </p:blipFill>
        <p:spPr>
          <a:xfrm>
            <a:off x="2582331" y="620688"/>
            <a:ext cx="3979337" cy="5842438"/>
          </a:xfrm>
        </p:spPr>
      </p:pic>
    </p:spTree>
    <p:extLst>
      <p:ext uri="{BB962C8B-B14F-4D97-AF65-F5344CB8AC3E}">
        <p14:creationId xmlns:p14="http://schemas.microsoft.com/office/powerpoint/2010/main" val="464609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ctrTitle"/>
          </p:nvPr>
        </p:nvSpPr>
        <p:spPr>
          <a:xfrm>
            <a:off x="685800" y="2286000"/>
            <a:ext cx="7772400" cy="1143000"/>
          </a:xfrm>
        </p:spPr>
        <p:txBody>
          <a:bodyPr/>
          <a:lstStyle/>
          <a:p>
            <a:r>
              <a:rPr lang="en-US" sz="4000" b="1" dirty="0"/>
              <a:t>Case Study Research</a:t>
            </a:r>
            <a:endParaRPr lang="en-US" sz="2400" dirty="0"/>
          </a:p>
        </p:txBody>
      </p:sp>
      <p:sp>
        <p:nvSpPr>
          <p:cNvPr id="81923" name="Rectangle 3"/>
          <p:cNvSpPr>
            <a:spLocks noGrp="1" noChangeArrowheads="1"/>
          </p:cNvSpPr>
          <p:nvPr>
            <p:ph type="subTitle" idx="1"/>
          </p:nvPr>
        </p:nvSpPr>
        <p:spPr>
          <a:xfrm>
            <a:off x="1371600" y="4572000"/>
            <a:ext cx="6400800" cy="1752600"/>
          </a:xfrm>
        </p:spPr>
        <p:txBody>
          <a:bodyPr/>
          <a:lstStyle/>
          <a:p>
            <a:r>
              <a:rPr lang="nl-NL" sz="2000" b="1" dirty="0"/>
              <a:t>Richard Torkar</a:t>
            </a:r>
          </a:p>
          <a:p>
            <a:endParaRPr lang="nl-NL" dirty="0"/>
          </a:p>
          <a:p>
            <a:r>
              <a:rPr lang="nl-NL" sz="2000" dirty="0"/>
              <a:t>Slides </a:t>
            </a:r>
            <a:r>
              <a:rPr lang="nl-NL" sz="2000" dirty="0" err="1"/>
              <a:t>partly</a:t>
            </a:r>
            <a:r>
              <a:rPr lang="nl-NL" sz="2000" dirty="0"/>
              <a:t> </a:t>
            </a:r>
            <a:r>
              <a:rPr lang="nl-NL" sz="2000" dirty="0" err="1"/>
              <a:t>contributed</a:t>
            </a:r>
            <a:r>
              <a:rPr lang="nl-NL" sz="2000" dirty="0"/>
              <a:t> </a:t>
            </a:r>
            <a:r>
              <a:rPr lang="nl-NL" sz="2000" dirty="0" err="1"/>
              <a:t>by</a:t>
            </a:r>
            <a:r>
              <a:rPr lang="nl-NL" sz="2000" dirty="0"/>
              <a:t> Dr. Erik Stam</a:t>
            </a:r>
          </a:p>
        </p:txBody>
      </p:sp>
    </p:spTree>
    <p:extLst>
      <p:ext uri="{BB962C8B-B14F-4D97-AF65-F5344CB8AC3E}">
        <p14:creationId xmlns:p14="http://schemas.microsoft.com/office/powerpoint/2010/main" val="2068571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dirty="0"/>
              <a:t>SE research</a:t>
            </a:r>
          </a:p>
        </p:txBody>
      </p:sp>
      <p:sp>
        <p:nvSpPr>
          <p:cNvPr id="2" name="Content Placeholder 1">
            <a:extLst>
              <a:ext uri="{FF2B5EF4-FFF2-40B4-BE49-F238E27FC236}">
                <a16:creationId xmlns:a16="http://schemas.microsoft.com/office/drawing/2014/main" id="{2CC0C449-079E-3041-9C50-A9CA04AEA133}"/>
              </a:ext>
            </a:extLst>
          </p:cNvPr>
          <p:cNvSpPr>
            <a:spLocks noGrp="1"/>
          </p:cNvSpPr>
          <p:nvPr>
            <p:ph idx="1"/>
          </p:nvPr>
        </p:nvSpPr>
        <p:spPr>
          <a:xfrm>
            <a:off x="323528" y="1817900"/>
            <a:ext cx="7848872" cy="819012"/>
          </a:xfrm>
        </p:spPr>
        <p:txBody>
          <a:bodyPr/>
          <a:lstStyle/>
          <a:p>
            <a:r>
              <a:rPr lang="en-US" dirty="0"/>
              <a:t>Multitude of research methods</a:t>
            </a:r>
          </a:p>
          <a:p>
            <a:r>
              <a:rPr lang="en-US" dirty="0"/>
              <a:t>Wide variety of </a:t>
            </a:r>
            <a:r>
              <a:rPr lang="en-US" b="1" dirty="0"/>
              <a:t>scope</a:t>
            </a:r>
            <a:r>
              <a:rPr lang="en-US" dirty="0"/>
              <a:t> and </a:t>
            </a:r>
            <a:r>
              <a:rPr lang="en-US" b="1" dirty="0"/>
              <a:t>granularity</a:t>
            </a:r>
            <a:r>
              <a:rPr lang="en-US" dirty="0"/>
              <a:t> of the different methods </a:t>
            </a:r>
          </a:p>
          <a:p>
            <a:endParaRPr lang="en-US" dirty="0"/>
          </a:p>
          <a:p>
            <a:endParaRPr lang="en-US" dirty="0"/>
          </a:p>
        </p:txBody>
      </p:sp>
      <p:pic>
        <p:nvPicPr>
          <p:cNvPr id="4" name="Picture 3">
            <a:extLst>
              <a:ext uri="{FF2B5EF4-FFF2-40B4-BE49-F238E27FC236}">
                <a16:creationId xmlns:a16="http://schemas.microsoft.com/office/drawing/2014/main" id="{681EBF08-A8FC-4F41-B4C5-BCEC1C6289BB}"/>
              </a:ext>
            </a:extLst>
          </p:cNvPr>
          <p:cNvPicPr>
            <a:picLocks noChangeAspect="1"/>
          </p:cNvPicPr>
          <p:nvPr/>
        </p:nvPicPr>
        <p:blipFill>
          <a:blip r:embed="rId2"/>
          <a:stretch>
            <a:fillRect/>
          </a:stretch>
        </p:blipFill>
        <p:spPr>
          <a:xfrm>
            <a:off x="1475656" y="2636912"/>
            <a:ext cx="5883466" cy="4158027"/>
          </a:xfrm>
          <a:prstGeom prst="rect">
            <a:avLst/>
          </a:prstGeom>
        </p:spPr>
      </p:pic>
    </p:spTree>
    <p:extLst>
      <p:ext uri="{BB962C8B-B14F-4D97-AF65-F5344CB8AC3E}">
        <p14:creationId xmlns:p14="http://schemas.microsoft.com/office/powerpoint/2010/main" val="1256541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dirty="0"/>
              <a:t>SE research</a:t>
            </a:r>
          </a:p>
        </p:txBody>
      </p:sp>
      <p:sp>
        <p:nvSpPr>
          <p:cNvPr id="4" name="Content Placeholder 3">
            <a:extLst>
              <a:ext uri="{FF2B5EF4-FFF2-40B4-BE49-F238E27FC236}">
                <a16:creationId xmlns:a16="http://schemas.microsoft.com/office/drawing/2014/main" id="{6CDA17AD-AA8C-DB45-B405-B95947BF1991}"/>
              </a:ext>
            </a:extLst>
          </p:cNvPr>
          <p:cNvSpPr>
            <a:spLocks noGrp="1"/>
          </p:cNvSpPr>
          <p:nvPr>
            <p:ph idx="1"/>
          </p:nvPr>
        </p:nvSpPr>
        <p:spPr/>
        <p:txBody>
          <a:bodyPr/>
          <a:lstStyle/>
          <a:p>
            <a:r>
              <a:rPr lang="en-US" dirty="0"/>
              <a:t>Knowledge seeking research</a:t>
            </a:r>
          </a:p>
          <a:p>
            <a:pPr lvl="1"/>
            <a:r>
              <a:rPr lang="en-US" dirty="0"/>
              <a:t>Generate/evaluate/validate scientific claims</a:t>
            </a:r>
          </a:p>
          <a:p>
            <a:pPr lvl="1"/>
            <a:r>
              <a:rPr lang="en-US" dirty="0"/>
              <a:t>Outcomes:</a:t>
            </a:r>
          </a:p>
          <a:p>
            <a:pPr lvl="2"/>
            <a:r>
              <a:rPr lang="en-US" dirty="0"/>
              <a:t>Findings, insights, theoretical/conceptual frameworks, hypotheses</a:t>
            </a:r>
          </a:p>
          <a:p>
            <a:r>
              <a:rPr lang="en-US" dirty="0"/>
              <a:t>Solution seeking research</a:t>
            </a:r>
          </a:p>
          <a:p>
            <a:pPr lvl="1"/>
            <a:r>
              <a:rPr lang="en-US" dirty="0"/>
              <a:t>Develop new or improve existing solutions</a:t>
            </a:r>
          </a:p>
          <a:p>
            <a:pPr lvl="1"/>
            <a:r>
              <a:rPr lang="en-US" dirty="0"/>
              <a:t>Overcome challenges and bottlenecks</a:t>
            </a:r>
          </a:p>
          <a:p>
            <a:pPr lvl="1"/>
            <a:r>
              <a:rPr lang="en-US" dirty="0"/>
              <a:t>Outcomes:</a:t>
            </a:r>
          </a:p>
          <a:p>
            <a:pPr lvl="2"/>
            <a:r>
              <a:rPr lang="en-US" dirty="0"/>
              <a:t>Artifacts: algorithms, tools, notations, models etc..</a:t>
            </a:r>
          </a:p>
        </p:txBody>
      </p:sp>
    </p:spTree>
    <p:extLst>
      <p:ext uri="{BB962C8B-B14F-4D97-AF65-F5344CB8AC3E}">
        <p14:creationId xmlns:p14="http://schemas.microsoft.com/office/powerpoint/2010/main" val="1008665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dirty="0"/>
              <a:t>SE research</a:t>
            </a:r>
          </a:p>
        </p:txBody>
      </p:sp>
      <p:sp>
        <p:nvSpPr>
          <p:cNvPr id="2" name="Content Placeholder 1">
            <a:extLst>
              <a:ext uri="{FF2B5EF4-FFF2-40B4-BE49-F238E27FC236}">
                <a16:creationId xmlns:a16="http://schemas.microsoft.com/office/drawing/2014/main" id="{2CC0C449-079E-3041-9C50-A9CA04AEA133}"/>
              </a:ext>
            </a:extLst>
          </p:cNvPr>
          <p:cNvSpPr>
            <a:spLocks noGrp="1"/>
          </p:cNvSpPr>
          <p:nvPr>
            <p:ph idx="1"/>
          </p:nvPr>
        </p:nvSpPr>
        <p:spPr/>
        <p:txBody>
          <a:bodyPr/>
          <a:lstStyle/>
          <a:p>
            <a:r>
              <a:rPr lang="en-US" dirty="0"/>
              <a:t>SE research is concerned with the same three components</a:t>
            </a:r>
          </a:p>
          <a:p>
            <a:pPr lvl="1"/>
            <a:r>
              <a:rPr lang="en-US" b="1" dirty="0"/>
              <a:t>Actors</a:t>
            </a:r>
            <a:r>
              <a:rPr lang="en-US" dirty="0"/>
              <a:t>:</a:t>
            </a:r>
          </a:p>
          <a:p>
            <a:pPr lvl="2"/>
            <a:r>
              <a:rPr lang="en-US" dirty="0"/>
              <a:t>Software professionals</a:t>
            </a:r>
          </a:p>
          <a:p>
            <a:pPr lvl="2"/>
            <a:r>
              <a:rPr lang="en-US" dirty="0"/>
              <a:t>Software systems</a:t>
            </a:r>
          </a:p>
          <a:p>
            <a:pPr lvl="2"/>
            <a:r>
              <a:rPr lang="en-US" dirty="0"/>
              <a:t>Users</a:t>
            </a:r>
          </a:p>
          <a:p>
            <a:pPr lvl="1"/>
            <a:r>
              <a:rPr lang="en-US" b="1" dirty="0"/>
              <a:t>Behavior</a:t>
            </a:r>
            <a:r>
              <a:rPr lang="en-US" dirty="0"/>
              <a:t>:</a:t>
            </a:r>
          </a:p>
          <a:p>
            <a:pPr lvl="2"/>
            <a:r>
              <a:rPr lang="en-US" dirty="0"/>
              <a:t>Coordination and productivity of developers</a:t>
            </a:r>
          </a:p>
          <a:p>
            <a:pPr lvl="2"/>
            <a:r>
              <a:rPr lang="en-US" dirty="0"/>
              <a:t>System performance and quality</a:t>
            </a:r>
          </a:p>
          <a:p>
            <a:pPr lvl="1"/>
            <a:r>
              <a:rPr lang="en-US" b="1" dirty="0"/>
              <a:t>Context</a:t>
            </a:r>
            <a:r>
              <a:rPr lang="en-US" dirty="0"/>
              <a:t>:</a:t>
            </a:r>
          </a:p>
          <a:p>
            <a:pPr lvl="2"/>
            <a:r>
              <a:rPr lang="en-US" dirty="0"/>
              <a:t>Industrial setting</a:t>
            </a:r>
          </a:p>
          <a:p>
            <a:pPr lvl="2"/>
            <a:r>
              <a:rPr lang="en-US" dirty="0"/>
              <a:t>Laboratory</a:t>
            </a:r>
          </a:p>
          <a:p>
            <a:pPr lvl="2"/>
            <a:r>
              <a:rPr lang="en-US" dirty="0"/>
              <a:t>Classroom</a:t>
            </a:r>
          </a:p>
        </p:txBody>
      </p:sp>
    </p:spTree>
    <p:extLst>
      <p:ext uri="{BB962C8B-B14F-4D97-AF65-F5344CB8AC3E}">
        <p14:creationId xmlns:p14="http://schemas.microsoft.com/office/powerpoint/2010/main" val="1927815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dirty="0"/>
              <a:t>SE research</a:t>
            </a:r>
          </a:p>
        </p:txBody>
      </p:sp>
      <p:sp>
        <p:nvSpPr>
          <p:cNvPr id="2" name="Content Placeholder 1">
            <a:extLst>
              <a:ext uri="{FF2B5EF4-FFF2-40B4-BE49-F238E27FC236}">
                <a16:creationId xmlns:a16="http://schemas.microsoft.com/office/drawing/2014/main" id="{2CC0C449-079E-3041-9C50-A9CA04AEA133}"/>
              </a:ext>
            </a:extLst>
          </p:cNvPr>
          <p:cNvSpPr>
            <a:spLocks noGrp="1"/>
          </p:cNvSpPr>
          <p:nvPr>
            <p:ph idx="1"/>
          </p:nvPr>
        </p:nvSpPr>
        <p:spPr/>
        <p:txBody>
          <a:bodyPr/>
          <a:lstStyle/>
          <a:p>
            <a:r>
              <a:rPr lang="en-US" dirty="0"/>
              <a:t>”there is no way – in principle – to maximize all the three (conflicting) desiderata of the research strategy domain”</a:t>
            </a:r>
          </a:p>
          <a:p>
            <a:pPr lvl="1"/>
            <a:r>
              <a:rPr lang="en-US" dirty="0"/>
              <a:t>It is impossible to achieve generalizability of the actors, with precise measurement of their behavior in a realistic context</a:t>
            </a:r>
          </a:p>
          <a:p>
            <a:endParaRPr lang="en-US" dirty="0"/>
          </a:p>
          <a:p>
            <a:endParaRPr lang="en-US" dirty="0"/>
          </a:p>
          <a:p>
            <a:r>
              <a:rPr lang="en-US" dirty="0"/>
              <a:t>Evaluation of a study:</a:t>
            </a:r>
          </a:p>
          <a:p>
            <a:pPr lvl="1"/>
            <a:r>
              <a:rPr lang="en-US" dirty="0"/>
              <a:t>How well it achieves its potentials?</a:t>
            </a:r>
          </a:p>
          <a:p>
            <a:pPr lvl="1"/>
            <a:r>
              <a:rPr lang="en-US" dirty="0"/>
              <a:t>Not based on criteria that it will never fulfill</a:t>
            </a:r>
          </a:p>
        </p:txBody>
      </p:sp>
    </p:spTree>
    <p:extLst>
      <p:ext uri="{BB962C8B-B14F-4D97-AF65-F5344CB8AC3E}">
        <p14:creationId xmlns:p14="http://schemas.microsoft.com/office/powerpoint/2010/main" val="2306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dirty="0"/>
              <a:t>Research strategy</a:t>
            </a:r>
          </a:p>
        </p:txBody>
      </p:sp>
      <p:sp>
        <p:nvSpPr>
          <p:cNvPr id="2" name="Content Placeholder 1">
            <a:extLst>
              <a:ext uri="{FF2B5EF4-FFF2-40B4-BE49-F238E27FC236}">
                <a16:creationId xmlns:a16="http://schemas.microsoft.com/office/drawing/2014/main" id="{2CC0C449-079E-3041-9C50-A9CA04AEA133}"/>
              </a:ext>
            </a:extLst>
          </p:cNvPr>
          <p:cNvSpPr>
            <a:spLocks noGrp="1"/>
          </p:cNvSpPr>
          <p:nvPr>
            <p:ph idx="1"/>
          </p:nvPr>
        </p:nvSpPr>
        <p:spPr/>
        <p:txBody>
          <a:bodyPr/>
          <a:lstStyle/>
          <a:p>
            <a:r>
              <a:rPr lang="en-US" dirty="0"/>
              <a:t>Research strategy is a category of research methods that can be categorized by two dimensions</a:t>
            </a:r>
          </a:p>
          <a:p>
            <a:pPr lvl="1"/>
            <a:r>
              <a:rPr lang="en-US" dirty="0"/>
              <a:t>Level of </a:t>
            </a:r>
            <a:r>
              <a:rPr lang="en-US" b="1" dirty="0"/>
              <a:t>obtrusiveness</a:t>
            </a:r>
          </a:p>
          <a:p>
            <a:pPr lvl="2"/>
            <a:r>
              <a:rPr lang="en-US" dirty="0"/>
              <a:t>To what extent the researcher intrudes the research setting</a:t>
            </a:r>
          </a:p>
          <a:p>
            <a:pPr lvl="2"/>
            <a:r>
              <a:rPr lang="en-US" dirty="0"/>
              <a:t>Observe or manipulate variables?</a:t>
            </a:r>
          </a:p>
          <a:p>
            <a:pPr lvl="2"/>
            <a:r>
              <a:rPr lang="en-US" dirty="0"/>
              <a:t>Context vs Behavior</a:t>
            </a:r>
          </a:p>
          <a:p>
            <a:pPr lvl="1"/>
            <a:r>
              <a:rPr lang="en-US" dirty="0"/>
              <a:t>The extent which findings are </a:t>
            </a:r>
            <a:r>
              <a:rPr lang="en-US" b="1" dirty="0"/>
              <a:t>generalizable</a:t>
            </a:r>
            <a:r>
              <a:rPr lang="en-US" dirty="0"/>
              <a:t> to other settings</a:t>
            </a:r>
          </a:p>
          <a:p>
            <a:pPr lvl="2"/>
            <a:r>
              <a:rPr lang="en-US" dirty="0"/>
              <a:t>Is this study valid for other Actors, Behavior measurements, Contexts?</a:t>
            </a:r>
          </a:p>
          <a:p>
            <a:pPr lvl="2"/>
            <a:r>
              <a:rPr lang="en-US" dirty="0"/>
              <a:t>Not all studies have the goal of being generalizable </a:t>
            </a:r>
          </a:p>
          <a:p>
            <a:pPr lvl="1"/>
            <a:endParaRPr lang="en-US" dirty="0"/>
          </a:p>
        </p:txBody>
      </p:sp>
    </p:spTree>
    <p:extLst>
      <p:ext uri="{BB962C8B-B14F-4D97-AF65-F5344CB8AC3E}">
        <p14:creationId xmlns:p14="http://schemas.microsoft.com/office/powerpoint/2010/main" val="409288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dirty="0"/>
              <a:t>Types of research strategy according to ABC paper</a:t>
            </a:r>
          </a:p>
        </p:txBody>
      </p:sp>
      <p:sp>
        <p:nvSpPr>
          <p:cNvPr id="2" name="Content Placeholder 1">
            <a:extLst>
              <a:ext uri="{FF2B5EF4-FFF2-40B4-BE49-F238E27FC236}">
                <a16:creationId xmlns:a16="http://schemas.microsoft.com/office/drawing/2014/main" id="{2CC0C449-079E-3041-9C50-A9CA04AEA133}"/>
              </a:ext>
            </a:extLst>
          </p:cNvPr>
          <p:cNvSpPr>
            <a:spLocks noGrp="1"/>
          </p:cNvSpPr>
          <p:nvPr>
            <p:ph idx="1"/>
          </p:nvPr>
        </p:nvSpPr>
        <p:spPr/>
        <p:txBody>
          <a:bodyPr/>
          <a:lstStyle/>
          <a:p>
            <a:pPr marL="457200" indent="-457200">
              <a:lnSpc>
                <a:spcPct val="150000"/>
              </a:lnSpc>
              <a:buFont typeface="+mj-lt"/>
              <a:buAutoNum type="arabicPeriod"/>
            </a:pPr>
            <a:r>
              <a:rPr lang="en-US" dirty="0"/>
              <a:t>Field Studies</a:t>
            </a:r>
          </a:p>
          <a:p>
            <a:pPr marL="457200" indent="-457200">
              <a:lnSpc>
                <a:spcPct val="150000"/>
              </a:lnSpc>
              <a:buFont typeface="+mj-lt"/>
              <a:buAutoNum type="arabicPeriod"/>
            </a:pPr>
            <a:r>
              <a:rPr lang="en-US" dirty="0"/>
              <a:t>Field Experiments</a:t>
            </a:r>
          </a:p>
          <a:p>
            <a:pPr marL="457200" indent="-457200">
              <a:lnSpc>
                <a:spcPct val="150000"/>
              </a:lnSpc>
              <a:buFont typeface="+mj-lt"/>
              <a:buAutoNum type="arabicPeriod"/>
            </a:pPr>
            <a:r>
              <a:rPr lang="en-US" dirty="0"/>
              <a:t>Experimental Simulations</a:t>
            </a:r>
          </a:p>
          <a:p>
            <a:pPr marL="457200" indent="-457200">
              <a:lnSpc>
                <a:spcPct val="150000"/>
              </a:lnSpc>
              <a:buFont typeface="+mj-lt"/>
              <a:buAutoNum type="arabicPeriod"/>
            </a:pPr>
            <a:r>
              <a:rPr lang="en-US" dirty="0"/>
              <a:t>Laboratory experiments</a:t>
            </a:r>
          </a:p>
          <a:p>
            <a:pPr marL="457200" indent="-457200">
              <a:lnSpc>
                <a:spcPct val="150000"/>
              </a:lnSpc>
              <a:buFont typeface="+mj-lt"/>
              <a:buAutoNum type="arabicPeriod"/>
            </a:pPr>
            <a:r>
              <a:rPr lang="en-US" dirty="0"/>
              <a:t>Judgment Studies</a:t>
            </a:r>
          </a:p>
          <a:p>
            <a:pPr marL="457200" indent="-457200">
              <a:lnSpc>
                <a:spcPct val="150000"/>
              </a:lnSpc>
              <a:buFont typeface="+mj-lt"/>
              <a:buAutoNum type="arabicPeriod"/>
            </a:pPr>
            <a:r>
              <a:rPr lang="en-US" dirty="0"/>
              <a:t>Sample Studies</a:t>
            </a:r>
          </a:p>
          <a:p>
            <a:pPr marL="457200" indent="-457200">
              <a:lnSpc>
                <a:spcPct val="150000"/>
              </a:lnSpc>
              <a:buFont typeface="+mj-lt"/>
              <a:buAutoNum type="arabicPeriod"/>
            </a:pPr>
            <a:r>
              <a:rPr lang="en-US" dirty="0"/>
              <a:t>Formal Theory</a:t>
            </a:r>
          </a:p>
          <a:p>
            <a:pPr marL="457200" indent="-457200">
              <a:lnSpc>
                <a:spcPct val="150000"/>
              </a:lnSpc>
              <a:buFont typeface="+mj-lt"/>
              <a:buAutoNum type="arabicPeriod"/>
            </a:pPr>
            <a:r>
              <a:rPr lang="en-US" dirty="0"/>
              <a:t>Computer Simulations</a:t>
            </a:r>
          </a:p>
          <a:p>
            <a:endParaRPr lang="en-US" dirty="0"/>
          </a:p>
        </p:txBody>
      </p:sp>
    </p:spTree>
    <p:extLst>
      <p:ext uri="{BB962C8B-B14F-4D97-AF65-F5344CB8AC3E}">
        <p14:creationId xmlns:p14="http://schemas.microsoft.com/office/powerpoint/2010/main" val="4049411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dirty="0"/>
              <a:t>Choice of research strategy</a:t>
            </a:r>
          </a:p>
        </p:txBody>
      </p:sp>
      <p:sp>
        <p:nvSpPr>
          <p:cNvPr id="2" name="Content Placeholder 1">
            <a:extLst>
              <a:ext uri="{FF2B5EF4-FFF2-40B4-BE49-F238E27FC236}">
                <a16:creationId xmlns:a16="http://schemas.microsoft.com/office/drawing/2014/main" id="{2CC0C449-079E-3041-9C50-A9CA04AEA133}"/>
              </a:ext>
            </a:extLst>
          </p:cNvPr>
          <p:cNvSpPr>
            <a:spLocks noGrp="1"/>
          </p:cNvSpPr>
          <p:nvPr>
            <p:ph idx="1"/>
          </p:nvPr>
        </p:nvSpPr>
        <p:spPr/>
        <p:txBody>
          <a:bodyPr/>
          <a:lstStyle/>
          <a:p>
            <a:r>
              <a:rPr lang="en-US" dirty="0"/>
              <a:t>How to select a research strategy?</a:t>
            </a:r>
          </a:p>
          <a:p>
            <a:r>
              <a:rPr lang="en-US" dirty="0"/>
              <a:t>Depends on:</a:t>
            </a:r>
          </a:p>
          <a:p>
            <a:pPr lvl="1"/>
            <a:r>
              <a:rPr lang="en-US" dirty="0"/>
              <a:t>Goal of the research</a:t>
            </a:r>
          </a:p>
          <a:p>
            <a:pPr lvl="1"/>
            <a:r>
              <a:rPr lang="en-US" dirty="0"/>
              <a:t>Level of </a:t>
            </a:r>
            <a:r>
              <a:rPr lang="en-US" b="1" dirty="0"/>
              <a:t>obtrusiveness</a:t>
            </a:r>
          </a:p>
          <a:p>
            <a:pPr lvl="1"/>
            <a:r>
              <a:rPr lang="en-US" dirty="0"/>
              <a:t>Desired degree of </a:t>
            </a:r>
            <a:r>
              <a:rPr lang="en-US" b="1" dirty="0"/>
              <a:t>generalizability </a:t>
            </a:r>
            <a:r>
              <a:rPr lang="en-US" dirty="0"/>
              <a:t>of the findings</a:t>
            </a:r>
            <a:endParaRPr lang="en-US" b="1" dirty="0"/>
          </a:p>
          <a:p>
            <a:pPr lvl="2"/>
            <a:r>
              <a:rPr lang="en-US" dirty="0"/>
              <a:t>Generalizability over </a:t>
            </a:r>
            <a:r>
              <a:rPr lang="en-US" b="1" dirty="0"/>
              <a:t>Actors</a:t>
            </a:r>
          </a:p>
          <a:p>
            <a:pPr lvl="2"/>
            <a:r>
              <a:rPr lang="en-US" dirty="0"/>
              <a:t>Realism of </a:t>
            </a:r>
            <a:r>
              <a:rPr lang="en-US" b="1" dirty="0"/>
              <a:t>Context</a:t>
            </a:r>
          </a:p>
          <a:p>
            <a:pPr lvl="2"/>
            <a:r>
              <a:rPr lang="en-US" dirty="0"/>
              <a:t>Precision of the measurement of actors’ </a:t>
            </a:r>
            <a:r>
              <a:rPr lang="en-US" b="1" dirty="0"/>
              <a:t>Behavior</a:t>
            </a:r>
          </a:p>
          <a:p>
            <a:pPr lvl="1"/>
            <a:endParaRPr lang="en-US" dirty="0"/>
          </a:p>
        </p:txBody>
      </p:sp>
    </p:spTree>
    <p:extLst>
      <p:ext uri="{BB962C8B-B14F-4D97-AF65-F5344CB8AC3E}">
        <p14:creationId xmlns:p14="http://schemas.microsoft.com/office/powerpoint/2010/main" val="37648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C674139-5FCA-D147-8290-32E780D5023F}"/>
              </a:ext>
            </a:extLst>
          </p:cNvPr>
          <p:cNvPicPr>
            <a:picLocks noChangeAspect="1"/>
          </p:cNvPicPr>
          <p:nvPr/>
        </p:nvPicPr>
        <p:blipFill>
          <a:blip r:embed="rId2"/>
          <a:stretch>
            <a:fillRect/>
          </a:stretch>
        </p:blipFill>
        <p:spPr>
          <a:xfrm>
            <a:off x="930640" y="476672"/>
            <a:ext cx="7282720" cy="6237312"/>
          </a:xfrm>
          <a:prstGeom prst="rect">
            <a:avLst/>
          </a:prstGeom>
        </p:spPr>
      </p:pic>
    </p:spTree>
    <p:extLst>
      <p:ext uri="{BB962C8B-B14F-4D97-AF65-F5344CB8AC3E}">
        <p14:creationId xmlns:p14="http://schemas.microsoft.com/office/powerpoint/2010/main" val="1776228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E247E2-9DAE-264D-80D6-475E01B7764F}"/>
              </a:ext>
            </a:extLst>
          </p:cNvPr>
          <p:cNvPicPr>
            <a:picLocks noChangeAspect="1"/>
          </p:cNvPicPr>
          <p:nvPr/>
        </p:nvPicPr>
        <p:blipFill>
          <a:blip r:embed="rId2"/>
          <a:stretch>
            <a:fillRect/>
          </a:stretch>
        </p:blipFill>
        <p:spPr>
          <a:xfrm>
            <a:off x="930640" y="476672"/>
            <a:ext cx="7282720" cy="6237312"/>
          </a:xfrm>
          <a:prstGeom prst="rect">
            <a:avLst/>
          </a:prstGeom>
        </p:spPr>
      </p:pic>
      <p:sp>
        <p:nvSpPr>
          <p:cNvPr id="5" name="Oval 4">
            <a:extLst>
              <a:ext uri="{FF2B5EF4-FFF2-40B4-BE49-F238E27FC236}">
                <a16:creationId xmlns:a16="http://schemas.microsoft.com/office/drawing/2014/main" id="{61A3B0DC-5AB7-9C49-99E1-6E00C3271A2B}"/>
              </a:ext>
            </a:extLst>
          </p:cNvPr>
          <p:cNvSpPr/>
          <p:nvPr/>
        </p:nvSpPr>
        <p:spPr bwMode="auto">
          <a:xfrm>
            <a:off x="5436096" y="3032956"/>
            <a:ext cx="936104" cy="792088"/>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pitchFamily="68" charset="0"/>
            </a:endParaRPr>
          </a:p>
        </p:txBody>
      </p:sp>
      <p:sp>
        <p:nvSpPr>
          <p:cNvPr id="2" name="textruta 1">
            <a:extLst>
              <a:ext uri="{FF2B5EF4-FFF2-40B4-BE49-F238E27FC236}">
                <a16:creationId xmlns:a16="http://schemas.microsoft.com/office/drawing/2014/main" id="{7FC72CC3-CD83-CCC0-0BB9-9D8833EB8157}"/>
              </a:ext>
            </a:extLst>
          </p:cNvPr>
          <p:cNvSpPr txBox="1"/>
          <p:nvPr/>
        </p:nvSpPr>
        <p:spPr>
          <a:xfrm>
            <a:off x="7333151" y="2420888"/>
            <a:ext cx="1760418" cy="276999"/>
          </a:xfrm>
          <a:prstGeom prst="rect">
            <a:avLst/>
          </a:prstGeom>
          <a:noFill/>
        </p:spPr>
        <p:txBody>
          <a:bodyPr wrap="none" rtlCol="0">
            <a:spAutoFit/>
          </a:bodyPr>
          <a:lstStyle/>
          <a:p>
            <a:r>
              <a:rPr lang="en-US" sz="1200" dirty="0"/>
              <a:t>Nobel prize 2019 &amp; 2021</a:t>
            </a:r>
          </a:p>
        </p:txBody>
      </p:sp>
      <p:cxnSp>
        <p:nvCxnSpPr>
          <p:cNvPr id="6" name="Rak pil 5">
            <a:extLst>
              <a:ext uri="{FF2B5EF4-FFF2-40B4-BE49-F238E27FC236}">
                <a16:creationId xmlns:a16="http://schemas.microsoft.com/office/drawing/2014/main" id="{903BE9A9-D2F3-8120-5524-45A285BF2052}"/>
              </a:ext>
            </a:extLst>
          </p:cNvPr>
          <p:cNvCxnSpPr>
            <a:cxnSpLocks/>
            <a:stCxn id="2" idx="1"/>
          </p:cNvCxnSpPr>
          <p:nvPr/>
        </p:nvCxnSpPr>
        <p:spPr bwMode="auto">
          <a:xfrm flipH="1">
            <a:off x="5904148" y="2559388"/>
            <a:ext cx="1429003" cy="138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306022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973CDB-04AE-1845-9A69-7A20565BE9FA}"/>
              </a:ext>
            </a:extLst>
          </p:cNvPr>
          <p:cNvSpPr>
            <a:spLocks noGrp="1"/>
          </p:cNvSpPr>
          <p:nvPr>
            <p:ph type="title"/>
          </p:nvPr>
        </p:nvSpPr>
        <p:spPr/>
        <p:txBody>
          <a:bodyPr/>
          <a:lstStyle/>
          <a:p>
            <a:r>
              <a:rPr lang="en-US" dirty="0"/>
              <a:t>Case studies in se research</a:t>
            </a:r>
          </a:p>
        </p:txBody>
      </p:sp>
      <p:sp>
        <p:nvSpPr>
          <p:cNvPr id="5" name="Text Placeholder 4">
            <a:extLst>
              <a:ext uri="{FF2B5EF4-FFF2-40B4-BE49-F238E27FC236}">
                <a16:creationId xmlns:a16="http://schemas.microsoft.com/office/drawing/2014/main" id="{38F5EB29-665C-5848-A435-22F5D768CD1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4369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to read</a:t>
            </a:r>
            <a:r>
              <a:rPr lang="mr-IN" dirty="0"/>
              <a: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3688" y="620688"/>
            <a:ext cx="5616624" cy="5971360"/>
          </a:xfrm>
        </p:spPr>
      </p:pic>
    </p:spTree>
    <p:extLst>
      <p:ext uri="{BB962C8B-B14F-4D97-AF65-F5344CB8AC3E}">
        <p14:creationId xmlns:p14="http://schemas.microsoft.com/office/powerpoint/2010/main" val="2204105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sz="1800" dirty="0"/>
              <a:t>Definitions from software engineering perspective</a:t>
            </a:r>
          </a:p>
          <a:p>
            <a:r>
              <a:rPr lang="en-US" sz="1800" dirty="0"/>
              <a:t>Methodologies related to CS research</a:t>
            </a:r>
          </a:p>
          <a:p>
            <a:pPr lvl="1"/>
            <a:r>
              <a:rPr lang="en-US" sz="1800" dirty="0"/>
              <a:t>Survey</a:t>
            </a:r>
          </a:p>
          <a:p>
            <a:pPr lvl="1"/>
            <a:r>
              <a:rPr lang="en-US" sz="1800" dirty="0"/>
              <a:t>Experiment (controlled)</a:t>
            </a:r>
          </a:p>
          <a:p>
            <a:pPr lvl="1"/>
            <a:r>
              <a:rPr lang="en-US" sz="1800" dirty="0"/>
              <a:t>Action research</a:t>
            </a:r>
          </a:p>
          <a:p>
            <a:pPr lvl="1"/>
            <a:r>
              <a:rPr lang="en-US" sz="1800" dirty="0"/>
              <a:t>Design science research</a:t>
            </a:r>
          </a:p>
          <a:p>
            <a:r>
              <a:rPr lang="en-US" sz="1800" dirty="0"/>
              <a:t>From an SE perspective:</a:t>
            </a:r>
          </a:p>
          <a:p>
            <a:pPr lvl="1"/>
            <a:r>
              <a:rPr lang="en-US" sz="1800" dirty="0"/>
              <a:t>Exploratory—finding out what is happening, seeking new insights and generating ideas and hypotheses for new research. </a:t>
            </a:r>
          </a:p>
          <a:p>
            <a:pPr lvl="1"/>
            <a:r>
              <a:rPr lang="en-US" sz="1800" dirty="0"/>
              <a:t>Descriptive—portraying a situation or phenomenon. </a:t>
            </a:r>
          </a:p>
          <a:p>
            <a:pPr lvl="1"/>
            <a:r>
              <a:rPr lang="en-US" sz="1800" dirty="0"/>
              <a:t>Explanatory—seeking an explanation of a situation or a problem, mostly but not necessary in the form of a causal relationship.</a:t>
            </a:r>
          </a:p>
          <a:p>
            <a:pPr lvl="1"/>
            <a:r>
              <a:rPr lang="en-US" sz="1800" dirty="0"/>
              <a:t>Improving—trying to improve a certain aspect of the studied phenomenon. </a:t>
            </a:r>
          </a:p>
          <a:p>
            <a:endParaRPr lang="en-US" sz="1800" dirty="0"/>
          </a:p>
        </p:txBody>
      </p:sp>
    </p:spTree>
    <p:extLst>
      <p:ext uri="{BB962C8B-B14F-4D97-AF65-F5344CB8AC3E}">
        <p14:creationId xmlns:p14="http://schemas.microsoft.com/office/powerpoint/2010/main" val="3204728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RM characteristics</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85800" y="3194728"/>
            <a:ext cx="7772400" cy="2068744"/>
          </a:xfrm>
        </p:spPr>
      </p:pic>
    </p:spTree>
    <p:extLst>
      <p:ext uri="{BB962C8B-B14F-4D97-AF65-F5344CB8AC3E}">
        <p14:creationId xmlns:p14="http://schemas.microsoft.com/office/powerpoint/2010/main" val="3063304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major steps</a:t>
            </a:r>
          </a:p>
        </p:txBody>
      </p:sp>
      <p:sp>
        <p:nvSpPr>
          <p:cNvPr id="3" name="Content Placeholder 2"/>
          <p:cNvSpPr>
            <a:spLocks noGrp="1"/>
          </p:cNvSpPr>
          <p:nvPr>
            <p:ph idx="1"/>
          </p:nvPr>
        </p:nvSpPr>
        <p:spPr>
          <a:xfrm>
            <a:off x="251520" y="1629610"/>
            <a:ext cx="8640960" cy="4823725"/>
          </a:xfrm>
        </p:spPr>
        <p:txBody>
          <a:bodyPr/>
          <a:lstStyle/>
          <a:p>
            <a:pPr marL="457200" indent="-457200">
              <a:buFont typeface="+mj-lt"/>
              <a:buAutoNum type="arabicPeriod"/>
            </a:pPr>
            <a:r>
              <a:rPr lang="en-US" sz="2800" dirty="0"/>
              <a:t>Case study design: objectives are defined and the case study is planned. </a:t>
            </a:r>
          </a:p>
          <a:p>
            <a:pPr marL="457200" indent="-457200">
              <a:buFont typeface="+mj-lt"/>
              <a:buAutoNum type="arabicPeriod"/>
            </a:pPr>
            <a:r>
              <a:rPr lang="en-US" sz="2800" dirty="0"/>
              <a:t>Preparation for data collection: data sources, procedures and protocols for data collection are defined. </a:t>
            </a:r>
          </a:p>
          <a:p>
            <a:pPr marL="457200" indent="-457200">
              <a:buFont typeface="+mj-lt"/>
              <a:buAutoNum type="arabicPeriod"/>
            </a:pPr>
            <a:r>
              <a:rPr lang="en-US" sz="2800" dirty="0"/>
              <a:t>Collecting evidence: execution with data collection on the studied case and document the process</a:t>
            </a:r>
          </a:p>
          <a:p>
            <a:pPr marL="457200" indent="-457200">
              <a:buFont typeface="+mj-lt"/>
              <a:buAutoNum type="arabicPeriod"/>
            </a:pPr>
            <a:r>
              <a:rPr lang="en-US" sz="2800" dirty="0"/>
              <a:t>Analysis: derive insights from the collected data</a:t>
            </a:r>
          </a:p>
          <a:p>
            <a:pPr marL="457200" indent="-457200">
              <a:buFont typeface="+mj-lt"/>
              <a:buAutoNum type="arabicPeriod"/>
            </a:pPr>
            <a:r>
              <a:rPr lang="en-US" sz="2800" dirty="0"/>
              <a:t>Reporting: summarize and disseminate the findings</a:t>
            </a:r>
          </a:p>
          <a:p>
            <a:pPr marL="457200" indent="-457200">
              <a:buFont typeface="+mj-lt"/>
              <a:buAutoNum type="arabicPeriod"/>
            </a:pPr>
            <a:endParaRPr lang="en-US" sz="2800" dirty="0"/>
          </a:p>
          <a:p>
            <a:pPr marL="457200" indent="-457200">
              <a:buFont typeface="+mj-lt"/>
              <a:buAutoNum type="arabicPeriod"/>
            </a:pPr>
            <a:endParaRPr lang="en-US" sz="2800" dirty="0"/>
          </a:p>
        </p:txBody>
      </p:sp>
    </p:spTree>
    <p:extLst>
      <p:ext uri="{BB962C8B-B14F-4D97-AF65-F5344CB8AC3E}">
        <p14:creationId xmlns:p14="http://schemas.microsoft.com/office/powerpoint/2010/main" val="298312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a:t>
            </a:r>
          </a:p>
        </p:txBody>
      </p:sp>
      <p:sp>
        <p:nvSpPr>
          <p:cNvPr id="3" name="Content Placeholder 2"/>
          <p:cNvSpPr>
            <a:spLocks noGrp="1"/>
          </p:cNvSpPr>
          <p:nvPr>
            <p:ph idx="1"/>
          </p:nvPr>
        </p:nvSpPr>
        <p:spPr/>
        <p:txBody>
          <a:bodyPr/>
          <a:lstStyle/>
          <a:p>
            <a:r>
              <a:rPr lang="en-US" sz="2800" dirty="0"/>
              <a:t>Objective—what to achieve? </a:t>
            </a:r>
          </a:p>
          <a:p>
            <a:r>
              <a:rPr lang="en-US" sz="2800" dirty="0"/>
              <a:t>The case—what is studied? </a:t>
            </a:r>
          </a:p>
          <a:p>
            <a:r>
              <a:rPr lang="en-US" sz="2800" dirty="0"/>
              <a:t>Theory—frame of reference </a:t>
            </a:r>
          </a:p>
          <a:p>
            <a:r>
              <a:rPr lang="en-US" sz="2800" dirty="0"/>
              <a:t>Research questions—what to know? </a:t>
            </a:r>
          </a:p>
          <a:p>
            <a:r>
              <a:rPr lang="en-US" sz="2800" dirty="0"/>
              <a:t>Methods—how to collect data? </a:t>
            </a:r>
          </a:p>
          <a:p>
            <a:r>
              <a:rPr lang="en-US" sz="2800" dirty="0"/>
              <a:t>Selection strategy—where to seek data? </a:t>
            </a:r>
          </a:p>
          <a:p>
            <a:endParaRPr lang="en-US" sz="2800" dirty="0"/>
          </a:p>
        </p:txBody>
      </p:sp>
    </p:spTree>
    <p:extLst>
      <p:ext uri="{BB962C8B-B14F-4D97-AF65-F5344CB8AC3E}">
        <p14:creationId xmlns:p14="http://schemas.microsoft.com/office/powerpoint/2010/main" val="3234748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protocol</a:t>
            </a:r>
          </a:p>
        </p:txBody>
      </p:sp>
      <p:sp>
        <p:nvSpPr>
          <p:cNvPr id="5" name="Content Placeholder 4"/>
          <p:cNvSpPr>
            <a:spLocks noGrp="1"/>
          </p:cNvSpPr>
          <p:nvPr>
            <p:ph idx="1"/>
          </p:nvPr>
        </p:nvSpPr>
        <p:spPr>
          <a:xfrm>
            <a:off x="467544" y="1700808"/>
            <a:ext cx="8280920" cy="4776192"/>
          </a:xfrm>
        </p:spPr>
        <p:txBody>
          <a:bodyPr/>
          <a:lstStyle/>
          <a:p>
            <a:r>
              <a:rPr lang="en-US" dirty="0"/>
              <a:t>The case study protocol is a container for the design decisions on the case study as well as field procedures for its carrying through (execution). </a:t>
            </a:r>
          </a:p>
          <a:p>
            <a:r>
              <a:rPr lang="en-US" dirty="0"/>
              <a:t>It serves as a </a:t>
            </a:r>
            <a:r>
              <a:rPr lang="en-US" b="1" dirty="0"/>
              <a:t>guide</a:t>
            </a:r>
            <a:r>
              <a:rPr lang="en-US" dirty="0"/>
              <a:t> when conducting the data collection, and in that way prevents the researcher from missing to collect data that were planned to be collected. </a:t>
            </a:r>
          </a:p>
          <a:p>
            <a:r>
              <a:rPr lang="en-US" dirty="0"/>
              <a:t>The processes of formulating the protocol makes the research </a:t>
            </a:r>
            <a:r>
              <a:rPr lang="en-US" b="1" dirty="0"/>
              <a:t>concrete in the planning phase</a:t>
            </a:r>
            <a:r>
              <a:rPr lang="en-US" dirty="0"/>
              <a:t>, which may help the researcher to decide what data sources to use and what questions to ask. </a:t>
            </a:r>
          </a:p>
          <a:p>
            <a:r>
              <a:rPr lang="en-US" dirty="0"/>
              <a:t>Other researchers and relevant people may </a:t>
            </a:r>
            <a:r>
              <a:rPr lang="en-US" b="1" dirty="0"/>
              <a:t>review it </a:t>
            </a:r>
            <a:r>
              <a:rPr lang="en-US" dirty="0"/>
              <a:t>in order to give feedback on the plans </a:t>
            </a:r>
          </a:p>
          <a:p>
            <a:r>
              <a:rPr lang="en-US" dirty="0"/>
              <a:t>It can serve as </a:t>
            </a:r>
            <a:r>
              <a:rPr lang="en-US" b="1" dirty="0"/>
              <a:t>a log or diary </a:t>
            </a:r>
            <a:r>
              <a:rPr lang="en-US" dirty="0"/>
              <a:t>where all conducted data collection and analysis is recorded together with change decisions based on the flexible nature of the research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310567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collection</a:t>
            </a:r>
          </a:p>
        </p:txBody>
      </p:sp>
      <p:sp>
        <p:nvSpPr>
          <p:cNvPr id="3" name="Content Placeholder 2"/>
          <p:cNvSpPr>
            <a:spLocks noGrp="1"/>
          </p:cNvSpPr>
          <p:nvPr>
            <p:ph idx="1"/>
          </p:nvPr>
        </p:nvSpPr>
        <p:spPr/>
        <p:txBody>
          <a:bodyPr/>
          <a:lstStyle/>
          <a:p>
            <a:r>
              <a:rPr lang="en-US" sz="2400" dirty="0"/>
              <a:t>First degree: Direct methods means that the researcher is in direct contact with the subjects and collect data in real time, e.g., interviews, focus groups</a:t>
            </a:r>
          </a:p>
          <a:p>
            <a:r>
              <a:rPr lang="en-US" sz="2400" dirty="0"/>
              <a:t>Second degree: Indirect methods where the researcher directly collects raw data without actually interacting with the subjects during the data collection (e.g., video recording, GitHub data collection)</a:t>
            </a:r>
          </a:p>
          <a:p>
            <a:r>
              <a:rPr lang="en-US" sz="2400" dirty="0"/>
              <a:t>Third degree: Independent analysis of work artifacts where already available and sometimes compiled data is used. </a:t>
            </a:r>
          </a:p>
        </p:txBody>
      </p:sp>
    </p:spTree>
    <p:extLst>
      <p:ext uri="{BB962C8B-B14F-4D97-AF65-F5344CB8AC3E}">
        <p14:creationId xmlns:p14="http://schemas.microsoft.com/office/powerpoint/2010/main" val="2226264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a:t>
            </a:r>
          </a:p>
        </p:txBody>
      </p:sp>
      <p:sp>
        <p:nvSpPr>
          <p:cNvPr id="3" name="Content Placeholder 2"/>
          <p:cNvSpPr>
            <a:spLocks noGrp="1"/>
          </p:cNvSpPr>
          <p:nvPr>
            <p:ph idx="1"/>
          </p:nvPr>
        </p:nvSpPr>
        <p:spPr/>
        <p:txBody>
          <a:bodyPr/>
          <a:lstStyle/>
          <a:p>
            <a:r>
              <a:rPr lang="en-US" sz="2800" dirty="0"/>
              <a:t>Interviews</a:t>
            </a:r>
          </a:p>
          <a:p>
            <a:r>
              <a:rPr lang="en-US" sz="2800" dirty="0"/>
              <a:t>Observations</a:t>
            </a:r>
          </a:p>
          <a:p>
            <a:r>
              <a:rPr lang="en-US" sz="2800" dirty="0"/>
              <a:t>Archival data*</a:t>
            </a:r>
          </a:p>
          <a:p>
            <a:r>
              <a:rPr lang="en-US" sz="2800" dirty="0"/>
              <a:t>Metrics</a:t>
            </a:r>
            <a:br>
              <a:rPr lang="en-US" sz="2800" dirty="0"/>
            </a:br>
            <a:br>
              <a:rPr lang="en-US" sz="2800" dirty="0"/>
            </a:br>
            <a:br>
              <a:rPr lang="en-US" sz="2800" dirty="0"/>
            </a:br>
            <a:r>
              <a:rPr lang="en-US" sz="2800" dirty="0"/>
              <a:t>* Very popular approach nowadays…</a:t>
            </a:r>
          </a:p>
        </p:txBody>
      </p:sp>
      <p:pic>
        <p:nvPicPr>
          <p:cNvPr id="5" name="Bildobjekt 4">
            <a:extLst>
              <a:ext uri="{FF2B5EF4-FFF2-40B4-BE49-F238E27FC236}">
                <a16:creationId xmlns:a16="http://schemas.microsoft.com/office/drawing/2014/main" id="{2868E77C-C398-E0D2-4F9A-22B37BCDBB15}"/>
              </a:ext>
            </a:extLst>
          </p:cNvPr>
          <p:cNvPicPr>
            <a:picLocks noChangeAspect="1"/>
          </p:cNvPicPr>
          <p:nvPr/>
        </p:nvPicPr>
        <p:blipFill>
          <a:blip r:embed="rId3"/>
          <a:stretch>
            <a:fillRect/>
          </a:stretch>
        </p:blipFill>
        <p:spPr>
          <a:xfrm>
            <a:off x="685800" y="5291137"/>
            <a:ext cx="7772400" cy="1457325"/>
          </a:xfrm>
          <a:prstGeom prst="rect">
            <a:avLst/>
          </a:prstGeom>
        </p:spPr>
      </p:pic>
    </p:spTree>
    <p:extLst>
      <p:ext uri="{BB962C8B-B14F-4D97-AF65-F5344CB8AC3E}">
        <p14:creationId xmlns:p14="http://schemas.microsoft.com/office/powerpoint/2010/main" val="1078853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and validity</a:t>
            </a:r>
          </a:p>
        </p:txBody>
      </p:sp>
      <p:sp>
        <p:nvSpPr>
          <p:cNvPr id="3" name="Content Placeholder 2"/>
          <p:cNvSpPr>
            <a:spLocks noGrp="1"/>
          </p:cNvSpPr>
          <p:nvPr>
            <p:ph idx="1"/>
          </p:nvPr>
        </p:nvSpPr>
        <p:spPr/>
        <p:txBody>
          <a:bodyPr/>
          <a:lstStyle/>
          <a:p>
            <a:r>
              <a:rPr lang="en-US" dirty="0"/>
              <a:t>Qualitative</a:t>
            </a:r>
          </a:p>
          <a:p>
            <a:r>
              <a:rPr lang="en-US" dirty="0"/>
              <a:t>Quantitative</a:t>
            </a:r>
          </a:p>
          <a:p>
            <a:endParaRPr lang="en-US" dirty="0"/>
          </a:p>
          <a:p>
            <a:r>
              <a:rPr lang="en-US" dirty="0"/>
              <a:t>Construct validity </a:t>
            </a:r>
            <a:r>
              <a:rPr lang="mr-IN" dirty="0"/>
              <a:t>–</a:t>
            </a:r>
            <a:r>
              <a:rPr lang="en-US" dirty="0"/>
              <a:t> Are we measuring what we want to measure?</a:t>
            </a:r>
          </a:p>
          <a:p>
            <a:r>
              <a:rPr lang="en-US" dirty="0"/>
              <a:t>Internal validity </a:t>
            </a:r>
            <a:r>
              <a:rPr lang="mr-IN" dirty="0"/>
              <a:t>–</a:t>
            </a:r>
            <a:r>
              <a:rPr lang="en-US" dirty="0"/>
              <a:t> Casual relations interfering?</a:t>
            </a:r>
          </a:p>
          <a:p>
            <a:r>
              <a:rPr lang="en-US" dirty="0"/>
              <a:t>External validity </a:t>
            </a:r>
            <a:r>
              <a:rPr lang="mr-IN" dirty="0"/>
              <a:t>–</a:t>
            </a:r>
            <a:r>
              <a:rPr lang="en-US" dirty="0"/>
              <a:t> Generalizability?</a:t>
            </a:r>
          </a:p>
          <a:p>
            <a:r>
              <a:rPr lang="en-US" dirty="0"/>
              <a:t>Reliability </a:t>
            </a:r>
            <a:r>
              <a:rPr lang="mr-IN" dirty="0"/>
              <a:t>–</a:t>
            </a:r>
            <a:r>
              <a:rPr lang="en-US" dirty="0"/>
              <a:t> Same results from another researcher?</a:t>
            </a:r>
          </a:p>
          <a:p>
            <a:endParaRPr lang="en-US" dirty="0"/>
          </a:p>
          <a:p>
            <a:r>
              <a:rPr lang="en-US" dirty="0"/>
              <a:t>See checklists in the </a:t>
            </a:r>
            <a:r>
              <a:rPr lang="en-US" dirty="0" err="1"/>
              <a:t>Runeson</a:t>
            </a:r>
            <a:r>
              <a:rPr lang="en-US" dirty="0"/>
              <a:t> &amp; </a:t>
            </a:r>
            <a:r>
              <a:rPr lang="en-US" dirty="0" err="1"/>
              <a:t>Höst</a:t>
            </a:r>
            <a:r>
              <a:rPr lang="en-US" dirty="0"/>
              <a:t> paper!</a:t>
            </a:r>
          </a:p>
        </p:txBody>
      </p:sp>
    </p:spTree>
    <p:extLst>
      <p:ext uri="{BB962C8B-B14F-4D97-AF65-F5344CB8AC3E}">
        <p14:creationId xmlns:p14="http://schemas.microsoft.com/office/powerpoint/2010/main" val="2243518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a:t>Outline</a:t>
            </a:r>
          </a:p>
        </p:txBody>
      </p:sp>
      <p:sp>
        <p:nvSpPr>
          <p:cNvPr id="37891" name="Rectangle 3"/>
          <p:cNvSpPr>
            <a:spLocks noGrp="1" noChangeArrowheads="1"/>
          </p:cNvSpPr>
          <p:nvPr>
            <p:ph type="body" idx="1"/>
          </p:nvPr>
        </p:nvSpPr>
        <p:spPr/>
        <p:txBody>
          <a:bodyPr/>
          <a:lstStyle/>
          <a:p>
            <a:r>
              <a:rPr lang="en-GB" sz="2800" b="1" dirty="0"/>
              <a:t>What is a case?</a:t>
            </a:r>
          </a:p>
          <a:p>
            <a:r>
              <a:rPr lang="en-GB" sz="2800" dirty="0"/>
              <a:t>Why case study research?</a:t>
            </a:r>
          </a:p>
          <a:p>
            <a:r>
              <a:rPr lang="en-GB" sz="2800" dirty="0"/>
              <a:t>Designing case studies</a:t>
            </a:r>
          </a:p>
          <a:p>
            <a:r>
              <a:rPr lang="en-GB" sz="2800" dirty="0"/>
              <a:t>Example 1: </a:t>
            </a:r>
          </a:p>
          <a:p>
            <a:r>
              <a:rPr lang="en-GB" sz="2800" dirty="0"/>
              <a:t>Example 2:</a:t>
            </a:r>
          </a:p>
          <a:p>
            <a:r>
              <a:rPr lang="en-GB" sz="2800" dirty="0"/>
              <a:t>Summary</a:t>
            </a:r>
          </a:p>
        </p:txBody>
      </p:sp>
    </p:spTree>
    <p:extLst>
      <p:ext uri="{BB962C8B-B14F-4D97-AF65-F5344CB8AC3E}">
        <p14:creationId xmlns:p14="http://schemas.microsoft.com/office/powerpoint/2010/main" val="4222770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nl-NL"/>
              <a:t>What is a case?</a:t>
            </a:r>
          </a:p>
        </p:txBody>
      </p:sp>
      <p:sp>
        <p:nvSpPr>
          <p:cNvPr id="93187" name="Rectangle 3"/>
          <p:cNvSpPr>
            <a:spLocks noGrp="1" noChangeArrowheads="1"/>
          </p:cNvSpPr>
          <p:nvPr>
            <p:ph type="body" idx="1"/>
          </p:nvPr>
        </p:nvSpPr>
        <p:spPr/>
        <p:txBody>
          <a:bodyPr/>
          <a:lstStyle/>
          <a:p>
            <a:r>
              <a:rPr lang="nl-NL"/>
              <a:t>A person: ….</a:t>
            </a:r>
          </a:p>
          <a:p>
            <a:r>
              <a:rPr lang="nl-NL"/>
              <a:t>A site: an organization – a country</a:t>
            </a:r>
          </a:p>
          <a:p>
            <a:r>
              <a:rPr lang="nl-NL"/>
              <a:t>An artefact: technology, product</a:t>
            </a:r>
          </a:p>
          <a:p>
            <a:endParaRPr lang="nl-NL"/>
          </a:p>
          <a:p>
            <a:r>
              <a:rPr lang="nl-NL"/>
              <a:t>Units of analysis in case studies:</a:t>
            </a:r>
          </a:p>
          <a:p>
            <a:pPr lvl="1"/>
            <a:r>
              <a:rPr lang="nl-NL"/>
              <a:t>Events, activities</a:t>
            </a:r>
          </a:p>
        </p:txBody>
      </p:sp>
    </p:spTree>
    <p:extLst>
      <p:ext uri="{BB962C8B-B14F-4D97-AF65-F5344CB8AC3E}">
        <p14:creationId xmlns:p14="http://schemas.microsoft.com/office/powerpoint/2010/main" val="1423770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nl-NL"/>
              <a:t>A case study is an empirical enquiry that: </a:t>
            </a:r>
          </a:p>
        </p:txBody>
      </p:sp>
      <p:sp>
        <p:nvSpPr>
          <p:cNvPr id="115715" name="Rectangle 3"/>
          <p:cNvSpPr>
            <a:spLocks noGrp="1" noChangeArrowheads="1"/>
          </p:cNvSpPr>
          <p:nvPr>
            <p:ph type="body" idx="1"/>
          </p:nvPr>
        </p:nvSpPr>
        <p:spPr/>
        <p:txBody>
          <a:bodyPr/>
          <a:lstStyle/>
          <a:p>
            <a:pPr>
              <a:lnSpc>
                <a:spcPct val="90000"/>
              </a:lnSpc>
            </a:pPr>
            <a:r>
              <a:rPr lang="nl-NL"/>
              <a:t>Investigates a contemporary phenomenon within its real-life context; when</a:t>
            </a:r>
          </a:p>
          <a:p>
            <a:pPr>
              <a:lnSpc>
                <a:spcPct val="90000"/>
              </a:lnSpc>
            </a:pPr>
            <a:r>
              <a:rPr lang="nl-NL"/>
              <a:t>the boundaries between phenomenon and context are not clearly evident; and</a:t>
            </a:r>
          </a:p>
          <a:p>
            <a:pPr>
              <a:lnSpc>
                <a:spcPct val="90000"/>
              </a:lnSpc>
            </a:pPr>
            <a:r>
              <a:rPr lang="nl-NL"/>
              <a:t>multiple sources of evidence are used (Yin 2003:13-14).</a:t>
            </a:r>
          </a:p>
        </p:txBody>
      </p:sp>
    </p:spTree>
    <p:extLst>
      <p:ext uri="{BB962C8B-B14F-4D97-AF65-F5344CB8AC3E}">
        <p14:creationId xmlns:p14="http://schemas.microsoft.com/office/powerpoint/2010/main" val="17130120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a:t>
            </a:r>
            <a:r>
              <a:rPr lang="mr-IN" dirty="0"/>
              <a:t>…</a:t>
            </a:r>
            <a:endParaRPr lang="en-US" dirty="0"/>
          </a:p>
        </p:txBody>
      </p:sp>
      <p:sp>
        <p:nvSpPr>
          <p:cNvPr id="3" name="Content Placeholder 2"/>
          <p:cNvSpPr>
            <a:spLocks noGrp="1"/>
          </p:cNvSpPr>
          <p:nvPr>
            <p:ph idx="1"/>
          </p:nvPr>
        </p:nvSpPr>
        <p:spPr/>
        <p:txBody>
          <a:bodyPr/>
          <a:lstStyle/>
          <a:p>
            <a:r>
              <a:rPr lang="en-US" sz="2800" b="1" dirty="0"/>
              <a:t>Illustrative case studies</a:t>
            </a:r>
            <a:r>
              <a:rPr lang="en-US" sz="2800" dirty="0"/>
              <a:t> </a:t>
            </a:r>
          </a:p>
          <a:p>
            <a:r>
              <a:rPr lang="en-US" sz="2800" b="1" dirty="0"/>
              <a:t>Exploratory case studies</a:t>
            </a:r>
            <a:r>
              <a:rPr lang="en-US" sz="2800" dirty="0"/>
              <a:t> </a:t>
            </a:r>
          </a:p>
          <a:p>
            <a:r>
              <a:rPr lang="en-US" sz="2800" b="1" dirty="0"/>
              <a:t>Cumulative case studies</a:t>
            </a:r>
            <a:r>
              <a:rPr lang="en-US" sz="2800" dirty="0"/>
              <a:t> </a:t>
            </a:r>
          </a:p>
          <a:p>
            <a:r>
              <a:rPr lang="en-US" sz="2800" b="1" dirty="0"/>
              <a:t>Critical instance case studies</a:t>
            </a:r>
            <a:r>
              <a:rPr lang="en-US" sz="2800" dirty="0"/>
              <a:t> </a:t>
            </a:r>
          </a:p>
        </p:txBody>
      </p:sp>
    </p:spTree>
    <p:extLst>
      <p:ext uri="{BB962C8B-B14F-4D97-AF65-F5344CB8AC3E}">
        <p14:creationId xmlns:p14="http://schemas.microsoft.com/office/powerpoint/2010/main" val="29427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a:t>Outline</a:t>
            </a:r>
          </a:p>
        </p:txBody>
      </p:sp>
      <p:sp>
        <p:nvSpPr>
          <p:cNvPr id="37891" name="Rectangle 3"/>
          <p:cNvSpPr>
            <a:spLocks noGrp="1" noChangeArrowheads="1"/>
          </p:cNvSpPr>
          <p:nvPr>
            <p:ph type="body" idx="1"/>
          </p:nvPr>
        </p:nvSpPr>
        <p:spPr/>
        <p:txBody>
          <a:bodyPr/>
          <a:lstStyle/>
          <a:p>
            <a:r>
              <a:rPr lang="en-GB" sz="2800" dirty="0"/>
              <a:t>What is a case?</a:t>
            </a:r>
          </a:p>
          <a:p>
            <a:r>
              <a:rPr lang="en-GB" sz="2800" b="1" dirty="0"/>
              <a:t>Why case study research?</a:t>
            </a:r>
          </a:p>
          <a:p>
            <a:r>
              <a:rPr lang="en-GB" sz="2800" dirty="0"/>
              <a:t>Designing case studies</a:t>
            </a:r>
          </a:p>
          <a:p>
            <a:r>
              <a:rPr lang="en-GB" sz="2800" dirty="0"/>
              <a:t>Example 1: </a:t>
            </a:r>
          </a:p>
          <a:p>
            <a:r>
              <a:rPr lang="en-GB" sz="2800" dirty="0"/>
              <a:t>Example 2:</a:t>
            </a:r>
          </a:p>
          <a:p>
            <a:r>
              <a:rPr lang="en-GB" sz="2800" dirty="0"/>
              <a:t>Summary</a:t>
            </a:r>
          </a:p>
        </p:txBody>
      </p:sp>
    </p:spTree>
    <p:extLst>
      <p:ext uri="{BB962C8B-B14F-4D97-AF65-F5344CB8AC3E}">
        <p14:creationId xmlns:p14="http://schemas.microsoft.com/office/powerpoint/2010/main" val="677889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nl-NL"/>
              <a:t>Why case study research?</a:t>
            </a:r>
          </a:p>
        </p:txBody>
      </p:sp>
      <p:sp>
        <p:nvSpPr>
          <p:cNvPr id="116739" name="Rectangle 3"/>
          <p:cNvSpPr>
            <a:spLocks noGrp="1" noChangeArrowheads="1"/>
          </p:cNvSpPr>
          <p:nvPr>
            <p:ph type="body" idx="1"/>
          </p:nvPr>
        </p:nvSpPr>
        <p:spPr/>
        <p:txBody>
          <a:bodyPr/>
          <a:lstStyle/>
          <a:p>
            <a:r>
              <a:rPr lang="en-US" sz="2800" dirty="0"/>
              <a:t>Rule of thumb: more variables than cases (survey research: more cases than variables)</a:t>
            </a:r>
          </a:p>
          <a:p>
            <a:r>
              <a:rPr lang="en-US" sz="2800" dirty="0"/>
              <a:t>Relevant mechanisms, variables are not yet clear</a:t>
            </a:r>
          </a:p>
          <a:p>
            <a:pPr>
              <a:buFontTx/>
              <a:buNone/>
            </a:pPr>
            <a:endParaRPr lang="en-US" sz="2800" dirty="0"/>
          </a:p>
        </p:txBody>
      </p:sp>
    </p:spTree>
    <p:extLst>
      <p:ext uri="{BB962C8B-B14F-4D97-AF65-F5344CB8AC3E}">
        <p14:creationId xmlns:p14="http://schemas.microsoft.com/office/powerpoint/2010/main" val="416963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nl-NL"/>
              <a:t>Why case study research?</a:t>
            </a:r>
          </a:p>
        </p:txBody>
      </p:sp>
      <p:sp>
        <p:nvSpPr>
          <p:cNvPr id="133123" name="Rectangle 3"/>
          <p:cNvSpPr>
            <a:spLocks noGrp="1" noChangeArrowheads="1"/>
          </p:cNvSpPr>
          <p:nvPr>
            <p:ph type="body" idx="1"/>
          </p:nvPr>
        </p:nvSpPr>
        <p:spPr>
          <a:xfrm>
            <a:off x="457200" y="1981200"/>
            <a:ext cx="8610600" cy="4114800"/>
          </a:xfrm>
        </p:spPr>
        <p:txBody>
          <a:bodyPr/>
          <a:lstStyle/>
          <a:p>
            <a:pPr marL="609600" indent="-609600">
              <a:lnSpc>
                <a:spcPct val="90000"/>
              </a:lnSpc>
            </a:pPr>
            <a:r>
              <a:rPr lang="nl-NL" sz="2800"/>
              <a:t>Three important uses:</a:t>
            </a:r>
          </a:p>
          <a:p>
            <a:pPr marL="609600" indent="-609600">
              <a:lnSpc>
                <a:spcPct val="90000"/>
              </a:lnSpc>
            </a:pPr>
            <a:endParaRPr lang="nl-NL" sz="2800"/>
          </a:p>
          <a:p>
            <a:pPr marL="609600" indent="-609600">
              <a:lnSpc>
                <a:spcPct val="90000"/>
              </a:lnSpc>
              <a:buFontTx/>
              <a:buAutoNum type="arabicPeriod"/>
            </a:pPr>
            <a:r>
              <a:rPr lang="nl-NL" sz="2800" u="sng"/>
              <a:t>Motivation</a:t>
            </a:r>
            <a:r>
              <a:rPr lang="nl-NL" sz="2800"/>
              <a:t> of research (falsify theories)</a:t>
            </a:r>
          </a:p>
          <a:p>
            <a:pPr marL="609600" indent="-609600">
              <a:lnSpc>
                <a:spcPct val="90000"/>
              </a:lnSpc>
              <a:buFontTx/>
              <a:buAutoNum type="arabicPeriod"/>
            </a:pPr>
            <a:r>
              <a:rPr lang="nl-NL" sz="2800" u="sng"/>
              <a:t>Inspiration</a:t>
            </a:r>
            <a:r>
              <a:rPr lang="nl-NL" sz="2800"/>
              <a:t> for new ideas (theory building)</a:t>
            </a:r>
          </a:p>
          <a:p>
            <a:pPr marL="609600" indent="-609600">
              <a:lnSpc>
                <a:spcPct val="90000"/>
              </a:lnSpc>
              <a:buFontTx/>
              <a:buAutoNum type="arabicPeriod"/>
            </a:pPr>
            <a:r>
              <a:rPr lang="nl-NL" sz="2800" u="sng"/>
              <a:t>Illustration</a:t>
            </a:r>
            <a:r>
              <a:rPr lang="nl-NL" sz="2800"/>
              <a:t>: concrete examples of theoretical constructs, show how the causal relationships work </a:t>
            </a:r>
          </a:p>
          <a:p>
            <a:pPr marL="990600" lvl="1" indent="-533400">
              <a:lnSpc>
                <a:spcPct val="90000"/>
              </a:lnSpc>
              <a:buFontTx/>
              <a:buNone/>
            </a:pPr>
            <a:r>
              <a:rPr lang="nl-NL" sz="2400"/>
              <a:t>     e.g. </a:t>
            </a:r>
            <a:r>
              <a:rPr lang="ja-JP" altLang="nl-NL" sz="2400">
                <a:latin typeface="Arial"/>
              </a:rPr>
              <a:t>“</a:t>
            </a:r>
            <a:r>
              <a:rPr lang="nl-NL" sz="2400"/>
              <a:t>dynamic capabilities</a:t>
            </a:r>
            <a:r>
              <a:rPr lang="ja-JP" altLang="nl-NL" sz="2400">
                <a:latin typeface="Arial"/>
              </a:rPr>
              <a:t>”</a:t>
            </a:r>
            <a:r>
              <a:rPr lang="nl-NL" sz="2400"/>
              <a:t>: Cisco (Mayer &amp; Kenney 2004); IDEO (Hargadon &amp; Sutton 1997)</a:t>
            </a:r>
          </a:p>
        </p:txBody>
      </p:sp>
    </p:spTree>
    <p:extLst>
      <p:ext uri="{BB962C8B-B14F-4D97-AF65-F5344CB8AC3E}">
        <p14:creationId xmlns:p14="http://schemas.microsoft.com/office/powerpoint/2010/main" val="3139792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p:cNvSpPr>
            <a:spLocks noGrp="1" noChangeArrowheads="1"/>
          </p:cNvSpPr>
          <p:nvPr>
            <p:ph type="ctrTitle"/>
          </p:nvPr>
        </p:nvSpPr>
        <p:spPr>
          <a:xfrm>
            <a:off x="683568" y="2852936"/>
            <a:ext cx="7772400" cy="1470025"/>
          </a:xfrm>
        </p:spPr>
        <p:txBody>
          <a:bodyPr/>
          <a:lstStyle/>
          <a:p>
            <a:r>
              <a:rPr lang="en-GB" sz="3200" dirty="0">
                <a:solidFill>
                  <a:srgbClr val="FF0000"/>
                </a:solidFill>
              </a:rPr>
              <a:t>Accusation:</a:t>
            </a:r>
            <a:br>
              <a:rPr lang="en-GB" sz="3200" dirty="0">
                <a:solidFill>
                  <a:srgbClr val="FF0000"/>
                </a:solidFill>
              </a:rPr>
            </a:br>
            <a:r>
              <a:rPr lang="en-GB" sz="3200" dirty="0">
                <a:solidFill>
                  <a:srgbClr val="FF0000"/>
                </a:solidFill>
              </a:rPr>
              <a:t>‘Case study research is a “convenience” research strategy’</a:t>
            </a:r>
          </a:p>
        </p:txBody>
      </p:sp>
      <p:sp>
        <p:nvSpPr>
          <p:cNvPr id="125957" name="Rectangle 5"/>
          <p:cNvSpPr>
            <a:spLocks noGrp="1" noChangeArrowheads="1"/>
          </p:cNvSpPr>
          <p:nvPr>
            <p:ph type="subTitle" idx="1"/>
          </p:nvPr>
        </p:nvSpPr>
        <p:spPr>
          <a:xfrm>
            <a:off x="1115616" y="836712"/>
            <a:ext cx="6781800" cy="1752600"/>
          </a:xfrm>
        </p:spPr>
        <p:txBody>
          <a:bodyPr/>
          <a:lstStyle/>
          <a:p>
            <a:pPr>
              <a:lnSpc>
                <a:spcPct val="80000"/>
              </a:lnSpc>
            </a:pPr>
            <a:r>
              <a:rPr lang="en-GB" sz="2000" i="1" dirty="0">
                <a:latin typeface="Times New Roman" charset="0"/>
                <a:cs typeface="Times New Roman" charset="0"/>
              </a:rPr>
              <a:t>‘… this study used the case study-method because of the complexity of the phenomenon studied. We did in-depth interviews with key actors in the firm.’</a:t>
            </a:r>
          </a:p>
          <a:p>
            <a:pPr>
              <a:lnSpc>
                <a:spcPct val="80000"/>
              </a:lnSpc>
            </a:pPr>
            <a:endParaRPr lang="en-GB" sz="2000" i="1" dirty="0">
              <a:latin typeface="Times New Roman" charset="0"/>
              <a:cs typeface="Times New Roman" charset="0"/>
            </a:endParaRPr>
          </a:p>
          <a:p>
            <a:pPr>
              <a:lnSpc>
                <a:spcPct val="80000"/>
              </a:lnSpc>
            </a:pPr>
            <a:r>
              <a:rPr lang="en-GB" sz="2000" i="1" dirty="0">
                <a:latin typeface="Times New Roman" charset="0"/>
                <a:cs typeface="Times New Roman" charset="0"/>
              </a:rPr>
              <a:t>‘Not much is known about X, hence we engage in theory building with case study research’ </a:t>
            </a:r>
          </a:p>
        </p:txBody>
      </p:sp>
      <p:sp>
        <p:nvSpPr>
          <p:cNvPr id="125958" name="Text Box 6"/>
          <p:cNvSpPr txBox="1">
            <a:spLocks noChangeArrowheads="1"/>
          </p:cNvSpPr>
          <p:nvPr/>
        </p:nvSpPr>
        <p:spPr bwMode="auto">
          <a:xfrm>
            <a:off x="385763" y="4799013"/>
            <a:ext cx="6818020" cy="1015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GB" sz="1800" dirty="0"/>
              <a:t>Quick results: </a:t>
            </a:r>
          </a:p>
          <a:p>
            <a:pPr>
              <a:buFontTx/>
              <a:buChar char="-"/>
            </a:pPr>
            <a:r>
              <a:rPr lang="en-GB" sz="1800" dirty="0"/>
              <a:t>Too limited search in the literature for similar studies, relevant theories</a:t>
            </a:r>
          </a:p>
          <a:p>
            <a:pPr>
              <a:buFontTx/>
              <a:buChar char="-"/>
            </a:pPr>
            <a:r>
              <a:rPr lang="en-GB" sz="1800" dirty="0"/>
              <a:t>Too limited efforts to select a proper case/sample</a:t>
            </a:r>
            <a:r>
              <a:rPr lang="en-GB" dirty="0"/>
              <a:t> </a:t>
            </a:r>
          </a:p>
        </p:txBody>
      </p:sp>
    </p:spTree>
    <p:extLst>
      <p:ext uri="{BB962C8B-B14F-4D97-AF65-F5344CB8AC3E}">
        <p14:creationId xmlns:p14="http://schemas.microsoft.com/office/powerpoint/2010/main" val="659942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nl-NL" sz="4000"/>
              <a:t>Three types of case study research</a:t>
            </a:r>
          </a:p>
        </p:txBody>
      </p:sp>
      <p:grpSp>
        <p:nvGrpSpPr>
          <p:cNvPr id="2" name="Group 1"/>
          <p:cNvGrpSpPr/>
          <p:nvPr/>
        </p:nvGrpSpPr>
        <p:grpSpPr>
          <a:xfrm>
            <a:off x="2270125" y="2317750"/>
            <a:ext cx="4846638" cy="2798763"/>
            <a:chOff x="2270125" y="2317750"/>
            <a:chExt cx="4846638" cy="2798763"/>
          </a:xfrm>
        </p:grpSpPr>
        <p:sp>
          <p:nvSpPr>
            <p:cNvPr id="117763" name="Text Box 3"/>
            <p:cNvSpPr txBox="1">
              <a:spLocks noChangeArrowheads="1"/>
            </p:cNvSpPr>
            <p:nvPr/>
          </p:nvSpPr>
          <p:spPr bwMode="auto">
            <a:xfrm>
              <a:off x="3641725" y="2317750"/>
              <a:ext cx="22923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a:t>Research question</a:t>
              </a:r>
            </a:p>
          </p:txBody>
        </p:sp>
        <p:sp>
          <p:nvSpPr>
            <p:cNvPr id="117764" name="Line 4"/>
            <p:cNvSpPr>
              <a:spLocks noChangeShapeType="1"/>
            </p:cNvSpPr>
            <p:nvPr/>
          </p:nvSpPr>
          <p:spPr bwMode="auto">
            <a:xfrm>
              <a:off x="4572000" y="27432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17765" name="Line 5"/>
            <p:cNvSpPr>
              <a:spLocks noChangeShapeType="1"/>
            </p:cNvSpPr>
            <p:nvPr/>
          </p:nvSpPr>
          <p:spPr bwMode="auto">
            <a:xfrm flipH="1">
              <a:off x="3429000" y="2743200"/>
              <a:ext cx="114300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17766" name="Line 6"/>
            <p:cNvSpPr>
              <a:spLocks noChangeShapeType="1"/>
            </p:cNvSpPr>
            <p:nvPr/>
          </p:nvSpPr>
          <p:spPr bwMode="auto">
            <a:xfrm>
              <a:off x="4572000" y="2743200"/>
              <a:ext cx="114300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17767" name="Text Box 7"/>
            <p:cNvSpPr txBox="1">
              <a:spLocks noChangeArrowheads="1"/>
            </p:cNvSpPr>
            <p:nvPr/>
          </p:nvSpPr>
          <p:spPr bwMode="auto">
            <a:xfrm>
              <a:off x="2270125" y="3536950"/>
              <a:ext cx="4351338"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dirty="0" err="1"/>
                <a:t>Observation</a:t>
              </a:r>
              <a:r>
                <a:rPr lang="nl-NL" sz="1800" dirty="0"/>
                <a:t>	</a:t>
              </a:r>
              <a:r>
                <a:rPr lang="nl-NL" sz="1800" dirty="0" err="1"/>
                <a:t>Theory</a:t>
              </a:r>
              <a:r>
                <a:rPr lang="nl-NL" sz="1800" dirty="0"/>
                <a:t>	      </a:t>
              </a:r>
              <a:r>
                <a:rPr lang="nl-NL" sz="1800" dirty="0" err="1"/>
                <a:t>Problem</a:t>
              </a:r>
              <a:endParaRPr lang="nl-NL" sz="1800" dirty="0"/>
            </a:p>
          </p:txBody>
        </p:sp>
        <p:sp>
          <p:nvSpPr>
            <p:cNvPr id="117769" name="Line 9"/>
            <p:cNvSpPr>
              <a:spLocks noChangeShapeType="1"/>
            </p:cNvSpPr>
            <p:nvPr/>
          </p:nvSpPr>
          <p:spPr bwMode="auto">
            <a:xfrm>
              <a:off x="6096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17770" name="Line 10"/>
            <p:cNvSpPr>
              <a:spLocks noChangeShapeType="1"/>
            </p:cNvSpPr>
            <p:nvPr/>
          </p:nvSpPr>
          <p:spPr bwMode="auto">
            <a:xfrm>
              <a:off x="4572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17771" name="Line 11"/>
            <p:cNvSpPr>
              <a:spLocks noChangeShapeType="1"/>
            </p:cNvSpPr>
            <p:nvPr/>
          </p:nvSpPr>
          <p:spPr bwMode="auto">
            <a:xfrm>
              <a:off x="3048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17772" name="Text Box 12"/>
            <p:cNvSpPr txBox="1">
              <a:spLocks noChangeArrowheads="1"/>
            </p:cNvSpPr>
            <p:nvPr/>
          </p:nvSpPr>
          <p:spPr bwMode="auto">
            <a:xfrm>
              <a:off x="2362200" y="4749800"/>
              <a:ext cx="4754563"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a:t>Theory 	      Observation     Observation</a:t>
              </a:r>
            </a:p>
          </p:txBody>
        </p:sp>
        <p:sp>
          <p:nvSpPr>
            <p:cNvPr id="117773" name="Text Box 13"/>
            <p:cNvSpPr txBox="1">
              <a:spLocks noChangeArrowheads="1"/>
            </p:cNvSpPr>
            <p:nvPr/>
          </p:nvSpPr>
          <p:spPr bwMode="auto">
            <a:xfrm>
              <a:off x="5584825" y="4205288"/>
              <a:ext cx="1044575" cy="366712"/>
            </a:xfrm>
            <a:prstGeom prst="rect">
              <a:avLst/>
            </a:prstGeom>
            <a:solidFill>
              <a:schemeClr val="bg1"/>
            </a:solidFill>
            <a:ln>
              <a:noFill/>
            </a:ln>
            <a:effectLst/>
            <a:extLs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a:t>(Theory)</a:t>
              </a:r>
              <a:r>
                <a:rPr lang="nl-NL" sz="1800"/>
                <a:t> </a:t>
              </a:r>
            </a:p>
          </p:txBody>
        </p:sp>
      </p:grpSp>
    </p:spTree>
    <p:extLst>
      <p:ext uri="{BB962C8B-B14F-4D97-AF65-F5344CB8AC3E}">
        <p14:creationId xmlns:p14="http://schemas.microsoft.com/office/powerpoint/2010/main" val="556512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bwMode="auto">
          <a:xfrm>
            <a:off x="3419872" y="4509120"/>
            <a:ext cx="2088232" cy="234888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8" charset="0"/>
            </a:endParaRPr>
          </a:p>
        </p:txBody>
      </p:sp>
      <p:sp>
        <p:nvSpPr>
          <p:cNvPr id="103426" name="Rectangle 2"/>
          <p:cNvSpPr>
            <a:spLocks noGrp="1" noChangeArrowheads="1"/>
          </p:cNvSpPr>
          <p:nvPr>
            <p:ph type="title"/>
          </p:nvPr>
        </p:nvSpPr>
        <p:spPr/>
        <p:txBody>
          <a:bodyPr/>
          <a:lstStyle/>
          <a:p>
            <a:r>
              <a:rPr lang="nl-NL" sz="3200"/>
              <a:t>Theory building (Eisenhardt 1989)</a:t>
            </a:r>
          </a:p>
        </p:txBody>
      </p:sp>
      <p:sp>
        <p:nvSpPr>
          <p:cNvPr id="103427" name="Rectangle 3"/>
          <p:cNvSpPr>
            <a:spLocks noGrp="1" noChangeArrowheads="1"/>
          </p:cNvSpPr>
          <p:nvPr>
            <p:ph type="body" idx="1"/>
          </p:nvPr>
        </p:nvSpPr>
        <p:spPr/>
        <p:txBody>
          <a:bodyPr/>
          <a:lstStyle/>
          <a:p>
            <a:r>
              <a:rPr lang="nl-NL" sz="2800"/>
              <a:t>unchartered waters, research as a voyage of discovery </a:t>
            </a:r>
          </a:p>
          <a:p>
            <a:r>
              <a:rPr lang="ja-JP" altLang="nl-NL" sz="2800">
                <a:latin typeface="Arial"/>
              </a:rPr>
              <a:t>“</a:t>
            </a:r>
            <a:r>
              <a:rPr lang="nl-NL" sz="2800"/>
              <a:t>grounded theory</a:t>
            </a:r>
            <a:r>
              <a:rPr lang="ja-JP" altLang="nl-NL" sz="2800">
                <a:latin typeface="Arial"/>
              </a:rPr>
              <a:t>”</a:t>
            </a:r>
            <a:r>
              <a:rPr lang="nl-NL" sz="2800"/>
              <a:t>: iterations between observations and emerging theory (Strauss &amp; Corbin 1990)</a:t>
            </a:r>
          </a:p>
        </p:txBody>
      </p:sp>
      <p:grpSp>
        <p:nvGrpSpPr>
          <p:cNvPr id="4" name="Group 3"/>
          <p:cNvGrpSpPr/>
          <p:nvPr/>
        </p:nvGrpSpPr>
        <p:grpSpPr>
          <a:xfrm>
            <a:off x="3923928" y="3933056"/>
            <a:ext cx="4846638" cy="2798763"/>
            <a:chOff x="2270125" y="2317750"/>
            <a:chExt cx="4846638" cy="2798763"/>
          </a:xfrm>
        </p:grpSpPr>
        <p:sp>
          <p:nvSpPr>
            <p:cNvPr id="5" name="Text Box 3"/>
            <p:cNvSpPr txBox="1">
              <a:spLocks noChangeArrowheads="1"/>
            </p:cNvSpPr>
            <p:nvPr/>
          </p:nvSpPr>
          <p:spPr bwMode="auto">
            <a:xfrm>
              <a:off x="3641725" y="2317750"/>
              <a:ext cx="22923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a:t>Research question</a:t>
              </a:r>
            </a:p>
          </p:txBody>
        </p:sp>
        <p:sp>
          <p:nvSpPr>
            <p:cNvPr id="6" name="Line 4"/>
            <p:cNvSpPr>
              <a:spLocks noChangeShapeType="1"/>
            </p:cNvSpPr>
            <p:nvPr/>
          </p:nvSpPr>
          <p:spPr bwMode="auto">
            <a:xfrm>
              <a:off x="4572000" y="27432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 name="Line 5"/>
            <p:cNvSpPr>
              <a:spLocks noChangeShapeType="1"/>
            </p:cNvSpPr>
            <p:nvPr/>
          </p:nvSpPr>
          <p:spPr bwMode="auto">
            <a:xfrm flipH="1">
              <a:off x="3429000" y="2743200"/>
              <a:ext cx="114300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8" name="Line 6"/>
            <p:cNvSpPr>
              <a:spLocks noChangeShapeType="1"/>
            </p:cNvSpPr>
            <p:nvPr/>
          </p:nvSpPr>
          <p:spPr bwMode="auto">
            <a:xfrm>
              <a:off x="4572000" y="2743200"/>
              <a:ext cx="114300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9" name="Text Box 7"/>
            <p:cNvSpPr txBox="1">
              <a:spLocks noChangeArrowheads="1"/>
            </p:cNvSpPr>
            <p:nvPr/>
          </p:nvSpPr>
          <p:spPr bwMode="auto">
            <a:xfrm>
              <a:off x="2270125" y="3536950"/>
              <a:ext cx="4351338"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dirty="0" err="1"/>
                <a:t>Observation</a:t>
              </a:r>
              <a:r>
                <a:rPr lang="nl-NL" sz="1800" dirty="0"/>
                <a:t>	</a:t>
              </a:r>
              <a:r>
                <a:rPr lang="nl-NL" sz="1800" dirty="0" err="1"/>
                <a:t>Theory</a:t>
              </a:r>
              <a:r>
                <a:rPr lang="nl-NL" sz="1800" dirty="0"/>
                <a:t>	      </a:t>
              </a:r>
              <a:r>
                <a:rPr lang="nl-NL" sz="1800" dirty="0" err="1"/>
                <a:t>Problem</a:t>
              </a:r>
              <a:endParaRPr lang="nl-NL" sz="1800" dirty="0"/>
            </a:p>
          </p:txBody>
        </p:sp>
        <p:sp>
          <p:nvSpPr>
            <p:cNvPr id="10" name="Line 9"/>
            <p:cNvSpPr>
              <a:spLocks noChangeShapeType="1"/>
            </p:cNvSpPr>
            <p:nvPr/>
          </p:nvSpPr>
          <p:spPr bwMode="auto">
            <a:xfrm>
              <a:off x="6096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1" name="Line 10"/>
            <p:cNvSpPr>
              <a:spLocks noChangeShapeType="1"/>
            </p:cNvSpPr>
            <p:nvPr/>
          </p:nvSpPr>
          <p:spPr bwMode="auto">
            <a:xfrm>
              <a:off x="4572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2" name="Line 11"/>
            <p:cNvSpPr>
              <a:spLocks noChangeShapeType="1"/>
            </p:cNvSpPr>
            <p:nvPr/>
          </p:nvSpPr>
          <p:spPr bwMode="auto">
            <a:xfrm>
              <a:off x="3048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3" name="Text Box 12"/>
            <p:cNvSpPr txBox="1">
              <a:spLocks noChangeArrowheads="1"/>
            </p:cNvSpPr>
            <p:nvPr/>
          </p:nvSpPr>
          <p:spPr bwMode="auto">
            <a:xfrm>
              <a:off x="2362200" y="4749800"/>
              <a:ext cx="4754563"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a:t>Theory 	      Observation     Observation</a:t>
              </a:r>
            </a:p>
          </p:txBody>
        </p:sp>
        <p:sp>
          <p:nvSpPr>
            <p:cNvPr id="14" name="Text Box 13"/>
            <p:cNvSpPr txBox="1">
              <a:spLocks noChangeArrowheads="1"/>
            </p:cNvSpPr>
            <p:nvPr/>
          </p:nvSpPr>
          <p:spPr bwMode="auto">
            <a:xfrm>
              <a:off x="5584825" y="4205288"/>
              <a:ext cx="1044575" cy="366712"/>
            </a:xfrm>
            <a:prstGeom prst="rect">
              <a:avLst/>
            </a:prstGeom>
            <a:solidFill>
              <a:schemeClr val="bg1"/>
            </a:solidFill>
            <a:ln>
              <a:noFill/>
            </a:ln>
            <a:effectLst/>
            <a:extLs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a:t>(Theory)</a:t>
              </a:r>
              <a:r>
                <a:rPr lang="nl-NL" sz="1800"/>
                <a:t> </a:t>
              </a:r>
            </a:p>
          </p:txBody>
        </p:sp>
      </p:grpSp>
    </p:spTree>
    <p:extLst>
      <p:ext uri="{BB962C8B-B14F-4D97-AF65-F5344CB8AC3E}">
        <p14:creationId xmlns:p14="http://schemas.microsoft.com/office/powerpoint/2010/main" val="3270915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bwMode="auto">
          <a:xfrm>
            <a:off x="5298827" y="4581128"/>
            <a:ext cx="1922208" cy="2376264"/>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8" charset="0"/>
            </a:endParaRPr>
          </a:p>
        </p:txBody>
      </p:sp>
      <p:sp>
        <p:nvSpPr>
          <p:cNvPr id="120834" name="Rectangle 2"/>
          <p:cNvSpPr>
            <a:spLocks noGrp="1" noChangeArrowheads="1"/>
          </p:cNvSpPr>
          <p:nvPr>
            <p:ph type="title"/>
          </p:nvPr>
        </p:nvSpPr>
        <p:spPr/>
        <p:txBody>
          <a:bodyPr/>
          <a:lstStyle/>
          <a:p>
            <a:r>
              <a:rPr lang="nl-NL" sz="3600"/>
              <a:t>Theory testing (Yin 2003)</a:t>
            </a:r>
          </a:p>
        </p:txBody>
      </p:sp>
      <p:sp>
        <p:nvSpPr>
          <p:cNvPr id="120835" name="Rectangle 3"/>
          <p:cNvSpPr>
            <a:spLocks noGrp="1" noChangeArrowheads="1"/>
          </p:cNvSpPr>
          <p:nvPr>
            <p:ph type="body" idx="1"/>
          </p:nvPr>
        </p:nvSpPr>
        <p:spPr/>
        <p:txBody>
          <a:bodyPr/>
          <a:lstStyle/>
          <a:p>
            <a:r>
              <a:rPr lang="en-GB" dirty="0"/>
              <a:t>Social experiment</a:t>
            </a:r>
          </a:p>
          <a:p>
            <a:pPr lvl="1"/>
            <a:r>
              <a:rPr lang="en-GB" dirty="0"/>
              <a:t>internal (causal connections) and</a:t>
            </a:r>
          </a:p>
          <a:p>
            <a:pPr lvl="1"/>
            <a:r>
              <a:rPr lang="en-GB" dirty="0"/>
              <a:t>external validity (generalisability: stat analysis)</a:t>
            </a:r>
          </a:p>
          <a:p>
            <a:pPr lvl="1"/>
            <a:r>
              <a:rPr lang="en-GB" dirty="0"/>
              <a:t>reliability (inter-subjectivity; protocols)</a:t>
            </a:r>
          </a:p>
          <a:p>
            <a:pPr lvl="1"/>
            <a:r>
              <a:rPr lang="en-GB" dirty="0"/>
              <a:t>construct validity (operationalisation of concepts)</a:t>
            </a:r>
          </a:p>
        </p:txBody>
      </p:sp>
      <p:grpSp>
        <p:nvGrpSpPr>
          <p:cNvPr id="4" name="Group 3"/>
          <p:cNvGrpSpPr/>
          <p:nvPr/>
        </p:nvGrpSpPr>
        <p:grpSpPr>
          <a:xfrm>
            <a:off x="4139952" y="3933056"/>
            <a:ext cx="4846638" cy="2798763"/>
            <a:chOff x="2270125" y="2317750"/>
            <a:chExt cx="4846638" cy="2798763"/>
          </a:xfrm>
        </p:grpSpPr>
        <p:sp>
          <p:nvSpPr>
            <p:cNvPr id="5" name="Text Box 3"/>
            <p:cNvSpPr txBox="1">
              <a:spLocks noChangeArrowheads="1"/>
            </p:cNvSpPr>
            <p:nvPr/>
          </p:nvSpPr>
          <p:spPr bwMode="auto">
            <a:xfrm>
              <a:off x="3641725" y="2317750"/>
              <a:ext cx="22923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a:t>Research question</a:t>
              </a:r>
            </a:p>
          </p:txBody>
        </p:sp>
        <p:sp>
          <p:nvSpPr>
            <p:cNvPr id="6" name="Line 4"/>
            <p:cNvSpPr>
              <a:spLocks noChangeShapeType="1"/>
            </p:cNvSpPr>
            <p:nvPr/>
          </p:nvSpPr>
          <p:spPr bwMode="auto">
            <a:xfrm>
              <a:off x="4572000" y="27432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 name="Line 5"/>
            <p:cNvSpPr>
              <a:spLocks noChangeShapeType="1"/>
            </p:cNvSpPr>
            <p:nvPr/>
          </p:nvSpPr>
          <p:spPr bwMode="auto">
            <a:xfrm flipH="1">
              <a:off x="3429000" y="2743200"/>
              <a:ext cx="114300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8" name="Line 6"/>
            <p:cNvSpPr>
              <a:spLocks noChangeShapeType="1"/>
            </p:cNvSpPr>
            <p:nvPr/>
          </p:nvSpPr>
          <p:spPr bwMode="auto">
            <a:xfrm>
              <a:off x="4572000" y="2743200"/>
              <a:ext cx="114300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9" name="Text Box 7"/>
            <p:cNvSpPr txBox="1">
              <a:spLocks noChangeArrowheads="1"/>
            </p:cNvSpPr>
            <p:nvPr/>
          </p:nvSpPr>
          <p:spPr bwMode="auto">
            <a:xfrm>
              <a:off x="2270125" y="3536950"/>
              <a:ext cx="4351338"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dirty="0" err="1"/>
                <a:t>Observation</a:t>
              </a:r>
              <a:r>
                <a:rPr lang="nl-NL" sz="1800" dirty="0"/>
                <a:t>	</a:t>
              </a:r>
              <a:r>
                <a:rPr lang="nl-NL" sz="1800" dirty="0" err="1"/>
                <a:t>Theory</a:t>
              </a:r>
              <a:r>
                <a:rPr lang="nl-NL" sz="1800" dirty="0"/>
                <a:t>	      </a:t>
              </a:r>
              <a:r>
                <a:rPr lang="nl-NL" sz="1800" dirty="0" err="1"/>
                <a:t>Problem</a:t>
              </a:r>
              <a:endParaRPr lang="nl-NL" sz="1800" dirty="0"/>
            </a:p>
          </p:txBody>
        </p:sp>
        <p:sp>
          <p:nvSpPr>
            <p:cNvPr id="10" name="Line 9"/>
            <p:cNvSpPr>
              <a:spLocks noChangeShapeType="1"/>
            </p:cNvSpPr>
            <p:nvPr/>
          </p:nvSpPr>
          <p:spPr bwMode="auto">
            <a:xfrm>
              <a:off x="6096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1" name="Line 10"/>
            <p:cNvSpPr>
              <a:spLocks noChangeShapeType="1"/>
            </p:cNvSpPr>
            <p:nvPr/>
          </p:nvSpPr>
          <p:spPr bwMode="auto">
            <a:xfrm>
              <a:off x="4572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2" name="Line 11"/>
            <p:cNvSpPr>
              <a:spLocks noChangeShapeType="1"/>
            </p:cNvSpPr>
            <p:nvPr/>
          </p:nvSpPr>
          <p:spPr bwMode="auto">
            <a:xfrm>
              <a:off x="3048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3" name="Text Box 12"/>
            <p:cNvSpPr txBox="1">
              <a:spLocks noChangeArrowheads="1"/>
            </p:cNvSpPr>
            <p:nvPr/>
          </p:nvSpPr>
          <p:spPr bwMode="auto">
            <a:xfrm>
              <a:off x="2362200" y="4749800"/>
              <a:ext cx="4754563"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a:t>Theory 	      Observation     Observation</a:t>
              </a:r>
            </a:p>
          </p:txBody>
        </p:sp>
        <p:sp>
          <p:nvSpPr>
            <p:cNvPr id="14" name="Text Box 13"/>
            <p:cNvSpPr txBox="1">
              <a:spLocks noChangeArrowheads="1"/>
            </p:cNvSpPr>
            <p:nvPr/>
          </p:nvSpPr>
          <p:spPr bwMode="auto">
            <a:xfrm>
              <a:off x="5584825" y="4205288"/>
              <a:ext cx="1044575" cy="366712"/>
            </a:xfrm>
            <a:prstGeom prst="rect">
              <a:avLst/>
            </a:prstGeom>
            <a:solidFill>
              <a:schemeClr val="bg1"/>
            </a:solidFill>
            <a:ln>
              <a:noFill/>
            </a:ln>
            <a:effectLst/>
            <a:extLs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a:t>(Theory)</a:t>
              </a:r>
              <a:r>
                <a:rPr lang="nl-NL" sz="1800"/>
                <a:t> </a:t>
              </a:r>
            </a:p>
          </p:txBody>
        </p:sp>
      </p:grpSp>
    </p:spTree>
    <p:extLst>
      <p:ext uri="{BB962C8B-B14F-4D97-AF65-F5344CB8AC3E}">
        <p14:creationId xmlns:p14="http://schemas.microsoft.com/office/powerpoint/2010/main" val="241119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bwMode="auto">
          <a:xfrm>
            <a:off x="5505599" y="3284984"/>
            <a:ext cx="1944216" cy="280831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8" charset="0"/>
            </a:endParaRPr>
          </a:p>
        </p:txBody>
      </p:sp>
      <p:sp>
        <p:nvSpPr>
          <p:cNvPr id="121858" name="Rectangle 2"/>
          <p:cNvSpPr>
            <a:spLocks noGrp="1" noChangeArrowheads="1"/>
          </p:cNvSpPr>
          <p:nvPr>
            <p:ph type="title"/>
          </p:nvPr>
        </p:nvSpPr>
        <p:spPr/>
        <p:txBody>
          <a:bodyPr/>
          <a:lstStyle/>
          <a:p>
            <a:r>
              <a:rPr lang="nl-NL" sz="3200"/>
              <a:t>Problem solving (Van de Ven 2007)</a:t>
            </a:r>
          </a:p>
        </p:txBody>
      </p:sp>
      <p:sp>
        <p:nvSpPr>
          <p:cNvPr id="121859" name="Rectangle 3"/>
          <p:cNvSpPr>
            <a:spLocks noGrp="1" noChangeArrowheads="1"/>
          </p:cNvSpPr>
          <p:nvPr>
            <p:ph type="body" idx="1"/>
          </p:nvPr>
        </p:nvSpPr>
        <p:spPr/>
        <p:txBody>
          <a:bodyPr/>
          <a:lstStyle/>
          <a:p>
            <a:r>
              <a:rPr lang="en-US" dirty="0"/>
              <a:t>Practical problem central: engage with stakeholders</a:t>
            </a:r>
          </a:p>
          <a:p>
            <a:r>
              <a:rPr lang="en-US" dirty="0"/>
              <a:t>Problem -&gt; Theory - &gt; Observation (deductive approach)</a:t>
            </a:r>
          </a:p>
          <a:p>
            <a:pPr>
              <a:buFontTx/>
              <a:buNone/>
            </a:pPr>
            <a:r>
              <a:rPr lang="en-US" i="1" dirty="0"/>
              <a:t>Working with Industry &amp; Policy</a:t>
            </a:r>
            <a:endParaRPr lang="en-US" dirty="0"/>
          </a:p>
          <a:p>
            <a:pPr>
              <a:buFontTx/>
              <a:buNone/>
            </a:pPr>
            <a:endParaRPr lang="en-US" dirty="0"/>
          </a:p>
        </p:txBody>
      </p:sp>
      <p:grpSp>
        <p:nvGrpSpPr>
          <p:cNvPr id="4" name="Group 3"/>
          <p:cNvGrpSpPr/>
          <p:nvPr/>
        </p:nvGrpSpPr>
        <p:grpSpPr>
          <a:xfrm>
            <a:off x="2987824" y="2780928"/>
            <a:ext cx="4846638" cy="2798763"/>
            <a:chOff x="2270125" y="2317750"/>
            <a:chExt cx="4846638" cy="2798763"/>
          </a:xfrm>
        </p:grpSpPr>
        <p:sp>
          <p:nvSpPr>
            <p:cNvPr id="5" name="Text Box 3"/>
            <p:cNvSpPr txBox="1">
              <a:spLocks noChangeArrowheads="1"/>
            </p:cNvSpPr>
            <p:nvPr/>
          </p:nvSpPr>
          <p:spPr bwMode="auto">
            <a:xfrm>
              <a:off x="3641725" y="2317750"/>
              <a:ext cx="22923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a:t>Research question</a:t>
              </a:r>
            </a:p>
          </p:txBody>
        </p:sp>
        <p:sp>
          <p:nvSpPr>
            <p:cNvPr id="6" name="Line 4"/>
            <p:cNvSpPr>
              <a:spLocks noChangeShapeType="1"/>
            </p:cNvSpPr>
            <p:nvPr/>
          </p:nvSpPr>
          <p:spPr bwMode="auto">
            <a:xfrm>
              <a:off x="4572000" y="27432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7" name="Line 5"/>
            <p:cNvSpPr>
              <a:spLocks noChangeShapeType="1"/>
            </p:cNvSpPr>
            <p:nvPr/>
          </p:nvSpPr>
          <p:spPr bwMode="auto">
            <a:xfrm flipH="1">
              <a:off x="3429000" y="2743200"/>
              <a:ext cx="114300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8" name="Line 6"/>
            <p:cNvSpPr>
              <a:spLocks noChangeShapeType="1"/>
            </p:cNvSpPr>
            <p:nvPr/>
          </p:nvSpPr>
          <p:spPr bwMode="auto">
            <a:xfrm>
              <a:off x="4572000" y="2743200"/>
              <a:ext cx="114300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9" name="Text Box 7"/>
            <p:cNvSpPr txBox="1">
              <a:spLocks noChangeArrowheads="1"/>
            </p:cNvSpPr>
            <p:nvPr/>
          </p:nvSpPr>
          <p:spPr bwMode="auto">
            <a:xfrm>
              <a:off x="2270125" y="3536950"/>
              <a:ext cx="4351338"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dirty="0" err="1"/>
                <a:t>Observation</a:t>
              </a:r>
              <a:r>
                <a:rPr lang="nl-NL" sz="1800" dirty="0"/>
                <a:t>	</a:t>
              </a:r>
              <a:r>
                <a:rPr lang="nl-NL" sz="1800" dirty="0" err="1"/>
                <a:t>Theory</a:t>
              </a:r>
              <a:r>
                <a:rPr lang="nl-NL" sz="1800" dirty="0"/>
                <a:t>	      </a:t>
              </a:r>
              <a:r>
                <a:rPr lang="nl-NL" sz="1800" dirty="0" err="1"/>
                <a:t>Problem</a:t>
              </a:r>
              <a:endParaRPr lang="nl-NL" sz="1800" dirty="0"/>
            </a:p>
          </p:txBody>
        </p:sp>
        <p:sp>
          <p:nvSpPr>
            <p:cNvPr id="10" name="Line 9"/>
            <p:cNvSpPr>
              <a:spLocks noChangeShapeType="1"/>
            </p:cNvSpPr>
            <p:nvPr/>
          </p:nvSpPr>
          <p:spPr bwMode="auto">
            <a:xfrm>
              <a:off x="6096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1" name="Line 10"/>
            <p:cNvSpPr>
              <a:spLocks noChangeShapeType="1"/>
            </p:cNvSpPr>
            <p:nvPr/>
          </p:nvSpPr>
          <p:spPr bwMode="auto">
            <a:xfrm>
              <a:off x="4572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2" name="Line 11"/>
            <p:cNvSpPr>
              <a:spLocks noChangeShapeType="1"/>
            </p:cNvSpPr>
            <p:nvPr/>
          </p:nvSpPr>
          <p:spPr bwMode="auto">
            <a:xfrm>
              <a:off x="3048000" y="39624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3" name="Text Box 12"/>
            <p:cNvSpPr txBox="1">
              <a:spLocks noChangeArrowheads="1"/>
            </p:cNvSpPr>
            <p:nvPr/>
          </p:nvSpPr>
          <p:spPr bwMode="auto">
            <a:xfrm>
              <a:off x="2362200" y="4749800"/>
              <a:ext cx="4754563"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nl-NL" sz="1800"/>
                <a:t>Theory 	      Observation     Observation</a:t>
              </a:r>
            </a:p>
          </p:txBody>
        </p:sp>
      </p:grpSp>
    </p:spTree>
    <p:extLst>
      <p:ext uri="{BB962C8B-B14F-4D97-AF65-F5344CB8AC3E}">
        <p14:creationId xmlns:p14="http://schemas.microsoft.com/office/powerpoint/2010/main" val="805098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Misunderstandings</a:t>
            </a:r>
          </a:p>
        </p:txBody>
      </p:sp>
      <p:sp>
        <p:nvSpPr>
          <p:cNvPr id="3" name="Content Placeholder 2"/>
          <p:cNvSpPr>
            <a:spLocks noGrp="1"/>
          </p:cNvSpPr>
          <p:nvPr>
            <p:ph idx="1"/>
          </p:nvPr>
        </p:nvSpPr>
        <p:spPr/>
        <p:txBody>
          <a:bodyPr>
            <a:normAutofit fontScale="92500" lnSpcReduction="20000"/>
          </a:bodyPr>
          <a:lstStyle/>
          <a:p>
            <a:r>
              <a:rPr lang="en-US" dirty="0"/>
              <a:t>Misunderstanding 1: General, theoretical (context independent) knowledge is more valuable than concrete, practical (context-dependent) knowledge. </a:t>
            </a:r>
          </a:p>
          <a:p>
            <a:r>
              <a:rPr lang="en-US" dirty="0"/>
              <a:t>Misunderstanding 2: One cannot generalize based on an individual case; therefore, the case study cannot contribute to scientific development. </a:t>
            </a:r>
          </a:p>
          <a:p>
            <a:r>
              <a:rPr lang="en-US" dirty="0"/>
              <a:t>Misunderstanding 3: The case study is most useful for generating hypotheses; that is, in the first stage of a total research process, whereas other methods are more suitable for hypotheses testing and theory building. </a:t>
            </a:r>
          </a:p>
          <a:p>
            <a:r>
              <a:rPr lang="en-US" dirty="0"/>
              <a:t>Misunderstanding 4: The case study contains a bias toward verification, that is, a tendency to confirm the researcher’s preconceived notions. </a:t>
            </a:r>
          </a:p>
          <a:p>
            <a:r>
              <a:rPr lang="en-US" dirty="0"/>
              <a:t>Misunderstanding 5: It is often difficult to summarize and develop general propositions and theories on the basis of specific case studies. </a:t>
            </a:r>
          </a:p>
          <a:p>
            <a:pPr marL="0" indent="0">
              <a:buNone/>
            </a:pPr>
            <a:r>
              <a:rPr lang="en-US" sz="1500" dirty="0"/>
              <a:t>						</a:t>
            </a:r>
            <a:r>
              <a:rPr lang="en-US" sz="1500" dirty="0" err="1"/>
              <a:t>Flyvbjerg</a:t>
            </a:r>
            <a:r>
              <a:rPr lang="en-US" sz="1500" dirty="0"/>
              <a:t> (2006: 221)</a:t>
            </a:r>
          </a:p>
        </p:txBody>
      </p:sp>
    </p:spTree>
    <p:extLst>
      <p:ext uri="{BB962C8B-B14F-4D97-AF65-F5344CB8AC3E}">
        <p14:creationId xmlns:p14="http://schemas.microsoft.com/office/powerpoint/2010/main" val="3059293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a:t>Outline</a:t>
            </a:r>
          </a:p>
        </p:txBody>
      </p:sp>
      <p:sp>
        <p:nvSpPr>
          <p:cNvPr id="37891" name="Rectangle 3"/>
          <p:cNvSpPr>
            <a:spLocks noGrp="1" noChangeArrowheads="1"/>
          </p:cNvSpPr>
          <p:nvPr>
            <p:ph type="body" idx="1"/>
          </p:nvPr>
        </p:nvSpPr>
        <p:spPr/>
        <p:txBody>
          <a:bodyPr/>
          <a:lstStyle/>
          <a:p>
            <a:r>
              <a:rPr lang="en-GB" sz="2800" dirty="0"/>
              <a:t>What is a case?</a:t>
            </a:r>
          </a:p>
          <a:p>
            <a:r>
              <a:rPr lang="en-GB" sz="2800" dirty="0"/>
              <a:t>Why case study research?</a:t>
            </a:r>
          </a:p>
          <a:p>
            <a:r>
              <a:rPr lang="en-GB" sz="2800" b="1" dirty="0"/>
              <a:t>Designing case studies</a:t>
            </a:r>
          </a:p>
          <a:p>
            <a:r>
              <a:rPr lang="en-GB" sz="2800" dirty="0"/>
              <a:t>Example 1: </a:t>
            </a:r>
          </a:p>
          <a:p>
            <a:r>
              <a:rPr lang="en-GB" sz="2800" dirty="0"/>
              <a:t>Example 2:</a:t>
            </a:r>
          </a:p>
          <a:p>
            <a:r>
              <a:rPr lang="en-GB" sz="2800" dirty="0"/>
              <a:t>Summary</a:t>
            </a:r>
          </a:p>
        </p:txBody>
      </p:sp>
    </p:spTree>
    <p:extLst>
      <p:ext uri="{BB962C8B-B14F-4D97-AF65-F5344CB8AC3E}">
        <p14:creationId xmlns:p14="http://schemas.microsoft.com/office/powerpoint/2010/main" val="930389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nl-NL"/>
              <a:t>Designing case studies</a:t>
            </a:r>
          </a:p>
        </p:txBody>
      </p:sp>
      <p:sp>
        <p:nvSpPr>
          <p:cNvPr id="124931" name="Rectangle 3"/>
          <p:cNvSpPr>
            <a:spLocks noGrp="1" noChangeArrowheads="1"/>
          </p:cNvSpPr>
          <p:nvPr>
            <p:ph type="body" idx="1"/>
          </p:nvPr>
        </p:nvSpPr>
        <p:spPr/>
        <p:txBody>
          <a:bodyPr/>
          <a:lstStyle/>
          <a:p>
            <a:pPr>
              <a:lnSpc>
                <a:spcPct val="90000"/>
              </a:lnSpc>
            </a:pPr>
            <a:r>
              <a:rPr lang="en-US" sz="2800" dirty="0"/>
              <a:t>How many cases?</a:t>
            </a:r>
          </a:p>
          <a:p>
            <a:pPr lvl="1">
              <a:lnSpc>
                <a:spcPct val="90000"/>
              </a:lnSpc>
            </a:pPr>
            <a:r>
              <a:rPr lang="en-US" sz="2400" dirty="0"/>
              <a:t>1 (Dyer &amp; Wilkins 1991): The talking pig,</a:t>
            </a:r>
            <a:br>
              <a:rPr lang="en-US" sz="2400" dirty="0"/>
            </a:br>
            <a:r>
              <a:rPr lang="en-US" sz="2400" dirty="0"/>
              <a:t>i.e. an exceptional case</a:t>
            </a:r>
          </a:p>
          <a:p>
            <a:pPr lvl="1">
              <a:lnSpc>
                <a:spcPct val="90000"/>
              </a:lnSpc>
            </a:pPr>
            <a:endParaRPr lang="en-US" sz="2400" dirty="0"/>
          </a:p>
          <a:p>
            <a:pPr lvl="1">
              <a:lnSpc>
                <a:spcPct val="90000"/>
              </a:lnSpc>
            </a:pPr>
            <a:endParaRPr lang="en-US" sz="2400" dirty="0"/>
          </a:p>
          <a:p>
            <a:pPr lvl="1">
              <a:lnSpc>
                <a:spcPct val="90000"/>
              </a:lnSpc>
            </a:pPr>
            <a:endParaRPr lang="en-US" sz="2400" dirty="0"/>
          </a:p>
          <a:p>
            <a:pPr lvl="1">
              <a:lnSpc>
                <a:spcPct val="90000"/>
              </a:lnSpc>
            </a:pPr>
            <a:endParaRPr lang="en-US" sz="2400" dirty="0"/>
          </a:p>
          <a:p>
            <a:pPr marL="457200" lvl="1" indent="0">
              <a:lnSpc>
                <a:spcPct val="90000"/>
              </a:lnSpc>
              <a:buNone/>
            </a:pPr>
            <a:endParaRPr lang="en-US" sz="2400" dirty="0"/>
          </a:p>
          <a:p>
            <a:pPr lvl="1">
              <a:lnSpc>
                <a:spcPct val="90000"/>
              </a:lnSpc>
            </a:pPr>
            <a:r>
              <a:rPr lang="en-US" sz="2400" dirty="0"/>
              <a:t>Multiple (Eisenhardt 1989)</a:t>
            </a:r>
          </a:p>
        </p:txBody>
      </p:sp>
      <p:sp>
        <p:nvSpPr>
          <p:cNvPr id="2" name="Rectangle 1"/>
          <p:cNvSpPr/>
          <p:nvPr/>
        </p:nvSpPr>
        <p:spPr>
          <a:xfrm>
            <a:off x="323528" y="3299500"/>
            <a:ext cx="8568952" cy="1569660"/>
          </a:xfrm>
          <a:prstGeom prst="rect">
            <a:avLst/>
          </a:prstGeom>
        </p:spPr>
        <p:txBody>
          <a:bodyPr wrap="square">
            <a:spAutoFit/>
          </a:bodyPr>
          <a:lstStyle/>
          <a:p>
            <a:r>
              <a:rPr lang="en-US" dirty="0"/>
              <a:t>“...if you want to write a case study that derives its excitement and justification through little more than the description of a particular phenomenon, make sure you have a talking pig. If not, a purely descriptive study will be a hard sell.” (</a:t>
            </a:r>
            <a:r>
              <a:rPr lang="en-US" dirty="0" err="1"/>
              <a:t>Siggelkow</a:t>
            </a:r>
            <a:r>
              <a:rPr lang="en-US" dirty="0"/>
              <a:t>)</a:t>
            </a:r>
          </a:p>
        </p:txBody>
      </p:sp>
    </p:spTree>
    <p:extLst>
      <p:ext uri="{BB962C8B-B14F-4D97-AF65-F5344CB8AC3E}">
        <p14:creationId xmlns:p14="http://schemas.microsoft.com/office/powerpoint/2010/main" val="1627741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nl-NL"/>
              <a:t>Designing case studies</a:t>
            </a:r>
          </a:p>
        </p:txBody>
      </p:sp>
      <p:sp>
        <p:nvSpPr>
          <p:cNvPr id="107523" name="Rectangle 3"/>
          <p:cNvSpPr>
            <a:spLocks noGrp="1" noChangeArrowheads="1"/>
          </p:cNvSpPr>
          <p:nvPr>
            <p:ph sz="half" idx="1"/>
          </p:nvPr>
        </p:nvSpPr>
        <p:spPr/>
        <p:txBody>
          <a:bodyPr/>
          <a:lstStyle/>
          <a:p>
            <a:pPr>
              <a:lnSpc>
                <a:spcPct val="90000"/>
              </a:lnSpc>
            </a:pPr>
            <a:r>
              <a:rPr lang="en-US" sz="2400" dirty="0"/>
              <a:t>Sampling:</a:t>
            </a:r>
          </a:p>
          <a:p>
            <a:pPr lvl="1">
              <a:lnSpc>
                <a:spcPct val="90000"/>
              </a:lnSpc>
            </a:pPr>
            <a:r>
              <a:rPr lang="en-US" sz="2000" dirty="0"/>
              <a:t>Statistical generalization (cases are representative for a wider population: sample -&gt; population)</a:t>
            </a:r>
          </a:p>
          <a:p>
            <a:pPr lvl="1">
              <a:lnSpc>
                <a:spcPct val="90000"/>
              </a:lnSpc>
            </a:pPr>
            <a:r>
              <a:rPr lang="en-US" sz="2000" b="1" dirty="0"/>
              <a:t>Analytical generalization</a:t>
            </a:r>
            <a:r>
              <a:rPr lang="en-US" sz="2000" dirty="0"/>
              <a:t> (adequacy of theoretical inferences): replication logic of sampling (multiple case studies)</a:t>
            </a:r>
          </a:p>
          <a:p>
            <a:pPr lvl="2">
              <a:lnSpc>
                <a:spcPct val="90000"/>
              </a:lnSpc>
            </a:pPr>
            <a:r>
              <a:rPr lang="en-US" sz="1800" dirty="0"/>
              <a:t>Select contrasting cases (independent/dependent variables): counterfactual</a:t>
            </a:r>
          </a:p>
          <a:p>
            <a:pPr lvl="2">
              <a:lnSpc>
                <a:spcPct val="90000"/>
              </a:lnSpc>
            </a:pPr>
            <a:r>
              <a:rPr lang="en-US" sz="1800" dirty="0"/>
              <a:t>Select similar cases: saturation</a:t>
            </a:r>
          </a:p>
        </p:txBody>
      </p:sp>
      <p:pic>
        <p:nvPicPr>
          <p:cNvPr id="4" name="Content Placeholder 3">
            <a:extLst>
              <a:ext uri="{FF2B5EF4-FFF2-40B4-BE49-F238E27FC236}">
                <a16:creationId xmlns:a16="http://schemas.microsoft.com/office/drawing/2014/main" id="{370AF432-F180-4E48-999D-23BE107B9709}"/>
              </a:ext>
            </a:extLst>
          </p:cNvPr>
          <p:cNvPicPr>
            <a:picLocks noGrp="1" noChangeAspect="1"/>
          </p:cNvPicPr>
          <p:nvPr>
            <p:ph sz="half" idx="2"/>
          </p:nvPr>
        </p:nvPicPr>
        <p:blipFill>
          <a:blip r:embed="rId2"/>
          <a:stretch>
            <a:fillRect/>
          </a:stretch>
        </p:blipFill>
        <p:spPr>
          <a:xfrm>
            <a:off x="5091602" y="1981200"/>
            <a:ext cx="2923195" cy="4495800"/>
          </a:xfrm>
        </p:spPr>
      </p:pic>
    </p:spTree>
    <p:extLst>
      <p:ext uri="{BB962C8B-B14F-4D97-AF65-F5344CB8AC3E}">
        <p14:creationId xmlns:p14="http://schemas.microsoft.com/office/powerpoint/2010/main" val="3597540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ctrTitle"/>
          </p:nvPr>
        </p:nvSpPr>
        <p:spPr>
          <a:xfrm>
            <a:off x="685800" y="2286000"/>
            <a:ext cx="7772400" cy="1143000"/>
          </a:xfrm>
        </p:spPr>
        <p:txBody>
          <a:bodyPr/>
          <a:lstStyle/>
          <a:p>
            <a:r>
              <a:rPr lang="nl-NL" sz="3200">
                <a:solidFill>
                  <a:srgbClr val="FF0000"/>
                </a:solidFill>
              </a:rPr>
              <a:t>Accusation: </a:t>
            </a:r>
            <a:br>
              <a:rPr lang="nl-NL" sz="3200">
                <a:solidFill>
                  <a:srgbClr val="FF0000"/>
                </a:solidFill>
              </a:rPr>
            </a:br>
            <a:r>
              <a:rPr lang="ja-JP" altLang="nl-NL" sz="3200">
                <a:solidFill>
                  <a:srgbClr val="FF0000"/>
                </a:solidFill>
                <a:latin typeface="Arial"/>
              </a:rPr>
              <a:t>‘</a:t>
            </a:r>
            <a:r>
              <a:rPr lang="nl-NL" sz="3200">
                <a:solidFill>
                  <a:srgbClr val="FF0000"/>
                </a:solidFill>
              </a:rPr>
              <a:t>Case study research is unscientific because of limited generalizability</a:t>
            </a:r>
            <a:r>
              <a:rPr lang="ja-JP" altLang="nl-NL" sz="3200">
                <a:solidFill>
                  <a:srgbClr val="FF0000"/>
                </a:solidFill>
                <a:latin typeface="Arial"/>
              </a:rPr>
              <a:t>’</a:t>
            </a:r>
            <a:endParaRPr lang="nl-NL" sz="3200">
              <a:solidFill>
                <a:srgbClr val="FF0000"/>
              </a:solidFill>
            </a:endParaRPr>
          </a:p>
        </p:txBody>
      </p:sp>
      <p:sp>
        <p:nvSpPr>
          <p:cNvPr id="108547" name="Rectangle 3"/>
          <p:cNvSpPr>
            <a:spLocks noGrp="1" noChangeArrowheads="1"/>
          </p:cNvSpPr>
          <p:nvPr>
            <p:ph type="subTitle" idx="1"/>
          </p:nvPr>
        </p:nvSpPr>
        <p:spPr/>
        <p:txBody>
          <a:bodyPr/>
          <a:lstStyle/>
          <a:p>
            <a:endParaRPr lang="en-GB"/>
          </a:p>
        </p:txBody>
      </p:sp>
    </p:spTree>
    <p:extLst>
      <p:ext uri="{BB962C8B-B14F-4D97-AF65-F5344CB8AC3E}">
        <p14:creationId xmlns:p14="http://schemas.microsoft.com/office/powerpoint/2010/main" val="2396891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nl-NL"/>
              <a:t>Designing case studies</a:t>
            </a:r>
          </a:p>
        </p:txBody>
      </p:sp>
      <p:sp>
        <p:nvSpPr>
          <p:cNvPr id="96259" name="Rectangle 3"/>
          <p:cNvSpPr>
            <a:spLocks noGrp="1" noChangeArrowheads="1"/>
          </p:cNvSpPr>
          <p:nvPr>
            <p:ph type="body" idx="1"/>
          </p:nvPr>
        </p:nvSpPr>
        <p:spPr/>
        <p:txBody>
          <a:bodyPr/>
          <a:lstStyle/>
          <a:p>
            <a:pPr>
              <a:lnSpc>
                <a:spcPct val="90000"/>
              </a:lnSpc>
            </a:pPr>
            <a:r>
              <a:rPr lang="en-US" sz="3200" dirty="0"/>
              <a:t>Timeframe: </a:t>
            </a:r>
          </a:p>
          <a:p>
            <a:pPr lvl="1">
              <a:lnSpc>
                <a:spcPct val="90000"/>
              </a:lnSpc>
            </a:pPr>
            <a:r>
              <a:rPr lang="en-US" sz="2800" dirty="0"/>
              <a:t>Retrospective: </a:t>
            </a:r>
          </a:p>
          <a:p>
            <a:pPr lvl="2">
              <a:lnSpc>
                <a:spcPct val="90000"/>
              </a:lnSpc>
              <a:buFontTx/>
              <a:buNone/>
            </a:pPr>
            <a:r>
              <a:rPr lang="en-US" sz="2400" dirty="0"/>
              <a:t>+: select on the dependent variable</a:t>
            </a:r>
          </a:p>
          <a:p>
            <a:pPr lvl="2">
              <a:lnSpc>
                <a:spcPct val="90000"/>
              </a:lnSpc>
              <a:buFontTx/>
              <a:buNone/>
            </a:pPr>
            <a:r>
              <a:rPr lang="en-US" sz="2400" dirty="0"/>
              <a:t>+: compress time (history)</a:t>
            </a:r>
          </a:p>
          <a:p>
            <a:pPr lvl="1">
              <a:lnSpc>
                <a:spcPct val="90000"/>
              </a:lnSpc>
            </a:pPr>
            <a:r>
              <a:rPr lang="en-US" sz="2800" dirty="0"/>
              <a:t>Longitudinal:</a:t>
            </a:r>
          </a:p>
          <a:p>
            <a:pPr lvl="2">
              <a:lnSpc>
                <a:spcPct val="90000"/>
              </a:lnSpc>
              <a:buFontTx/>
              <a:buNone/>
            </a:pPr>
            <a:r>
              <a:rPr lang="en-US" sz="2400" dirty="0"/>
              <a:t>+: no </a:t>
            </a:r>
            <a:r>
              <a:rPr lang="en-US" altLang="ja-JP" sz="2400" dirty="0">
                <a:latin typeface="Arial"/>
              </a:rPr>
              <a:t>‘</a:t>
            </a:r>
            <a:r>
              <a:rPr lang="en-US" sz="2400" dirty="0"/>
              <a:t>survival</a:t>
            </a:r>
            <a:r>
              <a:rPr lang="en-US" altLang="ja-JP" sz="2400" dirty="0">
                <a:latin typeface="Arial"/>
              </a:rPr>
              <a:t>’</a:t>
            </a:r>
            <a:r>
              <a:rPr lang="en-US" sz="2400" dirty="0"/>
              <a:t> bias</a:t>
            </a:r>
          </a:p>
          <a:p>
            <a:pPr lvl="2">
              <a:lnSpc>
                <a:spcPct val="90000"/>
              </a:lnSpc>
              <a:buFontTx/>
              <a:buNone/>
            </a:pPr>
            <a:r>
              <a:rPr lang="en-US" sz="2400" dirty="0"/>
              <a:t>+: measure the effect of designed interventions</a:t>
            </a:r>
          </a:p>
          <a:p>
            <a:pPr lvl="2">
              <a:lnSpc>
                <a:spcPct val="90000"/>
              </a:lnSpc>
              <a:buFontTx/>
              <a:buNone/>
            </a:pPr>
            <a:endParaRPr lang="en-US" sz="2400" dirty="0"/>
          </a:p>
          <a:p>
            <a:pPr lvl="2">
              <a:lnSpc>
                <a:spcPct val="90000"/>
              </a:lnSpc>
              <a:buFontTx/>
              <a:buNone/>
            </a:pPr>
            <a:r>
              <a:rPr lang="en-US" sz="2400" dirty="0"/>
              <a:t>Of course, we also have cross-sectional studies</a:t>
            </a:r>
          </a:p>
          <a:p>
            <a:pPr>
              <a:lnSpc>
                <a:spcPct val="90000"/>
              </a:lnSpc>
              <a:buFontTx/>
              <a:buNone/>
            </a:pPr>
            <a:endParaRPr lang="en-US" sz="3200" dirty="0"/>
          </a:p>
        </p:txBody>
      </p:sp>
    </p:spTree>
    <p:extLst>
      <p:ext uri="{BB962C8B-B14F-4D97-AF65-F5344CB8AC3E}">
        <p14:creationId xmlns:p14="http://schemas.microsoft.com/office/powerpoint/2010/main" val="8126007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nl-NL"/>
              <a:t>Designing case studies</a:t>
            </a:r>
          </a:p>
        </p:txBody>
      </p:sp>
      <p:sp>
        <p:nvSpPr>
          <p:cNvPr id="128003" name="Rectangle 3"/>
          <p:cNvSpPr>
            <a:spLocks noGrp="1" noChangeArrowheads="1"/>
          </p:cNvSpPr>
          <p:nvPr>
            <p:ph type="body" idx="1"/>
          </p:nvPr>
        </p:nvSpPr>
        <p:spPr/>
        <p:txBody>
          <a:bodyPr/>
          <a:lstStyle/>
          <a:p>
            <a:pPr>
              <a:lnSpc>
                <a:spcPct val="90000"/>
              </a:lnSpc>
            </a:pPr>
            <a:r>
              <a:rPr lang="en-US" sz="3200" dirty="0"/>
              <a:t>Qualitative, quantitative data: </a:t>
            </a:r>
          </a:p>
          <a:p>
            <a:pPr lvl="1">
              <a:lnSpc>
                <a:spcPct val="90000"/>
              </a:lnSpc>
            </a:pPr>
            <a:r>
              <a:rPr lang="en-US" sz="2800" dirty="0"/>
              <a:t>Triangulation in method</a:t>
            </a:r>
          </a:p>
          <a:p>
            <a:pPr lvl="1">
              <a:lnSpc>
                <a:spcPct val="90000"/>
              </a:lnSpc>
            </a:pPr>
            <a:r>
              <a:rPr lang="en-US" sz="2800" i="1" dirty="0"/>
              <a:t>N</a:t>
            </a:r>
            <a:r>
              <a:rPr lang="en-US" sz="2800" dirty="0"/>
              <a:t>: survey (&gt;40) </a:t>
            </a:r>
          </a:p>
          <a:p>
            <a:pPr lvl="2">
              <a:lnSpc>
                <a:spcPct val="90000"/>
              </a:lnSpc>
            </a:pPr>
            <a:r>
              <a:rPr lang="en-US" sz="2800" dirty="0"/>
              <a:t>semi-structured interviews (10-40)</a:t>
            </a:r>
          </a:p>
          <a:p>
            <a:pPr lvl="2">
              <a:lnSpc>
                <a:spcPct val="90000"/>
              </a:lnSpc>
            </a:pPr>
            <a:r>
              <a:rPr lang="en-US" sz="2800" dirty="0"/>
              <a:t>unstructured interviews (1-10)</a:t>
            </a:r>
          </a:p>
          <a:p>
            <a:pPr lvl="2">
              <a:lnSpc>
                <a:spcPct val="90000"/>
              </a:lnSpc>
            </a:pPr>
            <a:r>
              <a:rPr lang="en-US" sz="2800" dirty="0"/>
              <a:t>participant observation (1)</a:t>
            </a:r>
          </a:p>
        </p:txBody>
      </p:sp>
    </p:spTree>
    <p:extLst>
      <p:ext uri="{BB962C8B-B14F-4D97-AF65-F5344CB8AC3E}">
        <p14:creationId xmlns:p14="http://schemas.microsoft.com/office/powerpoint/2010/main" val="18050334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a:t>Outline</a:t>
            </a:r>
          </a:p>
        </p:txBody>
      </p:sp>
      <p:sp>
        <p:nvSpPr>
          <p:cNvPr id="37891" name="Rectangle 3"/>
          <p:cNvSpPr>
            <a:spLocks noGrp="1" noChangeArrowheads="1"/>
          </p:cNvSpPr>
          <p:nvPr>
            <p:ph type="body" idx="1"/>
          </p:nvPr>
        </p:nvSpPr>
        <p:spPr/>
        <p:txBody>
          <a:bodyPr/>
          <a:lstStyle/>
          <a:p>
            <a:r>
              <a:rPr lang="en-GB" sz="2800" dirty="0"/>
              <a:t>What is a case?</a:t>
            </a:r>
          </a:p>
          <a:p>
            <a:r>
              <a:rPr lang="en-GB" sz="2800" dirty="0"/>
              <a:t>Why case study research?</a:t>
            </a:r>
          </a:p>
          <a:p>
            <a:r>
              <a:rPr lang="en-GB" sz="2800" dirty="0"/>
              <a:t>Designing case studies</a:t>
            </a:r>
          </a:p>
          <a:p>
            <a:r>
              <a:rPr lang="en-GB" sz="2800" b="1" dirty="0"/>
              <a:t>Example 1: BSD</a:t>
            </a:r>
          </a:p>
          <a:p>
            <a:r>
              <a:rPr lang="en-GB" sz="2800" dirty="0"/>
              <a:t>Example 2: OSS</a:t>
            </a:r>
          </a:p>
          <a:p>
            <a:r>
              <a:rPr lang="en-GB" sz="2800" dirty="0"/>
              <a:t>Summary</a:t>
            </a:r>
          </a:p>
        </p:txBody>
      </p:sp>
    </p:spTree>
    <p:extLst>
      <p:ext uri="{BB962C8B-B14F-4D97-AF65-F5344CB8AC3E}">
        <p14:creationId xmlns:p14="http://schemas.microsoft.com/office/powerpoint/2010/main" val="10528166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23064" y="332656"/>
            <a:ext cx="9144000" cy="1143000"/>
          </a:xfrm>
        </p:spPr>
        <p:txBody>
          <a:bodyPr/>
          <a:lstStyle/>
          <a:p>
            <a:r>
              <a:rPr lang="en-US" sz="3200" dirty="0"/>
              <a:t>Compare releases between BSD and *nix</a:t>
            </a:r>
            <a:endParaRPr lang="en-US" sz="20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2649" y="1524180"/>
            <a:ext cx="6424829" cy="5333820"/>
          </a:xfrm>
          <a:prstGeom prst="rect">
            <a:avLst/>
          </a:prstGeom>
        </p:spPr>
      </p:pic>
    </p:spTree>
    <p:extLst>
      <p:ext uri="{BB962C8B-B14F-4D97-AF65-F5344CB8AC3E}">
        <p14:creationId xmlns:p14="http://schemas.microsoft.com/office/powerpoint/2010/main" val="2413713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304800" y="701824"/>
            <a:ext cx="8458200" cy="1143000"/>
          </a:xfrm>
        </p:spPr>
        <p:txBody>
          <a:bodyPr/>
          <a:lstStyle/>
          <a:p>
            <a:r>
              <a:rPr lang="en-US" sz="3200" dirty="0"/>
              <a:t>Evolution in open source software</a:t>
            </a:r>
          </a:p>
        </p:txBody>
      </p:sp>
      <p:sp>
        <p:nvSpPr>
          <p:cNvPr id="105475" name="Rectangle 3"/>
          <p:cNvSpPr>
            <a:spLocks noGrp="1" noChangeArrowheads="1"/>
          </p:cNvSpPr>
          <p:nvPr>
            <p:ph type="body" idx="1"/>
          </p:nvPr>
        </p:nvSpPr>
        <p:spPr/>
        <p:txBody>
          <a:bodyPr/>
          <a:lstStyle/>
          <a:p>
            <a:r>
              <a:rPr lang="en-US" sz="2400" dirty="0"/>
              <a:t>No (complete) theory: theory testing</a:t>
            </a:r>
          </a:p>
          <a:p>
            <a:r>
              <a:rPr lang="en-US" sz="2400" dirty="0"/>
              <a:t>Initial quantitative survey to explore the field</a:t>
            </a:r>
          </a:p>
          <a:p>
            <a:r>
              <a:rPr lang="en-US" sz="2400" dirty="0"/>
              <a:t>Theoretical sampling: </a:t>
            </a:r>
          </a:p>
          <a:p>
            <a:pPr lvl="1"/>
            <a:r>
              <a:rPr lang="en-US" sz="1800" dirty="0"/>
              <a:t>Only 2 samples, but a number of variations…</a:t>
            </a:r>
          </a:p>
          <a:p>
            <a:r>
              <a:rPr lang="en-US" sz="1800" dirty="0"/>
              <a:t>Conclusions</a:t>
            </a:r>
          </a:p>
          <a:p>
            <a:pPr lvl="1"/>
            <a:r>
              <a:rPr lang="en-US" sz="1800" dirty="0"/>
              <a:t>Super-linear growth</a:t>
            </a:r>
          </a:p>
          <a:p>
            <a:pPr lvl="2"/>
            <a:r>
              <a:rPr lang="en-US" sz="1800" dirty="0"/>
              <a:t>Strange (size, model, slow down?)</a:t>
            </a:r>
          </a:p>
          <a:p>
            <a:pPr lvl="2"/>
            <a:r>
              <a:rPr lang="en-US" sz="1800" dirty="0"/>
              <a:t>Nature of subsystems important</a:t>
            </a:r>
          </a:p>
          <a:p>
            <a:pPr lvl="2"/>
            <a:r>
              <a:rPr lang="en-US" sz="1800" dirty="0"/>
              <a:t>Evolutionary patterns</a:t>
            </a:r>
          </a:p>
          <a:p>
            <a:pPr lvl="2"/>
            <a:r>
              <a:rPr lang="en-US" sz="1800" dirty="0"/>
              <a:t>Device drivers a big part (&gt;50%)</a:t>
            </a:r>
          </a:p>
          <a:p>
            <a:endParaRPr lang="en-US" sz="1800" dirty="0"/>
          </a:p>
          <a:p>
            <a:endParaRPr lang="en-US" sz="2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104" y="3645024"/>
            <a:ext cx="3131223" cy="2467620"/>
          </a:xfrm>
          <a:prstGeom prst="rect">
            <a:avLst/>
          </a:prstGeom>
        </p:spPr>
      </p:pic>
    </p:spTree>
    <p:extLst>
      <p:ext uri="{BB962C8B-B14F-4D97-AF65-F5344CB8AC3E}">
        <p14:creationId xmlns:p14="http://schemas.microsoft.com/office/powerpoint/2010/main" val="8855798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a:t>Outline</a:t>
            </a:r>
          </a:p>
        </p:txBody>
      </p:sp>
      <p:sp>
        <p:nvSpPr>
          <p:cNvPr id="37891" name="Rectangle 3"/>
          <p:cNvSpPr>
            <a:spLocks noGrp="1" noChangeArrowheads="1"/>
          </p:cNvSpPr>
          <p:nvPr>
            <p:ph type="body" idx="1"/>
          </p:nvPr>
        </p:nvSpPr>
        <p:spPr/>
        <p:txBody>
          <a:bodyPr/>
          <a:lstStyle/>
          <a:p>
            <a:r>
              <a:rPr lang="en-GB" sz="2800" dirty="0"/>
              <a:t>What is a case?</a:t>
            </a:r>
          </a:p>
          <a:p>
            <a:r>
              <a:rPr lang="en-GB" sz="2800" dirty="0"/>
              <a:t>Why case study research?</a:t>
            </a:r>
          </a:p>
          <a:p>
            <a:r>
              <a:rPr lang="en-GB" sz="2800" dirty="0"/>
              <a:t>Designing case studies</a:t>
            </a:r>
          </a:p>
          <a:p>
            <a:r>
              <a:rPr lang="en-GB" sz="2800" dirty="0"/>
              <a:t>Example 1: BSD</a:t>
            </a:r>
          </a:p>
          <a:p>
            <a:r>
              <a:rPr lang="en-GB" sz="2800" b="1" dirty="0"/>
              <a:t>Example 2: OSS</a:t>
            </a:r>
          </a:p>
          <a:p>
            <a:r>
              <a:rPr lang="en-GB" sz="2800" dirty="0"/>
              <a:t>Summary</a:t>
            </a:r>
          </a:p>
        </p:txBody>
      </p:sp>
    </p:spTree>
    <p:extLst>
      <p:ext uri="{BB962C8B-B14F-4D97-AF65-F5344CB8AC3E}">
        <p14:creationId xmlns:p14="http://schemas.microsoft.com/office/powerpoint/2010/main" val="30738526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114300" y="332656"/>
            <a:ext cx="8915400" cy="1143000"/>
          </a:xfrm>
        </p:spPr>
        <p:txBody>
          <a:bodyPr/>
          <a:lstStyle/>
          <a:p>
            <a:r>
              <a:rPr lang="en-GB" sz="4000" dirty="0"/>
              <a:t>OSS development</a:t>
            </a:r>
          </a:p>
        </p:txBody>
      </p:sp>
      <p:sp>
        <p:nvSpPr>
          <p:cNvPr id="138243" name="Rectangle 3"/>
          <p:cNvSpPr>
            <a:spLocks noChangeArrowheads="1"/>
          </p:cNvSpPr>
          <p:nvPr/>
        </p:nvSpPr>
        <p:spPr bwMode="auto">
          <a:xfrm>
            <a:off x="2857500" y="2400300"/>
            <a:ext cx="5446713"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3229" y="1340768"/>
            <a:ext cx="5637542" cy="5382344"/>
          </a:xfrm>
          <a:prstGeom prst="rect">
            <a:avLst/>
          </a:prstGeom>
        </p:spPr>
      </p:pic>
    </p:spTree>
    <p:extLst>
      <p:ext uri="{BB962C8B-B14F-4D97-AF65-F5344CB8AC3E}">
        <p14:creationId xmlns:p14="http://schemas.microsoft.com/office/powerpoint/2010/main" val="30486504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228600" y="557808"/>
            <a:ext cx="8686800" cy="1143000"/>
          </a:xfrm>
        </p:spPr>
        <p:txBody>
          <a:bodyPr/>
          <a:lstStyle/>
          <a:p>
            <a:r>
              <a:rPr lang="en-GB" sz="3200" dirty="0"/>
              <a:t>OSS development (cont.)</a:t>
            </a:r>
            <a:endParaRPr lang="nl-NL" sz="3200" dirty="0"/>
          </a:p>
        </p:txBody>
      </p:sp>
      <p:sp>
        <p:nvSpPr>
          <p:cNvPr id="100355" name="Rectangle 3"/>
          <p:cNvSpPr>
            <a:spLocks noGrp="1" noChangeArrowheads="1"/>
          </p:cNvSpPr>
          <p:nvPr>
            <p:ph type="body" idx="1"/>
          </p:nvPr>
        </p:nvSpPr>
        <p:spPr/>
        <p:txBody>
          <a:bodyPr>
            <a:normAutofit fontScale="85000" lnSpcReduction="20000"/>
          </a:bodyPr>
          <a:lstStyle/>
          <a:p>
            <a:r>
              <a:rPr lang="en-US" sz="2800" dirty="0"/>
              <a:t>Emphasis on quantitative data (building theory)</a:t>
            </a:r>
          </a:p>
          <a:p>
            <a:r>
              <a:rPr lang="en-US" sz="2800" dirty="0"/>
              <a:t>How was it done?</a:t>
            </a:r>
          </a:p>
          <a:p>
            <a:pPr lvl="1"/>
            <a:r>
              <a:rPr lang="en-US" sz="2800" dirty="0"/>
              <a:t> the basic structure of the development process,</a:t>
            </a:r>
          </a:p>
          <a:p>
            <a:pPr lvl="1"/>
            <a:r>
              <a:rPr lang="en-US" sz="2800" dirty="0"/>
              <a:t> the number of participants filling each of the major roles,</a:t>
            </a:r>
          </a:p>
          <a:p>
            <a:pPr lvl="1"/>
            <a:r>
              <a:rPr lang="en-US" sz="2800" dirty="0"/>
              <a:t> the distinctiveness of the roles, and the importance of the core developers,</a:t>
            </a:r>
          </a:p>
          <a:p>
            <a:pPr lvl="1"/>
            <a:r>
              <a:rPr lang="en-US" sz="2800" dirty="0"/>
              <a:t> suggestive, but not conclusive, comparisons of defect density and productivity</a:t>
            </a:r>
          </a:p>
          <a:p>
            <a:pPr lvl="1"/>
            <a:r>
              <a:rPr lang="en-US" sz="2800" dirty="0"/>
              <a:t> with commercial projects, and</a:t>
            </a:r>
          </a:p>
          <a:p>
            <a:pPr lvl="1"/>
            <a:r>
              <a:rPr lang="en-US" sz="2800" dirty="0"/>
              <a:t> customer support in OSS. Need for additional qualitative data to uncover the causal mechanisms</a:t>
            </a:r>
          </a:p>
        </p:txBody>
      </p:sp>
    </p:spTree>
    <p:extLst>
      <p:ext uri="{BB962C8B-B14F-4D97-AF65-F5344CB8AC3E}">
        <p14:creationId xmlns:p14="http://schemas.microsoft.com/office/powerpoint/2010/main" val="33939798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a:t>Outline</a:t>
            </a:r>
          </a:p>
        </p:txBody>
      </p:sp>
      <p:sp>
        <p:nvSpPr>
          <p:cNvPr id="37891" name="Rectangle 3"/>
          <p:cNvSpPr>
            <a:spLocks noGrp="1" noChangeArrowheads="1"/>
          </p:cNvSpPr>
          <p:nvPr>
            <p:ph type="body" idx="1"/>
          </p:nvPr>
        </p:nvSpPr>
        <p:spPr/>
        <p:txBody>
          <a:bodyPr/>
          <a:lstStyle/>
          <a:p>
            <a:r>
              <a:rPr lang="en-GB" sz="2800" dirty="0"/>
              <a:t>What is a case?</a:t>
            </a:r>
          </a:p>
          <a:p>
            <a:r>
              <a:rPr lang="en-GB" sz="2800" dirty="0"/>
              <a:t>Why case study research?</a:t>
            </a:r>
          </a:p>
          <a:p>
            <a:r>
              <a:rPr lang="en-GB" sz="2800" dirty="0"/>
              <a:t>Designing case studies</a:t>
            </a:r>
          </a:p>
          <a:p>
            <a:r>
              <a:rPr lang="en-GB" sz="2800" dirty="0"/>
              <a:t>Example 1: BSD</a:t>
            </a:r>
          </a:p>
          <a:p>
            <a:r>
              <a:rPr lang="en-GB" sz="2800" dirty="0"/>
              <a:t>Example 2: OSS</a:t>
            </a:r>
          </a:p>
          <a:p>
            <a:r>
              <a:rPr lang="en-GB" sz="2800" b="1" dirty="0"/>
              <a:t>Summary</a:t>
            </a:r>
          </a:p>
        </p:txBody>
      </p:sp>
    </p:spTree>
    <p:extLst>
      <p:ext uri="{BB962C8B-B14F-4D97-AF65-F5344CB8AC3E}">
        <p14:creationId xmlns:p14="http://schemas.microsoft.com/office/powerpoint/2010/main" val="1178084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nl-NL"/>
              <a:t>Summary</a:t>
            </a:r>
          </a:p>
        </p:txBody>
      </p:sp>
      <p:sp>
        <p:nvSpPr>
          <p:cNvPr id="123907" name="Rectangle 3"/>
          <p:cNvSpPr>
            <a:spLocks noGrp="1" noChangeArrowheads="1"/>
          </p:cNvSpPr>
          <p:nvPr>
            <p:ph type="body" idx="1"/>
          </p:nvPr>
        </p:nvSpPr>
        <p:spPr/>
        <p:txBody>
          <a:bodyPr/>
          <a:lstStyle/>
          <a:p>
            <a:pPr>
              <a:lnSpc>
                <a:spcPct val="90000"/>
              </a:lnSpc>
            </a:pPr>
            <a:r>
              <a:rPr lang="en-GB" dirty="0"/>
              <a:t>All research includes cases, but not everything is case study research</a:t>
            </a:r>
          </a:p>
          <a:p>
            <a:pPr>
              <a:lnSpc>
                <a:spcPct val="90000"/>
              </a:lnSpc>
            </a:pPr>
            <a:r>
              <a:rPr lang="en-GB" dirty="0"/>
              <a:t>Focus on context: uniqueness + </a:t>
            </a:r>
            <a:r>
              <a:rPr lang="en-GB" b="1" dirty="0"/>
              <a:t>analytical generalization</a:t>
            </a:r>
          </a:p>
          <a:p>
            <a:pPr>
              <a:lnSpc>
                <a:spcPct val="90000"/>
              </a:lnSpc>
            </a:pPr>
            <a:r>
              <a:rPr lang="en-GB" dirty="0"/>
              <a:t>Three types: theory building, theory testing, problem solving</a:t>
            </a:r>
          </a:p>
          <a:p>
            <a:pPr>
              <a:lnSpc>
                <a:spcPct val="90000"/>
              </a:lnSpc>
            </a:pPr>
            <a:r>
              <a:rPr lang="en-GB" dirty="0"/>
              <a:t>Design choices: no. of cases, timeframe, type of data</a:t>
            </a:r>
          </a:p>
          <a:p>
            <a:pPr>
              <a:lnSpc>
                <a:spcPct val="90000"/>
              </a:lnSpc>
            </a:pPr>
            <a:endParaRPr lang="en-GB" dirty="0"/>
          </a:p>
          <a:p>
            <a:pPr marL="0" indent="0" algn="ctr">
              <a:lnSpc>
                <a:spcPct val="90000"/>
              </a:lnSpc>
              <a:buNone/>
            </a:pPr>
            <a:r>
              <a:rPr lang="en-GB" b="1" dirty="0"/>
              <a:t>Read the bloody paper by </a:t>
            </a:r>
            <a:r>
              <a:rPr lang="en-GB" b="1" dirty="0" err="1"/>
              <a:t>Runeson</a:t>
            </a:r>
            <a:r>
              <a:rPr lang="en-GB" b="1" dirty="0"/>
              <a:t> and </a:t>
            </a:r>
            <a:r>
              <a:rPr lang="en-GB" b="1" dirty="0" err="1"/>
              <a:t>Höst</a:t>
            </a:r>
            <a:r>
              <a:rPr lang="en-GB" b="1" dirty="0"/>
              <a:t>! </a:t>
            </a:r>
            <a:r>
              <a:rPr lang="en-GB" b="1" dirty="0">
                <a:sym typeface="Wingdings" pitchFamily="2" charset="2"/>
              </a:rPr>
              <a:t></a:t>
            </a:r>
            <a:endParaRPr lang="en-GB" b="1" dirty="0"/>
          </a:p>
        </p:txBody>
      </p:sp>
    </p:spTree>
    <p:extLst>
      <p:ext uri="{BB962C8B-B14F-4D97-AF65-F5344CB8AC3E}">
        <p14:creationId xmlns:p14="http://schemas.microsoft.com/office/powerpoint/2010/main" val="15560751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685800" y="341784"/>
            <a:ext cx="7772400" cy="1143000"/>
          </a:xfrm>
        </p:spPr>
        <p:txBody>
          <a:bodyPr/>
          <a:lstStyle/>
          <a:p>
            <a:r>
              <a:rPr lang="nl-NL" dirty="0" err="1"/>
              <a:t>References</a:t>
            </a:r>
            <a:endParaRPr lang="nl-NL" dirty="0"/>
          </a:p>
        </p:txBody>
      </p:sp>
      <p:sp>
        <p:nvSpPr>
          <p:cNvPr id="118787" name="Rectangle 3"/>
          <p:cNvSpPr>
            <a:spLocks noGrp="1" noChangeArrowheads="1"/>
          </p:cNvSpPr>
          <p:nvPr>
            <p:ph type="body" idx="1"/>
          </p:nvPr>
        </p:nvSpPr>
        <p:spPr>
          <a:xfrm>
            <a:off x="685800" y="1600200"/>
            <a:ext cx="7772400" cy="5952399"/>
          </a:xfrm>
        </p:spPr>
        <p:txBody>
          <a:bodyPr>
            <a:normAutofit/>
          </a:bodyPr>
          <a:lstStyle/>
          <a:p>
            <a:pPr>
              <a:lnSpc>
                <a:spcPct val="80000"/>
              </a:lnSpc>
            </a:pPr>
            <a:r>
              <a:rPr lang="en-GB" sz="1400" dirty="0"/>
              <a:t>Dyer, W.G. and Wilkins, A.L. (1991) Better Stories, Not Better Constructs, to Generate Better Theory: A Rejoinder to </a:t>
            </a:r>
            <a:r>
              <a:rPr lang="en-GB" sz="1400" dirty="0" err="1"/>
              <a:t>Eisenhardt</a:t>
            </a:r>
            <a:r>
              <a:rPr lang="en-GB" sz="1400" dirty="0"/>
              <a:t>, </a:t>
            </a:r>
            <a:r>
              <a:rPr lang="en-GB" sz="1400" i="1" dirty="0"/>
              <a:t>Academy of Management Review</a:t>
            </a:r>
            <a:r>
              <a:rPr lang="en-GB" sz="1400" dirty="0"/>
              <a:t> 16(3): 613-619. </a:t>
            </a:r>
          </a:p>
          <a:p>
            <a:pPr>
              <a:lnSpc>
                <a:spcPct val="80000"/>
              </a:lnSpc>
            </a:pPr>
            <a:r>
              <a:rPr lang="en-GB" sz="1400" dirty="0" err="1"/>
              <a:t>Eisenhardt</a:t>
            </a:r>
            <a:r>
              <a:rPr lang="en-GB" sz="1400" dirty="0"/>
              <a:t>, K.M. (1989) Building Theories from Case Study Research, </a:t>
            </a:r>
            <a:r>
              <a:rPr lang="en-GB" sz="1400" i="1" dirty="0"/>
              <a:t>Academy of Management Review</a:t>
            </a:r>
            <a:r>
              <a:rPr lang="en-GB" sz="1400" dirty="0"/>
              <a:t> 14(4): 532-550. </a:t>
            </a:r>
          </a:p>
          <a:p>
            <a:pPr>
              <a:lnSpc>
                <a:spcPct val="80000"/>
              </a:lnSpc>
            </a:pPr>
            <a:r>
              <a:rPr lang="en-GB" sz="1400" dirty="0" err="1"/>
              <a:t>Eisenhardt</a:t>
            </a:r>
            <a:r>
              <a:rPr lang="en-GB" sz="1400" dirty="0"/>
              <a:t>, K.M. (1991) Better Stories and Better Constructs: The Case for Rigor and Comparative Logic, </a:t>
            </a:r>
            <a:r>
              <a:rPr lang="en-GB" sz="1400" i="1" dirty="0"/>
              <a:t>Academy of Management Review</a:t>
            </a:r>
            <a:r>
              <a:rPr lang="en-GB" sz="1400" dirty="0"/>
              <a:t> 16(3): 620-627.</a:t>
            </a:r>
          </a:p>
          <a:p>
            <a:pPr>
              <a:lnSpc>
                <a:spcPct val="80000"/>
              </a:lnSpc>
            </a:pPr>
            <a:r>
              <a:rPr lang="en-GB" sz="1400" dirty="0"/>
              <a:t>Mohr, L. (1982) </a:t>
            </a:r>
            <a:r>
              <a:rPr lang="en-GB" sz="1400" i="1" dirty="0"/>
              <a:t>Explaining organizational behaviour</a:t>
            </a:r>
            <a:r>
              <a:rPr lang="en-GB" sz="1400" dirty="0"/>
              <a:t>. </a:t>
            </a:r>
            <a:r>
              <a:rPr lang="en-GB" sz="1400" dirty="0" err="1"/>
              <a:t>Jossey</a:t>
            </a:r>
            <a:r>
              <a:rPr lang="en-GB" sz="1400" dirty="0"/>
              <a:t>-Bass: San Francisco.</a:t>
            </a:r>
          </a:p>
          <a:p>
            <a:pPr>
              <a:lnSpc>
                <a:spcPct val="80000"/>
              </a:lnSpc>
            </a:pPr>
            <a:r>
              <a:rPr lang="en-GB" sz="1400" dirty="0" err="1"/>
              <a:t>Stam</a:t>
            </a:r>
            <a:r>
              <a:rPr lang="en-GB" sz="1400" dirty="0"/>
              <a:t>, E. (2007) Why butterflies don’t leave. Locational </a:t>
            </a:r>
            <a:r>
              <a:rPr lang="en-GB" sz="1400" dirty="0" err="1"/>
              <a:t>behavior</a:t>
            </a:r>
            <a:r>
              <a:rPr lang="en-GB" sz="1400" dirty="0"/>
              <a:t> of entrepreneurial firms, </a:t>
            </a:r>
            <a:r>
              <a:rPr lang="es-ES" sz="1400" i="1" dirty="0" err="1"/>
              <a:t>Economic</a:t>
            </a:r>
            <a:r>
              <a:rPr lang="es-ES" sz="1400" i="1" dirty="0"/>
              <a:t> </a:t>
            </a:r>
            <a:r>
              <a:rPr lang="es-ES" sz="1400" i="1" dirty="0" err="1"/>
              <a:t>Geography</a:t>
            </a:r>
            <a:r>
              <a:rPr lang="es-ES" sz="1400" dirty="0"/>
              <a:t>, 83.1, 27-50.</a:t>
            </a:r>
            <a:endParaRPr lang="en-GB" sz="1400" dirty="0"/>
          </a:p>
          <a:p>
            <a:pPr>
              <a:lnSpc>
                <a:spcPct val="80000"/>
              </a:lnSpc>
            </a:pPr>
            <a:r>
              <a:rPr lang="en-GB" sz="1400" dirty="0"/>
              <a:t>Strauss, A. and Corbin, J. (1990) </a:t>
            </a:r>
            <a:r>
              <a:rPr lang="en-GB" sz="1400" i="1" dirty="0"/>
              <a:t>Basics of qualitative research: grounded theory procedures and techniques</a:t>
            </a:r>
            <a:r>
              <a:rPr lang="en-GB" sz="1400" dirty="0"/>
              <a:t>. Sage: London.</a:t>
            </a:r>
          </a:p>
          <a:p>
            <a:pPr>
              <a:lnSpc>
                <a:spcPct val="80000"/>
              </a:lnSpc>
            </a:pPr>
            <a:r>
              <a:rPr lang="en-GB" sz="1400" dirty="0"/>
              <a:t>Van de </a:t>
            </a:r>
            <a:r>
              <a:rPr lang="en-GB" sz="1400" dirty="0" err="1"/>
              <a:t>Ven</a:t>
            </a:r>
            <a:r>
              <a:rPr lang="en-GB" sz="1400" dirty="0"/>
              <a:t>, A. (2007) </a:t>
            </a:r>
            <a:r>
              <a:rPr lang="en-GB" sz="1400" i="1" dirty="0"/>
              <a:t>Engaged Scholarship. A guide for organizational and social research</a:t>
            </a:r>
            <a:r>
              <a:rPr lang="en-GB" sz="1400" dirty="0"/>
              <a:t>. Oxford University Press: Oxford. </a:t>
            </a:r>
          </a:p>
          <a:p>
            <a:pPr>
              <a:lnSpc>
                <a:spcPct val="80000"/>
              </a:lnSpc>
            </a:pPr>
            <a:r>
              <a:rPr lang="en-GB" sz="1400" dirty="0"/>
              <a:t>Yin, R. (2003) </a:t>
            </a:r>
            <a:r>
              <a:rPr lang="en-GB" sz="1400" i="1" dirty="0"/>
              <a:t>Case Study Research. Design and Methods</a:t>
            </a:r>
            <a:r>
              <a:rPr lang="en-GB" sz="1400" dirty="0"/>
              <a:t>. 3rd edition. Sage: London.</a:t>
            </a:r>
          </a:p>
          <a:p>
            <a:pPr>
              <a:lnSpc>
                <a:spcPct val="80000"/>
              </a:lnSpc>
            </a:pPr>
            <a:r>
              <a:rPr lang="en-GB" sz="1400" b="1" dirty="0" err="1"/>
              <a:t>Runeson</a:t>
            </a:r>
            <a:r>
              <a:rPr lang="en-GB" sz="1400" b="1" dirty="0"/>
              <a:t>, P ad </a:t>
            </a:r>
            <a:r>
              <a:rPr lang="en-GB" sz="1400" b="1" dirty="0" err="1"/>
              <a:t>Höst</a:t>
            </a:r>
            <a:r>
              <a:rPr lang="en-GB" sz="1400" b="1" dirty="0"/>
              <a:t> M. (2009) Guidelines for conducting and reporting case study research in software engineering, </a:t>
            </a:r>
            <a:r>
              <a:rPr lang="en-GB" sz="1400" b="1" i="1" dirty="0"/>
              <a:t>Empirical Software Engineering</a:t>
            </a:r>
            <a:r>
              <a:rPr lang="en-GB" sz="1400" b="1" dirty="0"/>
              <a:t> 14(2):131-164</a:t>
            </a:r>
            <a:endParaRPr lang="nl-NL" sz="1400" b="1" dirty="0"/>
          </a:p>
          <a:p>
            <a:pPr>
              <a:lnSpc>
                <a:spcPct val="80000"/>
              </a:lnSpc>
            </a:pPr>
            <a:r>
              <a:rPr lang="en-GB" sz="1400" dirty="0"/>
              <a:t>Godfrey, M. W. and </a:t>
            </a:r>
            <a:r>
              <a:rPr lang="en-GB" sz="1400" dirty="0" err="1"/>
              <a:t>Tu</a:t>
            </a:r>
            <a:r>
              <a:rPr lang="en-GB" sz="1400" dirty="0"/>
              <a:t>, Q. (2000) </a:t>
            </a:r>
            <a:r>
              <a:rPr lang="en-GB" sz="1400" i="1" dirty="0"/>
              <a:t>Evolution in open source software: A case study</a:t>
            </a:r>
            <a:r>
              <a:rPr lang="en-GB" sz="1400" dirty="0"/>
              <a:t>, Int. Conf. on Software Maintenance, 131-142</a:t>
            </a:r>
          </a:p>
          <a:p>
            <a:pPr>
              <a:lnSpc>
                <a:spcPct val="80000"/>
              </a:lnSpc>
            </a:pPr>
            <a:r>
              <a:rPr lang="en-GB" sz="1400" dirty="0" err="1"/>
              <a:t>Mockus</a:t>
            </a:r>
            <a:r>
              <a:rPr lang="en-GB" sz="1400" dirty="0"/>
              <a:t>, A, Fielding, R. T. and </a:t>
            </a:r>
            <a:r>
              <a:rPr lang="en-GB" sz="1400" dirty="0" err="1"/>
              <a:t>Herbsleb</a:t>
            </a:r>
            <a:r>
              <a:rPr lang="en-GB" sz="1400" dirty="0"/>
              <a:t>, J. D. (2002) Two case studies of open source software development: Apache and Mozilla, </a:t>
            </a:r>
            <a:r>
              <a:rPr lang="en-GB" sz="1400" i="1" dirty="0"/>
              <a:t>Transactions on Software Engineering and Methodology</a:t>
            </a:r>
            <a:r>
              <a:rPr lang="en-GB" sz="1400" dirty="0"/>
              <a:t>, 11(3):309-346</a:t>
            </a:r>
          </a:p>
          <a:p>
            <a:pPr>
              <a:lnSpc>
                <a:spcPct val="80000"/>
              </a:lnSpc>
            </a:pPr>
            <a:r>
              <a:rPr lang="en-GB" sz="1400" dirty="0" err="1"/>
              <a:t>Flyvbjerg</a:t>
            </a:r>
            <a:r>
              <a:rPr lang="en-GB" sz="1400" dirty="0"/>
              <a:t>, B. (2006) Five misunderstandings about case-study research, </a:t>
            </a:r>
            <a:r>
              <a:rPr lang="en-GB" sz="1400" i="1" dirty="0"/>
              <a:t>Qualitative Inquiry</a:t>
            </a:r>
            <a:r>
              <a:rPr lang="en-GB" sz="1400" dirty="0"/>
              <a:t>, 12(2):219-245</a:t>
            </a:r>
          </a:p>
        </p:txBody>
      </p:sp>
    </p:spTree>
    <p:extLst>
      <p:ext uri="{BB962C8B-B14F-4D97-AF65-F5344CB8AC3E}">
        <p14:creationId xmlns:p14="http://schemas.microsoft.com/office/powerpoint/2010/main" val="1924360179"/>
      </p:ext>
    </p:extLst>
  </p:cSld>
  <p:clrMapOvr>
    <a:masterClrMapping/>
  </p:clrMapOvr>
</p:sld>
</file>

<file path=ppt/theme/theme1.xml><?xml version="1.0" encoding="utf-8"?>
<a:theme xmlns:a="http://schemas.openxmlformats.org/drawingml/2006/main" name="Chalmers-GU">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sv-SE" sz="2400" b="0" i="0" u="none" strike="noStrike" cap="none" normalizeH="0" baseline="0">
            <a:ln>
              <a:noFill/>
            </a:ln>
            <a:solidFill>
              <a:schemeClr val="tx1"/>
            </a:solidFill>
            <a:effectLst/>
            <a:latin typeface="Times" pitchFamily="6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sv-SE" sz="2400" b="0" i="0" u="none" strike="noStrike" cap="none" normalizeH="0" baseline="0">
            <a:ln>
              <a:noFill/>
            </a:ln>
            <a:solidFill>
              <a:schemeClr val="tx1"/>
            </a:solidFill>
            <a:effectLst/>
            <a:latin typeface="Times" pitchFamily="68"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Chalmers-GU.potx</Template>
  <TotalTime>844</TotalTime>
  <Words>3342</Words>
  <Application>Microsoft Office PowerPoint</Application>
  <PresentationFormat>全屏显示(4:3)</PresentationFormat>
  <Paragraphs>425</Paragraphs>
  <Slides>50</Slides>
  <Notes>17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50</vt:i4>
      </vt:variant>
    </vt:vector>
  </HeadingPairs>
  <TitlesOfParts>
    <vt:vector size="56" baseType="lpstr">
      <vt:lpstr>Arial</vt:lpstr>
      <vt:lpstr>Arial Black</vt:lpstr>
      <vt:lpstr>Times</vt:lpstr>
      <vt:lpstr>Times New Roman</vt:lpstr>
      <vt:lpstr>Wingdings</vt:lpstr>
      <vt:lpstr>Chalmers-GU</vt:lpstr>
      <vt:lpstr>PowerPoint 演示文稿</vt:lpstr>
      <vt:lpstr>PowerPoint 演示文稿</vt:lpstr>
      <vt:lpstr>Case Study Research</vt:lpstr>
      <vt:lpstr>SE research</vt:lpstr>
      <vt:lpstr>SE research</vt:lpstr>
      <vt:lpstr>SE research</vt:lpstr>
      <vt:lpstr>SE research</vt:lpstr>
      <vt:lpstr>Research strategy</vt:lpstr>
      <vt:lpstr>Types of research strategy according to ABC paper</vt:lpstr>
      <vt:lpstr>Choice of research strategy</vt:lpstr>
      <vt:lpstr>PowerPoint 演示文稿</vt:lpstr>
      <vt:lpstr>PowerPoint 演示文稿</vt:lpstr>
      <vt:lpstr>Case studies in se research</vt:lpstr>
      <vt:lpstr>Time to read…</vt:lpstr>
      <vt:lpstr>Key points</vt:lpstr>
      <vt:lpstr>RM characteristics</vt:lpstr>
      <vt:lpstr>5 major steps</vt:lpstr>
      <vt:lpstr>Design</vt:lpstr>
      <vt:lpstr>Case study protocol</vt:lpstr>
      <vt:lpstr>Data collection</vt:lpstr>
      <vt:lpstr>Data types</vt:lpstr>
      <vt:lpstr>Analysis and validity</vt:lpstr>
      <vt:lpstr>Outline</vt:lpstr>
      <vt:lpstr>What is a case?</vt:lpstr>
      <vt:lpstr>A case study is an empirical enquiry that: </vt:lpstr>
      <vt:lpstr>Types of…</vt:lpstr>
      <vt:lpstr>Outline</vt:lpstr>
      <vt:lpstr>Why case study research?</vt:lpstr>
      <vt:lpstr>Why case study research?</vt:lpstr>
      <vt:lpstr>Accusation: ‘Case study research is a “convenience” research strategy’</vt:lpstr>
      <vt:lpstr>Three types of case study research</vt:lpstr>
      <vt:lpstr>Theory building (Eisenhardt 1989)</vt:lpstr>
      <vt:lpstr>Theory testing (Yin 2003)</vt:lpstr>
      <vt:lpstr>Problem solving (Van de Ven 2007)</vt:lpstr>
      <vt:lpstr>Misunderstandings</vt:lpstr>
      <vt:lpstr>Outline</vt:lpstr>
      <vt:lpstr>Designing case studies</vt:lpstr>
      <vt:lpstr>Designing case studies</vt:lpstr>
      <vt:lpstr>Accusation:  ‘Case study research is unscientific because of limited generalizability’</vt:lpstr>
      <vt:lpstr>Designing case studies</vt:lpstr>
      <vt:lpstr>Designing case studies</vt:lpstr>
      <vt:lpstr>Outline</vt:lpstr>
      <vt:lpstr>Compare releases between BSD and *nix</vt:lpstr>
      <vt:lpstr>Evolution in open source software</vt:lpstr>
      <vt:lpstr>Outline</vt:lpstr>
      <vt:lpstr>OSS development</vt:lpstr>
      <vt:lpstr>OSS development (cont.)</vt:lpstr>
      <vt:lpstr>Outline</vt:lpstr>
      <vt:lpstr>Summary</vt:lpstr>
      <vt:lpstr>References</vt:lpstr>
    </vt:vector>
  </TitlesOfParts>
  <Company>Chalmers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Bild 1</dc:title>
  <dc:creator>ullare</dc:creator>
  <cp:lastModifiedBy>Xingrong Zong</cp:lastModifiedBy>
  <cp:revision>133</cp:revision>
  <dcterms:created xsi:type="dcterms:W3CDTF">2010-11-02T13:42:29Z</dcterms:created>
  <dcterms:modified xsi:type="dcterms:W3CDTF">2025-09-24T10:02:57Z</dcterms:modified>
</cp:coreProperties>
</file>