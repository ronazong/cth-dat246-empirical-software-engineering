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7"/>
  </p:notesMasterIdLst>
  <p:sldIdLst>
    <p:sldId id="259" r:id="rId2"/>
    <p:sldId id="273" r:id="rId3"/>
    <p:sldId id="285" r:id="rId4"/>
    <p:sldId id="286" r:id="rId5"/>
    <p:sldId id="261" r:id="rId6"/>
    <p:sldId id="262" r:id="rId7"/>
    <p:sldId id="263" r:id="rId8"/>
    <p:sldId id="264" r:id="rId9"/>
    <p:sldId id="265" r:id="rId10"/>
    <p:sldId id="266" r:id="rId11"/>
    <p:sldId id="269" r:id="rId12"/>
    <p:sldId id="267" r:id="rId13"/>
    <p:sldId id="268" r:id="rId14"/>
    <p:sldId id="284" r:id="rId15"/>
    <p:sldId id="270" r:id="rId16"/>
    <p:sldId id="271" r:id="rId17"/>
    <p:sldId id="272" r:id="rId18"/>
    <p:sldId id="274" r:id="rId19"/>
    <p:sldId id="295" r:id="rId20"/>
    <p:sldId id="296" r:id="rId21"/>
    <p:sldId id="291" r:id="rId22"/>
    <p:sldId id="283" r:id="rId23"/>
    <p:sldId id="292" r:id="rId24"/>
    <p:sldId id="276" r:id="rId25"/>
    <p:sldId id="277" r:id="rId26"/>
    <p:sldId id="279" r:id="rId27"/>
    <p:sldId id="297" r:id="rId28"/>
    <p:sldId id="298" r:id="rId29"/>
    <p:sldId id="289" r:id="rId30"/>
    <p:sldId id="290" r:id="rId31"/>
    <p:sldId id="280" r:id="rId32"/>
    <p:sldId id="281" r:id="rId33"/>
    <p:sldId id="282" r:id="rId34"/>
    <p:sldId id="287" r:id="rId35"/>
    <p:sldId id="288" r:id="rId36"/>
  </p:sldIdLst>
  <p:sldSz cx="9144000" cy="6858000" type="screen4x3"/>
  <p:notesSz cx="6858000" cy="9144000"/>
  <p:defaultTextStyle>
    <a:defPPr>
      <a:defRPr lang="sv-SE"/>
    </a:defPPr>
    <a:lvl1pPr algn="l" rtl="0" eaLnBrk="0" fontAlgn="base" hangingPunct="0">
      <a:spcBef>
        <a:spcPct val="0"/>
      </a:spcBef>
      <a:spcAft>
        <a:spcPct val="0"/>
      </a:spcAft>
      <a:defRPr sz="2400" kern="1200">
        <a:solidFill>
          <a:schemeClr val="tx1"/>
        </a:solidFill>
        <a:latin typeface="Times" pitchFamily="96"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96"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96"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96"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96" charset="0"/>
        <a:ea typeface="+mn-ea"/>
        <a:cs typeface="+mn-cs"/>
      </a:defRPr>
    </a:lvl5pPr>
    <a:lvl6pPr marL="2286000" algn="l" defTabSz="457200" rtl="0" eaLnBrk="1" latinLnBrk="0" hangingPunct="1">
      <a:defRPr sz="2400" kern="1200">
        <a:solidFill>
          <a:schemeClr val="tx1"/>
        </a:solidFill>
        <a:latin typeface="Times" pitchFamily="96" charset="0"/>
        <a:ea typeface="+mn-ea"/>
        <a:cs typeface="+mn-cs"/>
      </a:defRPr>
    </a:lvl6pPr>
    <a:lvl7pPr marL="2743200" algn="l" defTabSz="457200" rtl="0" eaLnBrk="1" latinLnBrk="0" hangingPunct="1">
      <a:defRPr sz="2400" kern="1200">
        <a:solidFill>
          <a:schemeClr val="tx1"/>
        </a:solidFill>
        <a:latin typeface="Times" pitchFamily="96" charset="0"/>
        <a:ea typeface="+mn-ea"/>
        <a:cs typeface="+mn-cs"/>
      </a:defRPr>
    </a:lvl7pPr>
    <a:lvl8pPr marL="3200400" algn="l" defTabSz="457200" rtl="0" eaLnBrk="1" latinLnBrk="0" hangingPunct="1">
      <a:defRPr sz="2400" kern="1200">
        <a:solidFill>
          <a:schemeClr val="tx1"/>
        </a:solidFill>
        <a:latin typeface="Times" pitchFamily="96" charset="0"/>
        <a:ea typeface="+mn-ea"/>
        <a:cs typeface="+mn-cs"/>
      </a:defRPr>
    </a:lvl8pPr>
    <a:lvl9pPr marL="3657600" algn="l" defTabSz="457200" rtl="0" eaLnBrk="1" latinLnBrk="0" hangingPunct="1">
      <a:defRPr sz="2400" kern="1200">
        <a:solidFill>
          <a:schemeClr val="tx1"/>
        </a:solidFill>
        <a:latin typeface="Times" pitchFamily="96"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895"/>
    <p:restoredTop sz="88835" autoAdjust="0"/>
  </p:normalViewPr>
  <p:slideViewPr>
    <p:cSldViewPr showGuides="1">
      <p:cViewPr>
        <p:scale>
          <a:sx n="100" d="100"/>
          <a:sy n="100" d="100"/>
        </p:scale>
        <p:origin x="224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216"/>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sv-SE"/>
          </a:p>
        </p:txBody>
      </p:sp>
      <p:sp>
        <p:nvSpPr>
          <p:cNvPr id="4301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sv-SE"/>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301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p>
        </p:txBody>
      </p:sp>
      <p:sp>
        <p:nvSpPr>
          <p:cNvPr id="4301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sv-SE"/>
          </a:p>
        </p:txBody>
      </p:sp>
      <p:sp>
        <p:nvSpPr>
          <p:cNvPr id="4301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808C084B-7047-4F69-A78E-60BC252BCC38}" type="slidenum">
              <a:rPr lang="sv-SE"/>
              <a:pPr/>
              <a:t>‹#›</a:t>
            </a:fld>
            <a:endParaRPr lang="sv-SE"/>
          </a:p>
        </p:txBody>
      </p:sp>
    </p:spTree>
    <p:extLst>
      <p:ext uri="{BB962C8B-B14F-4D97-AF65-F5344CB8AC3E}">
        <p14:creationId xmlns:p14="http://schemas.microsoft.com/office/powerpoint/2010/main" val="26360298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68" charset="0"/>
        <a:ea typeface="ＭＳ Ｐゴシック" pitchFamily="96" charset="-128"/>
        <a:cs typeface="ＭＳ Ｐゴシック" pitchFamily="96" charset="-128"/>
      </a:defRPr>
    </a:lvl1pPr>
    <a:lvl2pPr marL="457200" algn="l" rtl="0" eaLnBrk="0" fontAlgn="base" hangingPunct="0">
      <a:spcBef>
        <a:spcPct val="30000"/>
      </a:spcBef>
      <a:spcAft>
        <a:spcPct val="0"/>
      </a:spcAft>
      <a:defRPr sz="1200" kern="1200">
        <a:solidFill>
          <a:schemeClr val="tx1"/>
        </a:solidFill>
        <a:latin typeface="Times" pitchFamily="68" charset="0"/>
        <a:ea typeface="ＭＳ Ｐゴシック" pitchFamily="68" charset="-128"/>
        <a:cs typeface="+mn-cs"/>
      </a:defRPr>
    </a:lvl2pPr>
    <a:lvl3pPr marL="914400" algn="l" rtl="0" eaLnBrk="0" fontAlgn="base" hangingPunct="0">
      <a:spcBef>
        <a:spcPct val="30000"/>
      </a:spcBef>
      <a:spcAft>
        <a:spcPct val="0"/>
      </a:spcAft>
      <a:defRPr sz="1200" kern="1200">
        <a:solidFill>
          <a:schemeClr val="tx1"/>
        </a:solidFill>
        <a:latin typeface="Times" pitchFamily="68" charset="0"/>
        <a:ea typeface="ＭＳ Ｐゴシック" pitchFamily="68" charset="-128"/>
        <a:cs typeface="+mn-cs"/>
      </a:defRPr>
    </a:lvl3pPr>
    <a:lvl4pPr marL="1371600" algn="l" rtl="0" eaLnBrk="0" fontAlgn="base" hangingPunct="0">
      <a:spcBef>
        <a:spcPct val="30000"/>
      </a:spcBef>
      <a:spcAft>
        <a:spcPct val="0"/>
      </a:spcAft>
      <a:defRPr sz="1200" kern="1200">
        <a:solidFill>
          <a:schemeClr val="tx1"/>
        </a:solidFill>
        <a:latin typeface="Times" pitchFamily="68" charset="0"/>
        <a:ea typeface="ＭＳ Ｐゴシック" pitchFamily="68" charset="-128"/>
        <a:cs typeface="+mn-cs"/>
      </a:defRPr>
    </a:lvl4pPr>
    <a:lvl5pPr marL="1828800" algn="l" rtl="0" eaLnBrk="0" fontAlgn="base" hangingPunct="0">
      <a:spcBef>
        <a:spcPct val="30000"/>
      </a:spcBef>
      <a:spcAft>
        <a:spcPct val="0"/>
      </a:spcAft>
      <a:defRPr sz="1200" kern="1200">
        <a:solidFill>
          <a:schemeClr val="tx1"/>
        </a:solidFill>
        <a:latin typeface="Times" pitchFamily="68" charset="0"/>
        <a:ea typeface="ＭＳ Ｐゴシック" pitchFamily="68"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dirty="0"/>
              <a:t>Ethics is an external social system</a:t>
            </a:r>
          </a:p>
          <a:p>
            <a:r>
              <a:rPr lang="en-GB" dirty="0"/>
              <a:t>Morals is an internal individual system</a:t>
            </a:r>
          </a:p>
          <a:p>
            <a:endParaRPr lang="en-US" dirty="0"/>
          </a:p>
        </p:txBody>
      </p:sp>
      <p:sp>
        <p:nvSpPr>
          <p:cNvPr id="4" name="灯片编号占位符 3"/>
          <p:cNvSpPr>
            <a:spLocks noGrp="1"/>
          </p:cNvSpPr>
          <p:nvPr>
            <p:ph type="sldNum" sz="quarter" idx="5"/>
          </p:nvPr>
        </p:nvSpPr>
        <p:spPr/>
        <p:txBody>
          <a:bodyPr/>
          <a:lstStyle/>
          <a:p>
            <a:fld id="{808C084B-7047-4F69-A78E-60BC252BCC38}" type="slidenum">
              <a:rPr lang="sv-SE" smtClean="0"/>
              <a:pPr/>
              <a:t>4</a:t>
            </a:fld>
            <a:endParaRPr lang="sv-SE"/>
          </a:p>
        </p:txBody>
      </p:sp>
    </p:spTree>
    <p:extLst>
      <p:ext uri="{BB962C8B-B14F-4D97-AF65-F5344CB8AC3E}">
        <p14:creationId xmlns:p14="http://schemas.microsoft.com/office/powerpoint/2010/main" val="2020703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Rigorous</a:t>
            </a:r>
          </a:p>
          <a:p>
            <a:endParaRPr lang="en-US" dirty="0"/>
          </a:p>
        </p:txBody>
      </p:sp>
      <p:sp>
        <p:nvSpPr>
          <p:cNvPr id="4" name="灯片编号占位符 3"/>
          <p:cNvSpPr>
            <a:spLocks noGrp="1"/>
          </p:cNvSpPr>
          <p:nvPr>
            <p:ph type="sldNum" sz="quarter" idx="5"/>
          </p:nvPr>
        </p:nvSpPr>
        <p:spPr/>
        <p:txBody>
          <a:bodyPr/>
          <a:lstStyle/>
          <a:p>
            <a:fld id="{808C084B-7047-4F69-A78E-60BC252BCC38}" type="slidenum">
              <a:rPr lang="sv-SE" smtClean="0"/>
              <a:pPr/>
              <a:t>7</a:t>
            </a:fld>
            <a:endParaRPr lang="sv-SE"/>
          </a:p>
        </p:txBody>
      </p:sp>
    </p:spTree>
    <p:extLst>
      <p:ext uri="{BB962C8B-B14F-4D97-AF65-F5344CB8AC3E}">
        <p14:creationId xmlns:p14="http://schemas.microsoft.com/office/powerpoint/2010/main" val="23833653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err="1"/>
              <a:t>Sakerts</a:t>
            </a:r>
            <a:r>
              <a:rPr lang="en-US" dirty="0"/>
              <a:t> </a:t>
            </a:r>
            <a:r>
              <a:rPr lang="en-US" dirty="0" err="1"/>
              <a:t>polisen</a:t>
            </a:r>
            <a:endParaRPr lang="en-US" dirty="0"/>
          </a:p>
          <a:p>
            <a:r>
              <a:rPr lang="en-US" dirty="0" err="1"/>
              <a:t>Referal</a:t>
            </a:r>
            <a:endParaRPr lang="en-US" dirty="0"/>
          </a:p>
          <a:p>
            <a:r>
              <a:rPr lang="en-US" dirty="0" err="1"/>
              <a:t>Valeme</a:t>
            </a:r>
            <a:r>
              <a:rPr lang="en-US" dirty="0"/>
              <a:t> Swedish industry research</a:t>
            </a:r>
          </a:p>
          <a:p>
            <a:r>
              <a:rPr lang="en-US" dirty="0"/>
              <a:t>Competitiveness</a:t>
            </a:r>
          </a:p>
          <a:p>
            <a:endParaRPr lang="en-US" dirty="0"/>
          </a:p>
        </p:txBody>
      </p:sp>
      <p:sp>
        <p:nvSpPr>
          <p:cNvPr id="4" name="灯片编号占位符 3"/>
          <p:cNvSpPr>
            <a:spLocks noGrp="1"/>
          </p:cNvSpPr>
          <p:nvPr>
            <p:ph type="sldNum" sz="quarter" idx="5"/>
          </p:nvPr>
        </p:nvSpPr>
        <p:spPr/>
        <p:txBody>
          <a:bodyPr/>
          <a:lstStyle/>
          <a:p>
            <a:fld id="{808C084B-7047-4F69-A78E-60BC252BCC38}" type="slidenum">
              <a:rPr lang="sv-SE" smtClean="0"/>
              <a:pPr/>
              <a:t>8</a:t>
            </a:fld>
            <a:endParaRPr lang="sv-SE"/>
          </a:p>
        </p:txBody>
      </p:sp>
    </p:spTree>
    <p:extLst>
      <p:ext uri="{BB962C8B-B14F-4D97-AF65-F5344CB8AC3E}">
        <p14:creationId xmlns:p14="http://schemas.microsoft.com/office/powerpoint/2010/main" val="2125692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err="1"/>
              <a:t>Kunkunkunkunkunkunkun</a:t>
            </a:r>
            <a:endParaRPr lang="en-US" dirty="0"/>
          </a:p>
          <a:p>
            <a:r>
              <a:rPr lang="en-US" dirty="0"/>
              <a:t>Numerical trials</a:t>
            </a:r>
          </a:p>
          <a:p>
            <a:r>
              <a:rPr lang="en-US" dirty="0" err="1"/>
              <a:t>Consentration</a:t>
            </a:r>
            <a:r>
              <a:rPr lang="en-US" dirty="0"/>
              <a:t> camp</a:t>
            </a:r>
          </a:p>
          <a:p>
            <a:endParaRPr lang="en-US" dirty="0"/>
          </a:p>
        </p:txBody>
      </p:sp>
      <p:sp>
        <p:nvSpPr>
          <p:cNvPr id="4" name="灯片编号占位符 3"/>
          <p:cNvSpPr>
            <a:spLocks noGrp="1"/>
          </p:cNvSpPr>
          <p:nvPr>
            <p:ph type="sldNum" sz="quarter" idx="5"/>
          </p:nvPr>
        </p:nvSpPr>
        <p:spPr/>
        <p:txBody>
          <a:bodyPr/>
          <a:lstStyle/>
          <a:p>
            <a:fld id="{808C084B-7047-4F69-A78E-60BC252BCC38}" type="slidenum">
              <a:rPr lang="sv-SE" smtClean="0"/>
              <a:pPr/>
              <a:t>9</a:t>
            </a:fld>
            <a:endParaRPr lang="sv-SE"/>
          </a:p>
        </p:txBody>
      </p:sp>
    </p:spTree>
    <p:extLst>
      <p:ext uri="{BB962C8B-B14F-4D97-AF65-F5344CB8AC3E}">
        <p14:creationId xmlns:p14="http://schemas.microsoft.com/office/powerpoint/2010/main" val="1034235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Not want to bias them beforehand</a:t>
            </a:r>
          </a:p>
          <a:p>
            <a:r>
              <a:rPr lang="en-US" dirty="0"/>
              <a:t>4</a:t>
            </a:r>
            <a:r>
              <a:rPr lang="en-US" baseline="30000" dirty="0"/>
              <a:t>th</a:t>
            </a:r>
            <a:r>
              <a:rPr lang="en-US" dirty="0"/>
              <a:t> is often used in medicine</a:t>
            </a:r>
          </a:p>
          <a:p>
            <a:r>
              <a:rPr lang="en-US" dirty="0" err="1"/>
              <a:t>Saghlesga</a:t>
            </a:r>
            <a:r>
              <a:rPr lang="en-US" dirty="0"/>
              <a:t> university of medicine</a:t>
            </a:r>
          </a:p>
          <a:p>
            <a:r>
              <a:rPr lang="en-US" dirty="0"/>
              <a:t>Ads Design </a:t>
            </a:r>
          </a:p>
          <a:p>
            <a:r>
              <a:rPr lang="en-US" dirty="0"/>
              <a:t>Remove learning bias TCCT  test control</a:t>
            </a:r>
          </a:p>
          <a:p>
            <a:r>
              <a:rPr lang="en-US"/>
              <a:t>Exclude the data</a:t>
            </a:r>
          </a:p>
          <a:p>
            <a:endParaRPr lang="en-US" dirty="0"/>
          </a:p>
          <a:p>
            <a:endParaRPr lang="en-US" dirty="0"/>
          </a:p>
        </p:txBody>
      </p:sp>
      <p:sp>
        <p:nvSpPr>
          <p:cNvPr id="4" name="灯片编号占位符 3"/>
          <p:cNvSpPr>
            <a:spLocks noGrp="1"/>
          </p:cNvSpPr>
          <p:nvPr>
            <p:ph type="sldNum" sz="quarter" idx="5"/>
          </p:nvPr>
        </p:nvSpPr>
        <p:spPr/>
        <p:txBody>
          <a:bodyPr/>
          <a:lstStyle/>
          <a:p>
            <a:fld id="{808C084B-7047-4F69-A78E-60BC252BCC38}" type="slidenum">
              <a:rPr lang="sv-SE" smtClean="0"/>
              <a:pPr/>
              <a:t>10</a:t>
            </a:fld>
            <a:endParaRPr lang="sv-SE"/>
          </a:p>
        </p:txBody>
      </p:sp>
    </p:spTree>
    <p:extLst>
      <p:ext uri="{BB962C8B-B14F-4D97-AF65-F5344CB8AC3E}">
        <p14:creationId xmlns:p14="http://schemas.microsoft.com/office/powerpoint/2010/main" val="495236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from https://</a:t>
            </a:r>
            <a:r>
              <a:rPr lang="en-US" dirty="0" err="1"/>
              <a:t>www.scu.edu</a:t>
            </a:r>
            <a:r>
              <a:rPr lang="en-US" dirty="0"/>
              <a:t>/media/ethics-center/technology-ethics/</a:t>
            </a:r>
            <a:r>
              <a:rPr lang="en-US" dirty="0" err="1"/>
              <a:t>Students.pdf</a:t>
            </a:r>
            <a:endParaRPr lang="en-US" dirty="0"/>
          </a:p>
        </p:txBody>
      </p:sp>
      <p:sp>
        <p:nvSpPr>
          <p:cNvPr id="4" name="Slide Number Placeholder 3"/>
          <p:cNvSpPr>
            <a:spLocks noGrp="1"/>
          </p:cNvSpPr>
          <p:nvPr>
            <p:ph type="sldNum" sz="quarter" idx="10"/>
          </p:nvPr>
        </p:nvSpPr>
        <p:spPr/>
        <p:txBody>
          <a:bodyPr/>
          <a:lstStyle/>
          <a:p>
            <a:fld id="{808C084B-7047-4F69-A78E-60BC252BCC38}" type="slidenum">
              <a:rPr lang="sv-SE" smtClean="0"/>
              <a:pPr/>
              <a:t>34</a:t>
            </a:fld>
            <a:endParaRPr lang="sv-SE"/>
          </a:p>
        </p:txBody>
      </p:sp>
    </p:spTree>
    <p:extLst>
      <p:ext uri="{BB962C8B-B14F-4D97-AF65-F5344CB8AC3E}">
        <p14:creationId xmlns:p14="http://schemas.microsoft.com/office/powerpoint/2010/main" val="2059955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www.scu.edu</a:t>
            </a:r>
            <a:r>
              <a:rPr lang="en-US" dirty="0"/>
              <a:t>/media/ethics-center/technology-ethics/</a:t>
            </a:r>
            <a:r>
              <a:rPr lang="en-US" dirty="0" err="1"/>
              <a:t>Students.pdf</a:t>
            </a:r>
            <a:endParaRPr lang="en-US" dirty="0"/>
          </a:p>
        </p:txBody>
      </p:sp>
      <p:sp>
        <p:nvSpPr>
          <p:cNvPr id="4" name="Slide Number Placeholder 3"/>
          <p:cNvSpPr>
            <a:spLocks noGrp="1"/>
          </p:cNvSpPr>
          <p:nvPr>
            <p:ph type="sldNum" sz="quarter" idx="10"/>
          </p:nvPr>
        </p:nvSpPr>
        <p:spPr/>
        <p:txBody>
          <a:bodyPr/>
          <a:lstStyle/>
          <a:p>
            <a:fld id="{808C084B-7047-4F69-A78E-60BC252BCC38}" type="slidenum">
              <a:rPr lang="sv-SE" smtClean="0"/>
              <a:pPr/>
              <a:t>35</a:t>
            </a:fld>
            <a:endParaRPr lang="sv-SE"/>
          </a:p>
        </p:txBody>
      </p:sp>
    </p:spTree>
    <p:extLst>
      <p:ext uri="{BB962C8B-B14F-4D97-AF65-F5344CB8AC3E}">
        <p14:creationId xmlns:p14="http://schemas.microsoft.com/office/powerpoint/2010/main" val="1284725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685800" y="2130425"/>
            <a:ext cx="7772400" cy="1470025"/>
          </a:xfrm>
        </p:spPr>
        <p:txBody>
          <a:bodyPr/>
          <a:lstStyle/>
          <a:p>
            <a:r>
              <a:rPr lang="sv-SE"/>
              <a:t>Click to edit Master title style</a:t>
            </a:r>
          </a:p>
        </p:txBody>
      </p:sp>
      <p:sp>
        <p:nvSpPr>
          <p:cNvPr id="3" name="Underrubrik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sv-SE"/>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Click to edit Master title style</a:t>
            </a:r>
          </a:p>
        </p:txBody>
      </p:sp>
      <p:sp>
        <p:nvSpPr>
          <p:cNvPr id="3" name="Platshållare för innehåll 2"/>
          <p:cNvSpPr>
            <a:spLocks noGrp="1"/>
          </p:cNvSpPr>
          <p:nvPr>
            <p:ph idx="1"/>
          </p:nvPr>
        </p:nvSpPr>
        <p:spPr/>
        <p:txBody>
          <a:body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722313" y="4406900"/>
            <a:ext cx="7772400" cy="1362075"/>
          </a:xfrm>
        </p:spPr>
        <p:txBody>
          <a:bodyPr anchor="t"/>
          <a:lstStyle>
            <a:lvl1pPr algn="l">
              <a:defRPr sz="4000" b="1" cap="all"/>
            </a:lvl1pPr>
          </a:lstStyle>
          <a:p>
            <a:r>
              <a:rPr lang="sv-SE"/>
              <a:t>Click to edit Master title style</a:t>
            </a:r>
          </a:p>
        </p:txBody>
      </p:sp>
      <p:sp>
        <p:nvSpPr>
          <p:cNvPr id="3" name="Platshållare för text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sv-SE"/>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Click to edit Master title style</a:t>
            </a:r>
          </a:p>
        </p:txBody>
      </p:sp>
      <p:sp>
        <p:nvSpPr>
          <p:cNvPr id="3" name="Platshållare för innehåll 2"/>
          <p:cNvSpPr>
            <a:spLocks noGrp="1"/>
          </p:cNvSpPr>
          <p:nvPr>
            <p:ph sz="half" idx="1"/>
          </p:nvPr>
        </p:nvSpPr>
        <p:spPr>
          <a:xfrm>
            <a:off x="685800" y="19812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p>
        </p:txBody>
      </p:sp>
      <p:sp>
        <p:nvSpPr>
          <p:cNvPr id="4" name="Platshållare för innehåll 3"/>
          <p:cNvSpPr>
            <a:spLocks noGrp="1"/>
          </p:cNvSpPr>
          <p:nvPr>
            <p:ph sz="half" idx="2"/>
          </p:nvPr>
        </p:nvSpPr>
        <p:spPr>
          <a:xfrm>
            <a:off x="4648200" y="19812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457200" y="274638"/>
            <a:ext cx="8229600" cy="1143000"/>
          </a:xfrm>
        </p:spPr>
        <p:txBody>
          <a:bodyPr/>
          <a:lstStyle>
            <a:lvl1pPr>
              <a:defRPr/>
            </a:lvl1pPr>
          </a:lstStyle>
          <a:p>
            <a:r>
              <a:rPr lang="sv-SE"/>
              <a:t>Click to edit Master title style</a:t>
            </a:r>
          </a:p>
        </p:txBody>
      </p:sp>
      <p:sp>
        <p:nvSpPr>
          <p:cNvPr id="3" name="Platshållare för tex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Click to edit Master text styles</a:t>
            </a:r>
          </a:p>
        </p:txBody>
      </p:sp>
      <p:sp>
        <p:nvSpPr>
          <p:cNvPr id="4" name="Platshållare för innehåll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p>
        </p:txBody>
      </p:sp>
      <p:sp>
        <p:nvSpPr>
          <p:cNvPr id="5" name="Platshållare för tex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Click to edit Master text styles</a:t>
            </a:r>
          </a:p>
        </p:txBody>
      </p:sp>
      <p:sp>
        <p:nvSpPr>
          <p:cNvPr id="6" name="Platshållare för innehåll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457200" y="273050"/>
            <a:ext cx="3008313" cy="1162050"/>
          </a:xfrm>
        </p:spPr>
        <p:txBody>
          <a:bodyPr anchor="b"/>
          <a:lstStyle>
            <a:lvl1pPr algn="l">
              <a:defRPr sz="2000" b="1"/>
            </a:lvl1pPr>
          </a:lstStyle>
          <a:p>
            <a:r>
              <a:rPr lang="sv-SE"/>
              <a:t>Click to edit Master title style</a:t>
            </a:r>
          </a:p>
        </p:txBody>
      </p:sp>
      <p:sp>
        <p:nvSpPr>
          <p:cNvPr id="3" name="Platshållare för innehåll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p>
        </p:txBody>
      </p:sp>
      <p:sp>
        <p:nvSpPr>
          <p:cNvPr id="4" name="Platshållare för tex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1792288" y="4800600"/>
            <a:ext cx="5486400" cy="566738"/>
          </a:xfrm>
        </p:spPr>
        <p:txBody>
          <a:bodyPr anchor="b"/>
          <a:lstStyle>
            <a:lvl1pPr algn="l">
              <a:defRPr sz="2000" b="1"/>
            </a:lvl1pPr>
          </a:lstStyle>
          <a:p>
            <a:r>
              <a:rPr lang="sv-SE"/>
              <a:t>Click to edit Master title style</a:t>
            </a:r>
          </a:p>
        </p:txBody>
      </p:sp>
      <p:sp>
        <p:nvSpPr>
          <p:cNvPr id="3" name="Platshållare för bild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sv-SE" noProof="0"/>
              <a:t>Drag picture to placeholder or click icon to add</a:t>
            </a:r>
          </a:p>
        </p:txBody>
      </p:sp>
      <p:sp>
        <p:nvSpPr>
          <p:cNvPr id="4" name="Platshållare för tex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Click to edit Master title style</a:t>
            </a:r>
          </a:p>
        </p:txBody>
      </p:sp>
      <p:sp>
        <p:nvSpPr>
          <p:cNvPr id="3" name="Platshållare för lodrät text 2"/>
          <p:cNvSpPr>
            <a:spLocks noGrp="1"/>
          </p:cNvSpPr>
          <p:nvPr>
            <p:ph type="body" orient="vert" idx="1"/>
          </p:nvPr>
        </p:nvSpPr>
        <p:spPr/>
        <p:txBody>
          <a:bodyPr vert="eaVert"/>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6724650" y="838200"/>
            <a:ext cx="2152650" cy="5638800"/>
          </a:xfrm>
        </p:spPr>
        <p:txBody>
          <a:bodyPr vert="eaVert"/>
          <a:lstStyle/>
          <a:p>
            <a:r>
              <a:rPr lang="sv-SE"/>
              <a:t>Click to edit Master title style</a:t>
            </a:r>
          </a:p>
        </p:txBody>
      </p:sp>
      <p:sp>
        <p:nvSpPr>
          <p:cNvPr id="3" name="Platshållare för lodrät text 2"/>
          <p:cNvSpPr>
            <a:spLocks noGrp="1"/>
          </p:cNvSpPr>
          <p:nvPr>
            <p:ph type="body" orient="vert" idx="1"/>
          </p:nvPr>
        </p:nvSpPr>
        <p:spPr>
          <a:xfrm>
            <a:off x="266700" y="838200"/>
            <a:ext cx="6305550" cy="5638800"/>
          </a:xfrm>
        </p:spPr>
        <p:txBody>
          <a:bodyPr vert="eaVert"/>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List with image">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6553200" y="557559"/>
            <a:ext cx="2590800" cy="6016141"/>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dirty="0"/>
              <a:t>Side image</a:t>
            </a:r>
          </a:p>
        </p:txBody>
      </p:sp>
      <p:sp>
        <p:nvSpPr>
          <p:cNvPr id="12" name="Rectangle 5"/>
          <p:cNvSpPr>
            <a:spLocks noChangeArrowheads="1"/>
          </p:cNvSpPr>
          <p:nvPr userDrawn="1"/>
        </p:nvSpPr>
        <p:spPr bwMode="auto">
          <a:xfrm>
            <a:off x="0" y="6573700"/>
            <a:ext cx="9144000" cy="284301"/>
          </a:xfrm>
          <a:prstGeom prst="rect">
            <a:avLst/>
          </a:pr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hangingPunct="0"/>
            <a:endParaRPr lang="en-US" sz="2400"/>
          </a:p>
        </p:txBody>
      </p:sp>
      <p:sp>
        <p:nvSpPr>
          <p:cNvPr id="13" name="Date Placeholder 3"/>
          <p:cNvSpPr>
            <a:spLocks noGrp="1"/>
          </p:cNvSpPr>
          <p:nvPr>
            <p:ph type="dt" sz="half" idx="10"/>
          </p:nvPr>
        </p:nvSpPr>
        <p:spPr>
          <a:xfrm>
            <a:off x="468890" y="6580834"/>
            <a:ext cx="2133600" cy="277167"/>
          </a:xfrm>
          <a:prstGeom prst="rect">
            <a:avLst/>
          </a:prstGeom>
        </p:spPr>
        <p:txBody>
          <a:bodyPr/>
          <a:lstStyle>
            <a:lvl1pPr>
              <a:defRPr sz="600" baseline="0">
                <a:solidFill>
                  <a:schemeClr val="bg1"/>
                </a:solidFill>
              </a:defRPr>
            </a:lvl1pPr>
          </a:lstStyle>
          <a:p>
            <a:fld id="{09C1F241-9579-0B4F-AC66-F48101FB85F9}" type="datetime1">
              <a:rPr lang="sv-SE" smtClean="0"/>
              <a:t>2025-09-08</a:t>
            </a:fld>
            <a:endParaRPr lang="sv-SE" dirty="0"/>
          </a:p>
        </p:txBody>
      </p:sp>
      <p:sp>
        <p:nvSpPr>
          <p:cNvPr id="14" name="Footer Placeholder 4"/>
          <p:cNvSpPr>
            <a:spLocks noGrp="1"/>
          </p:cNvSpPr>
          <p:nvPr>
            <p:ph type="ftr" sz="quarter" idx="11"/>
          </p:nvPr>
        </p:nvSpPr>
        <p:spPr>
          <a:xfrm>
            <a:off x="3124200" y="6580834"/>
            <a:ext cx="2895600" cy="277167"/>
          </a:xfrm>
          <a:prstGeom prst="rect">
            <a:avLst/>
          </a:prstGeom>
        </p:spPr>
        <p:txBody>
          <a:bodyPr/>
          <a:lstStyle>
            <a:lvl1pPr algn="ctr">
              <a:defRPr sz="600" baseline="0">
                <a:solidFill>
                  <a:srgbClr val="FFFFFF"/>
                </a:solidFill>
              </a:defRPr>
            </a:lvl1pPr>
          </a:lstStyle>
          <a:p>
            <a:r>
              <a:rPr lang="en-GB" noProof="0" dirty="0"/>
              <a:t>Chalmers University of Technology</a:t>
            </a:r>
          </a:p>
        </p:txBody>
      </p:sp>
      <p:sp>
        <p:nvSpPr>
          <p:cNvPr id="15" name="Slide Number Placeholder 5"/>
          <p:cNvSpPr>
            <a:spLocks noGrp="1"/>
          </p:cNvSpPr>
          <p:nvPr>
            <p:ph type="sldNum" sz="quarter" idx="12"/>
          </p:nvPr>
        </p:nvSpPr>
        <p:spPr>
          <a:xfrm>
            <a:off x="6553200" y="6580834"/>
            <a:ext cx="2133600" cy="277167"/>
          </a:xfrm>
          <a:prstGeom prst="rect">
            <a:avLst/>
          </a:prstGeom>
        </p:spPr>
        <p:txBody>
          <a:bodyPr/>
          <a:lstStyle>
            <a:lvl1pPr algn="r">
              <a:defRPr sz="600" baseline="0">
                <a:solidFill>
                  <a:schemeClr val="bg1"/>
                </a:solidFill>
              </a:defRPr>
            </a:lvl1pPr>
          </a:lstStyle>
          <a:p>
            <a:fld id="{344E8EA3-C3DD-5544-8A1C-EA00A1673D37}" type="slidenum">
              <a:rPr lang="sv-SE" smtClean="0"/>
              <a:pPr/>
              <a:t>‹#›</a:t>
            </a:fld>
            <a:endParaRPr lang="sv-SE" dirty="0"/>
          </a:p>
        </p:txBody>
      </p:sp>
      <p:sp>
        <p:nvSpPr>
          <p:cNvPr id="16" name="Title 1"/>
          <p:cNvSpPr>
            <a:spLocks noGrp="1"/>
          </p:cNvSpPr>
          <p:nvPr>
            <p:ph type="title" hasCustomPrompt="1"/>
          </p:nvPr>
        </p:nvSpPr>
        <p:spPr>
          <a:xfrm>
            <a:off x="468891" y="818672"/>
            <a:ext cx="5875349" cy="1218285"/>
          </a:xfrm>
          <a:prstGeom prst="rect">
            <a:avLst/>
          </a:prstGeom>
        </p:spPr>
        <p:txBody>
          <a:bodyPr>
            <a:normAutofit/>
          </a:bodyPr>
          <a:lstStyle>
            <a:lvl1pPr>
              <a:lnSpc>
                <a:spcPts val="3900"/>
              </a:lnSpc>
              <a:defRPr sz="3600" b="1" kern="900" cap="all" spc="-150" baseline="0">
                <a:solidFill>
                  <a:schemeClr val="tx1"/>
                </a:solidFill>
              </a:defRPr>
            </a:lvl1pPr>
          </a:lstStyle>
          <a:p>
            <a:r>
              <a:rPr lang="en-GB" noProof="0" dirty="0"/>
              <a:t>Headline</a:t>
            </a:r>
            <a:endParaRPr lang="en-GB" dirty="0"/>
          </a:p>
        </p:txBody>
      </p:sp>
      <p:sp>
        <p:nvSpPr>
          <p:cNvPr id="17" name="Content Placeholder 2"/>
          <p:cNvSpPr>
            <a:spLocks noGrp="1"/>
          </p:cNvSpPr>
          <p:nvPr>
            <p:ph idx="13" hasCustomPrompt="1"/>
          </p:nvPr>
        </p:nvSpPr>
        <p:spPr>
          <a:xfrm>
            <a:off x="468891" y="2279171"/>
            <a:ext cx="5875349" cy="4206471"/>
          </a:xfrm>
          <a:prstGeom prst="rect">
            <a:avLst/>
          </a:prstGeom>
        </p:spPr>
        <p:txBody>
          <a:bodyPr/>
          <a:lstStyle>
            <a:lvl1pPr>
              <a:defRPr sz="2600" baseline="0">
                <a:solidFill>
                  <a:schemeClr val="tx1"/>
                </a:solidFill>
              </a:defRPr>
            </a:lvl1pPr>
            <a:lvl2pPr>
              <a:defRPr sz="2200" baseline="0">
                <a:solidFill>
                  <a:schemeClr val="tx1"/>
                </a:solidFill>
              </a:defRPr>
            </a:lvl2pPr>
            <a:lvl3pPr>
              <a:defRPr sz="1800" baseline="0">
                <a:solidFill>
                  <a:schemeClr val="tx1"/>
                </a:solidFill>
              </a:defRPr>
            </a:lvl3pPr>
            <a:lvl4pPr>
              <a:defRPr sz="1600" baseline="0">
                <a:solidFill>
                  <a:schemeClr val="tx1"/>
                </a:solidFill>
              </a:defRPr>
            </a:lvl4pPr>
            <a:lvl5pPr>
              <a:defRPr sz="1400" baseline="0">
                <a:solidFill>
                  <a:schemeClr val="tx1"/>
                </a:solidFill>
              </a:defRPr>
            </a:lvl5pPr>
          </a:lstStyle>
          <a:p>
            <a:pPr lvl="0"/>
            <a:r>
              <a:rPr lang="en-GB" noProof="0" dirty="0"/>
              <a:t>List </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a:p>
            <a:pPr lvl="5"/>
            <a:r>
              <a:rPr lang="en-GB" sz="1000" baseline="0" noProof="0" dirty="0"/>
              <a:t>Sixth level</a:t>
            </a:r>
            <a:endParaRPr lang="en-GB" noProof="0" dirty="0"/>
          </a:p>
        </p:txBody>
      </p:sp>
    </p:spTree>
    <p:extLst>
      <p:ext uri="{BB962C8B-B14F-4D97-AF65-F5344CB8AC3E}">
        <p14:creationId xmlns:p14="http://schemas.microsoft.com/office/powerpoint/2010/main" val="1153115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10"/>
          <p:cNvSpPr>
            <a:spLocks noGrp="1" noChangeArrowheads="1"/>
          </p:cNvSpPr>
          <p:nvPr>
            <p:ph type="title"/>
          </p:nvPr>
        </p:nvSpPr>
        <p:spPr bwMode="auto">
          <a:xfrm>
            <a:off x="0" y="838200"/>
            <a:ext cx="91440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sv-SE"/>
              <a:t>Klicka här för att ändra format</a:t>
            </a:r>
          </a:p>
        </p:txBody>
      </p:sp>
      <p:sp>
        <p:nvSpPr>
          <p:cNvPr id="1028" name="Rectangle 11"/>
          <p:cNvSpPr>
            <a:spLocks noGrp="1" noChangeArrowheads="1"/>
          </p:cNvSpPr>
          <p:nvPr>
            <p:ph type="body" idx="1"/>
          </p:nvPr>
        </p:nvSpPr>
        <p:spPr bwMode="auto">
          <a:xfrm>
            <a:off x="685800" y="1981200"/>
            <a:ext cx="7772400" cy="449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pic>
        <p:nvPicPr>
          <p:cNvPr id="10" name="Bildobjekt 9" descr="Chalmers Univ logo_svart.emf"/>
          <p:cNvPicPr>
            <a:picLocks noChangeAspect="1"/>
          </p:cNvPicPr>
          <p:nvPr/>
        </p:nvPicPr>
        <p:blipFill>
          <a:blip r:embed="rId14"/>
          <a:stretch>
            <a:fillRect/>
          </a:stretch>
        </p:blipFill>
        <p:spPr>
          <a:xfrm>
            <a:off x="323528" y="170728"/>
            <a:ext cx="1105544" cy="213446"/>
          </a:xfrm>
          <a:prstGeom prst="rect">
            <a:avLst/>
          </a:prstGeom>
        </p:spPr>
      </p:pic>
      <p:cxnSp>
        <p:nvCxnSpPr>
          <p:cNvPr id="12" name="Rak 11"/>
          <p:cNvCxnSpPr/>
          <p:nvPr/>
        </p:nvCxnSpPr>
        <p:spPr bwMode="auto">
          <a:xfrm>
            <a:off x="0" y="457200"/>
            <a:ext cx="9144000" cy="1588"/>
          </a:xfrm>
          <a:prstGeom prst="line">
            <a:avLst/>
          </a:prstGeom>
          <a:solidFill>
            <a:schemeClr val="accent1"/>
          </a:solidFill>
          <a:ln w="3175" cap="flat" cmpd="sng" algn="ctr">
            <a:solidFill>
              <a:schemeClr val="bg2">
                <a:lumMod val="40000"/>
                <a:lumOff val="60000"/>
              </a:schemeClr>
            </a:solidFill>
            <a:prstDash val="solid"/>
            <a:round/>
            <a:headEnd type="none" w="med" len="med"/>
            <a:tailEnd type="none" w="med" len="med"/>
          </a:ln>
          <a:effectLst/>
        </p:spPr>
      </p:cxnSp>
      <p:pic>
        <p:nvPicPr>
          <p:cNvPr id="9" name="Bildobjekt 8" descr="Logo GUeng_leftSV.jpg"/>
          <p:cNvPicPr>
            <a:picLocks noChangeAspect="1"/>
          </p:cNvPicPr>
          <p:nvPr/>
        </p:nvPicPr>
        <p:blipFill>
          <a:blip r:embed="rId15"/>
          <a:stretch>
            <a:fillRect/>
          </a:stretch>
        </p:blipFill>
        <p:spPr>
          <a:xfrm>
            <a:off x="1835696" y="63653"/>
            <a:ext cx="2549834" cy="341012"/>
          </a:xfrm>
          <a:prstGeom prst="rect">
            <a:avLst/>
          </a:prstGeom>
        </p:spPr>
      </p:pic>
      <p:cxnSp>
        <p:nvCxnSpPr>
          <p:cNvPr id="13" name="Rak 12"/>
          <p:cNvCxnSpPr/>
          <p:nvPr/>
        </p:nvCxnSpPr>
        <p:spPr bwMode="auto">
          <a:xfrm rot="5400000">
            <a:off x="1527249" y="240234"/>
            <a:ext cx="184448" cy="397"/>
          </a:xfrm>
          <a:prstGeom prst="line">
            <a:avLst/>
          </a:prstGeom>
          <a:solidFill>
            <a:schemeClr val="accent1"/>
          </a:solidFill>
          <a:ln w="6350" cap="flat" cmpd="sng" algn="ctr">
            <a:solidFill>
              <a:schemeClr val="tx1"/>
            </a:solidFill>
            <a:prstDash val="solid"/>
            <a:round/>
            <a:headEnd type="none" w="med" len="med"/>
            <a:tailEnd type="none" w="med" len="med"/>
          </a:ln>
          <a:effectLst/>
        </p:spPr>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1" fontAlgn="base" hangingPunct="1">
        <a:spcBef>
          <a:spcPct val="0"/>
        </a:spcBef>
        <a:spcAft>
          <a:spcPct val="0"/>
        </a:spcAft>
        <a:defRPr sz="4000" b="1">
          <a:solidFill>
            <a:schemeClr val="tx1"/>
          </a:solidFill>
          <a:latin typeface="+mj-lt"/>
          <a:ea typeface="ＭＳ Ｐゴシック" pitchFamily="96" charset="-128"/>
          <a:cs typeface="Akzidenz-Bd for Chalmers"/>
        </a:defRPr>
      </a:lvl1pPr>
      <a:lvl2pPr algn="ctr" rtl="0" eaLnBrk="1" fontAlgn="base" hangingPunct="1">
        <a:spcBef>
          <a:spcPct val="0"/>
        </a:spcBef>
        <a:spcAft>
          <a:spcPct val="0"/>
        </a:spcAft>
        <a:defRPr sz="4000">
          <a:solidFill>
            <a:schemeClr val="bg1"/>
          </a:solidFill>
          <a:latin typeface="Arial Black" pitchFamily="68" charset="0"/>
          <a:ea typeface="ＭＳ Ｐゴシック" pitchFamily="96" charset="-128"/>
          <a:cs typeface="ＭＳ Ｐゴシック" pitchFamily="96" charset="-128"/>
        </a:defRPr>
      </a:lvl2pPr>
      <a:lvl3pPr algn="ctr" rtl="0" eaLnBrk="1" fontAlgn="base" hangingPunct="1">
        <a:spcBef>
          <a:spcPct val="0"/>
        </a:spcBef>
        <a:spcAft>
          <a:spcPct val="0"/>
        </a:spcAft>
        <a:defRPr sz="4000">
          <a:solidFill>
            <a:schemeClr val="bg1"/>
          </a:solidFill>
          <a:latin typeface="Arial Black" pitchFamily="68" charset="0"/>
          <a:ea typeface="ＭＳ Ｐゴシック" pitchFamily="96" charset="-128"/>
          <a:cs typeface="ＭＳ Ｐゴシック" pitchFamily="96" charset="-128"/>
        </a:defRPr>
      </a:lvl3pPr>
      <a:lvl4pPr algn="ctr" rtl="0" eaLnBrk="1" fontAlgn="base" hangingPunct="1">
        <a:spcBef>
          <a:spcPct val="0"/>
        </a:spcBef>
        <a:spcAft>
          <a:spcPct val="0"/>
        </a:spcAft>
        <a:defRPr sz="4000">
          <a:solidFill>
            <a:schemeClr val="bg1"/>
          </a:solidFill>
          <a:latin typeface="Arial Black" pitchFamily="68" charset="0"/>
          <a:ea typeface="ＭＳ Ｐゴシック" pitchFamily="96" charset="-128"/>
          <a:cs typeface="ＭＳ Ｐゴシック" pitchFamily="96" charset="-128"/>
        </a:defRPr>
      </a:lvl4pPr>
      <a:lvl5pPr algn="ctr" rtl="0" eaLnBrk="1" fontAlgn="base" hangingPunct="1">
        <a:spcBef>
          <a:spcPct val="0"/>
        </a:spcBef>
        <a:spcAft>
          <a:spcPct val="0"/>
        </a:spcAft>
        <a:defRPr sz="4000">
          <a:solidFill>
            <a:schemeClr val="bg1"/>
          </a:solidFill>
          <a:latin typeface="Arial Black" pitchFamily="68" charset="0"/>
          <a:ea typeface="ＭＳ Ｐゴシック" pitchFamily="96" charset="-128"/>
          <a:cs typeface="ＭＳ Ｐゴシック" pitchFamily="96" charset="-128"/>
        </a:defRPr>
      </a:lvl5pPr>
      <a:lvl6pPr marL="457200" algn="ctr" rtl="0" eaLnBrk="1" fontAlgn="base" hangingPunct="1">
        <a:spcBef>
          <a:spcPct val="0"/>
        </a:spcBef>
        <a:spcAft>
          <a:spcPct val="0"/>
        </a:spcAft>
        <a:defRPr sz="4000">
          <a:solidFill>
            <a:schemeClr val="bg1"/>
          </a:solidFill>
          <a:latin typeface="Arial Black" pitchFamily="68" charset="0"/>
        </a:defRPr>
      </a:lvl6pPr>
      <a:lvl7pPr marL="914400" algn="ctr" rtl="0" eaLnBrk="1" fontAlgn="base" hangingPunct="1">
        <a:spcBef>
          <a:spcPct val="0"/>
        </a:spcBef>
        <a:spcAft>
          <a:spcPct val="0"/>
        </a:spcAft>
        <a:defRPr sz="4000">
          <a:solidFill>
            <a:schemeClr val="bg1"/>
          </a:solidFill>
          <a:latin typeface="Arial Black" pitchFamily="68" charset="0"/>
        </a:defRPr>
      </a:lvl7pPr>
      <a:lvl8pPr marL="1371600" algn="ctr" rtl="0" eaLnBrk="1" fontAlgn="base" hangingPunct="1">
        <a:spcBef>
          <a:spcPct val="0"/>
        </a:spcBef>
        <a:spcAft>
          <a:spcPct val="0"/>
        </a:spcAft>
        <a:defRPr sz="4000">
          <a:solidFill>
            <a:schemeClr val="bg1"/>
          </a:solidFill>
          <a:latin typeface="Arial Black" pitchFamily="68" charset="0"/>
        </a:defRPr>
      </a:lvl8pPr>
      <a:lvl9pPr marL="1828800" algn="ctr" rtl="0" eaLnBrk="1" fontAlgn="base" hangingPunct="1">
        <a:spcBef>
          <a:spcPct val="0"/>
        </a:spcBef>
        <a:spcAft>
          <a:spcPct val="0"/>
        </a:spcAft>
        <a:defRPr sz="4000">
          <a:solidFill>
            <a:schemeClr val="bg1"/>
          </a:solidFill>
          <a:latin typeface="Arial Black" pitchFamily="68" charset="0"/>
        </a:defRPr>
      </a:lvl9pPr>
    </p:titleStyle>
    <p:bodyStyle>
      <a:lvl1pPr marL="342900" indent="-342900" algn="l" rtl="0" eaLnBrk="1" fontAlgn="base" hangingPunct="1">
        <a:spcBef>
          <a:spcPct val="20000"/>
        </a:spcBef>
        <a:spcAft>
          <a:spcPct val="0"/>
        </a:spcAft>
        <a:buClr>
          <a:srgbClr val="FF0000"/>
        </a:buClr>
        <a:buSzPct val="150000"/>
        <a:buChar char="•"/>
        <a:defRPr sz="2000" b="0" i="0">
          <a:solidFill>
            <a:schemeClr val="tx1"/>
          </a:solidFill>
          <a:latin typeface="+mn-lt"/>
          <a:ea typeface="ＭＳ Ｐゴシック" pitchFamily="96" charset="-128"/>
          <a:cs typeface="Akzidenz for Chalmers Regular"/>
        </a:defRPr>
      </a:lvl1pPr>
      <a:lvl2pPr marL="742950" indent="-285750" algn="l" rtl="0" eaLnBrk="1" fontAlgn="base" hangingPunct="1">
        <a:spcBef>
          <a:spcPct val="20000"/>
        </a:spcBef>
        <a:spcAft>
          <a:spcPct val="0"/>
        </a:spcAft>
        <a:buClr>
          <a:srgbClr val="FF0000"/>
        </a:buClr>
        <a:buSzPct val="150000"/>
        <a:buChar char="–"/>
        <a:defRPr sz="2000" b="0" i="0">
          <a:solidFill>
            <a:schemeClr val="tx1"/>
          </a:solidFill>
          <a:latin typeface="+mn-lt"/>
          <a:ea typeface="ＭＳ Ｐゴシック" pitchFamily="68" charset="-128"/>
          <a:cs typeface="Akzidenz for Chalmers Regular"/>
        </a:defRPr>
      </a:lvl2pPr>
      <a:lvl3pPr marL="1143000" indent="-228600" algn="l" rtl="0" eaLnBrk="1" fontAlgn="base" hangingPunct="1">
        <a:spcBef>
          <a:spcPct val="20000"/>
        </a:spcBef>
        <a:spcAft>
          <a:spcPct val="0"/>
        </a:spcAft>
        <a:buClr>
          <a:srgbClr val="FF0000"/>
        </a:buClr>
        <a:buSzPct val="150000"/>
        <a:buChar char="•"/>
        <a:defRPr sz="2000" b="0" i="0">
          <a:solidFill>
            <a:schemeClr val="tx1"/>
          </a:solidFill>
          <a:latin typeface="+mn-lt"/>
          <a:ea typeface="ＭＳ Ｐゴシック" pitchFamily="68" charset="-128"/>
          <a:cs typeface="Akzidenz for Chalmers Regular"/>
        </a:defRPr>
      </a:lvl3pPr>
      <a:lvl4pPr marL="1600200" indent="-228600" algn="l" rtl="0" eaLnBrk="1" fontAlgn="base" hangingPunct="1">
        <a:spcBef>
          <a:spcPct val="20000"/>
        </a:spcBef>
        <a:spcAft>
          <a:spcPct val="0"/>
        </a:spcAft>
        <a:buClr>
          <a:srgbClr val="FF0000"/>
        </a:buClr>
        <a:buSzPct val="150000"/>
        <a:buChar char="–"/>
        <a:defRPr sz="2000" b="0" i="0">
          <a:solidFill>
            <a:schemeClr val="tx1"/>
          </a:solidFill>
          <a:latin typeface="+mn-lt"/>
          <a:ea typeface="ＭＳ Ｐゴシック" pitchFamily="68" charset="-128"/>
          <a:cs typeface="Akzidenz for Chalmers Regular"/>
        </a:defRPr>
      </a:lvl4pPr>
      <a:lvl5pPr marL="2057400" indent="-228600" algn="l" rtl="0" eaLnBrk="1" fontAlgn="base" hangingPunct="1">
        <a:spcBef>
          <a:spcPct val="20000"/>
        </a:spcBef>
        <a:spcAft>
          <a:spcPct val="0"/>
        </a:spcAft>
        <a:buClr>
          <a:srgbClr val="FF0000"/>
        </a:buClr>
        <a:buSzPct val="150000"/>
        <a:buChar char="»"/>
        <a:defRPr sz="2000" b="0" i="0">
          <a:solidFill>
            <a:schemeClr val="tx1"/>
          </a:solidFill>
          <a:latin typeface="+mn-lt"/>
          <a:ea typeface="ＭＳ Ｐゴシック" pitchFamily="68" charset="-128"/>
          <a:cs typeface="Akzidenz for Chalmers Regular"/>
        </a:defRPr>
      </a:lvl5pPr>
      <a:lvl6pPr marL="2514600" indent="-228600" algn="l" rtl="0" eaLnBrk="1" fontAlgn="base" hangingPunct="1">
        <a:spcBef>
          <a:spcPct val="20000"/>
        </a:spcBef>
        <a:spcAft>
          <a:spcPct val="0"/>
        </a:spcAft>
        <a:buClr>
          <a:srgbClr val="FF0000"/>
        </a:buClr>
        <a:buSzPct val="150000"/>
        <a:buChar char="»"/>
        <a:defRPr sz="2000">
          <a:solidFill>
            <a:schemeClr val="tx1"/>
          </a:solidFill>
          <a:latin typeface="+mn-lt"/>
          <a:ea typeface="ＭＳ Ｐゴシック" pitchFamily="68" charset="-128"/>
        </a:defRPr>
      </a:lvl6pPr>
      <a:lvl7pPr marL="2971800" indent="-228600" algn="l" rtl="0" eaLnBrk="1" fontAlgn="base" hangingPunct="1">
        <a:spcBef>
          <a:spcPct val="20000"/>
        </a:spcBef>
        <a:spcAft>
          <a:spcPct val="0"/>
        </a:spcAft>
        <a:buClr>
          <a:srgbClr val="FF0000"/>
        </a:buClr>
        <a:buSzPct val="150000"/>
        <a:buChar char="»"/>
        <a:defRPr sz="2000">
          <a:solidFill>
            <a:schemeClr val="tx1"/>
          </a:solidFill>
          <a:latin typeface="+mn-lt"/>
          <a:ea typeface="ＭＳ Ｐゴシック" pitchFamily="68" charset="-128"/>
        </a:defRPr>
      </a:lvl7pPr>
      <a:lvl8pPr marL="3429000" indent="-228600" algn="l" rtl="0" eaLnBrk="1" fontAlgn="base" hangingPunct="1">
        <a:spcBef>
          <a:spcPct val="20000"/>
        </a:spcBef>
        <a:spcAft>
          <a:spcPct val="0"/>
        </a:spcAft>
        <a:buClr>
          <a:srgbClr val="FF0000"/>
        </a:buClr>
        <a:buSzPct val="150000"/>
        <a:buChar char="»"/>
        <a:defRPr sz="2000">
          <a:solidFill>
            <a:schemeClr val="tx1"/>
          </a:solidFill>
          <a:latin typeface="+mn-lt"/>
          <a:ea typeface="ＭＳ Ｐゴシック" pitchFamily="68" charset="-128"/>
        </a:defRPr>
      </a:lvl8pPr>
      <a:lvl9pPr marL="3886200" indent="-228600" algn="l" rtl="0" eaLnBrk="1" fontAlgn="base" hangingPunct="1">
        <a:spcBef>
          <a:spcPct val="20000"/>
        </a:spcBef>
        <a:spcAft>
          <a:spcPct val="0"/>
        </a:spcAft>
        <a:buClr>
          <a:srgbClr val="FF0000"/>
        </a:buClr>
        <a:buSzPct val="150000"/>
        <a:buChar char="»"/>
        <a:defRPr sz="2000">
          <a:solidFill>
            <a:schemeClr val="tx1"/>
          </a:solidFill>
          <a:latin typeface="+mn-lt"/>
          <a:ea typeface="ＭＳ Ｐゴシック" pitchFamily="68" charset="-128"/>
        </a:defRPr>
      </a:lvl9pPr>
    </p:bodyStyle>
    <p:other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www.computer.org/tab/seprof/code.htm"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elgoog.im/guitar/"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764704"/>
            <a:ext cx="7772400" cy="1470025"/>
          </a:xfrm>
        </p:spPr>
        <p:txBody>
          <a:bodyPr/>
          <a:lstStyle/>
          <a:p>
            <a:r>
              <a:rPr lang="en-GB" dirty="0"/>
              <a:t>Ethics in research and studies</a:t>
            </a:r>
          </a:p>
        </p:txBody>
      </p:sp>
      <p:sp>
        <p:nvSpPr>
          <p:cNvPr id="2051" name="Rectangle 3"/>
          <p:cNvSpPr>
            <a:spLocks noGrp="1" noChangeArrowheads="1"/>
          </p:cNvSpPr>
          <p:nvPr>
            <p:ph type="subTitle" idx="1"/>
          </p:nvPr>
        </p:nvSpPr>
        <p:spPr>
          <a:xfrm>
            <a:off x="1371600" y="2234729"/>
            <a:ext cx="6400800" cy="1752600"/>
          </a:xfrm>
        </p:spPr>
        <p:txBody>
          <a:bodyPr/>
          <a:lstStyle/>
          <a:p>
            <a:pPr>
              <a:lnSpc>
                <a:spcPct val="80000"/>
              </a:lnSpc>
            </a:pPr>
            <a:r>
              <a:rPr lang="en-GB" sz="1600" dirty="0"/>
              <a:t>Richard Torkar</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3688" y="2441079"/>
            <a:ext cx="5889228" cy="4416921"/>
          </a:xfrm>
          <a:prstGeom prst="rect">
            <a:avLst/>
          </a:prstGeom>
        </p:spPr>
      </p:pic>
      <p:sp>
        <p:nvSpPr>
          <p:cNvPr id="3" name="Rectangle 2"/>
          <p:cNvSpPr/>
          <p:nvPr/>
        </p:nvSpPr>
        <p:spPr bwMode="auto">
          <a:xfrm>
            <a:off x="1619672" y="2636912"/>
            <a:ext cx="6033244" cy="648072"/>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68" charset="0"/>
            </a:endParaRPr>
          </a:p>
        </p:txBody>
      </p:sp>
    </p:spTree>
    <p:extLst>
      <p:ext uri="{BB962C8B-B14F-4D97-AF65-F5344CB8AC3E}">
        <p14:creationId xmlns:p14="http://schemas.microsoft.com/office/powerpoint/2010/main" val="2856527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latshållare för bild 6" descr="En bild som visar person, inomhus, kläder, person&#10;&#10;Automatiskt genererad beskrivning">
            <a:extLst>
              <a:ext uri="{FF2B5EF4-FFF2-40B4-BE49-F238E27FC236}">
                <a16:creationId xmlns:a16="http://schemas.microsoft.com/office/drawing/2014/main" id="{50B62A3D-447E-7345-A82E-986EDB83B7B7}"/>
              </a:ext>
            </a:extLst>
          </p:cNvPr>
          <p:cNvPicPr>
            <a:picLocks noGrp="1" noChangeAspect="1"/>
          </p:cNvPicPr>
          <p:nvPr>
            <p:ph type="pic" idx="1"/>
          </p:nvPr>
        </p:nvPicPr>
        <p:blipFill>
          <a:blip r:embed="rId2"/>
          <a:srcRect l="16195" r="16195"/>
          <a:stretch>
            <a:fillRect/>
          </a:stretch>
        </p:blipFill>
        <p:spPr>
          <a:xfrm>
            <a:off x="6344240" y="1638616"/>
            <a:ext cx="2526839" cy="4400712"/>
          </a:xfrm>
        </p:spPr>
      </p:pic>
      <p:sp>
        <p:nvSpPr>
          <p:cNvPr id="2" name="Title 1">
            <a:extLst>
              <a:ext uri="{FF2B5EF4-FFF2-40B4-BE49-F238E27FC236}">
                <a16:creationId xmlns:a16="http://schemas.microsoft.com/office/drawing/2014/main" id="{EE4E6DC7-A340-064E-A560-EDF27BC95BE3}"/>
              </a:ext>
            </a:extLst>
          </p:cNvPr>
          <p:cNvSpPr>
            <a:spLocks noGrp="1"/>
          </p:cNvSpPr>
          <p:nvPr>
            <p:ph type="title"/>
          </p:nvPr>
        </p:nvSpPr>
        <p:spPr/>
        <p:txBody>
          <a:bodyPr wrap="square" anchor="ctr">
            <a:normAutofit/>
          </a:bodyPr>
          <a:lstStyle/>
          <a:p>
            <a:r>
              <a:rPr lang="en-US" dirty="0"/>
              <a:t>Me, myself and I</a:t>
            </a:r>
          </a:p>
        </p:txBody>
      </p:sp>
      <p:sp>
        <p:nvSpPr>
          <p:cNvPr id="3" name="Content Placeholder 2">
            <a:extLst>
              <a:ext uri="{FF2B5EF4-FFF2-40B4-BE49-F238E27FC236}">
                <a16:creationId xmlns:a16="http://schemas.microsoft.com/office/drawing/2014/main" id="{5629D85C-613E-6549-90A8-A8BB4DDA249D}"/>
              </a:ext>
            </a:extLst>
          </p:cNvPr>
          <p:cNvSpPr>
            <a:spLocks noGrp="1"/>
          </p:cNvSpPr>
          <p:nvPr>
            <p:ph idx="13"/>
          </p:nvPr>
        </p:nvSpPr>
        <p:spPr/>
        <p:txBody>
          <a:bodyPr wrap="square" anchor="t">
            <a:normAutofit/>
          </a:bodyPr>
          <a:lstStyle/>
          <a:p>
            <a:pPr>
              <a:lnSpc>
                <a:spcPct val="90000"/>
              </a:lnSpc>
            </a:pPr>
            <a:r>
              <a:rPr lang="en-US" sz="1800" dirty="0"/>
              <a:t>Professor at the division of software engineering</a:t>
            </a:r>
          </a:p>
          <a:p>
            <a:pPr>
              <a:lnSpc>
                <a:spcPct val="90000"/>
              </a:lnSpc>
            </a:pPr>
            <a:r>
              <a:rPr lang="en-US" sz="1800" dirty="0"/>
              <a:t>Senator at Chalmers’ Faculty Senate</a:t>
            </a:r>
          </a:p>
          <a:p>
            <a:r>
              <a:rPr lang="en-US" sz="1800" dirty="0"/>
              <a:t>Head of the SE division</a:t>
            </a:r>
          </a:p>
          <a:p>
            <a:pPr>
              <a:lnSpc>
                <a:spcPct val="90000"/>
              </a:lnSpc>
            </a:pPr>
            <a:r>
              <a:rPr lang="en-US" sz="1800" dirty="0"/>
              <a:t>Research interests mainly lay in software testing, Bayesian statistics, and human aspects in software engineering</a:t>
            </a:r>
          </a:p>
          <a:p>
            <a:pPr>
              <a:lnSpc>
                <a:spcPct val="90000"/>
              </a:lnSpc>
            </a:pPr>
            <a:r>
              <a:rPr lang="en-US" sz="1800" dirty="0"/>
              <a:t>Former officer in the Swedish Army</a:t>
            </a:r>
          </a:p>
          <a:p>
            <a:pPr>
              <a:lnSpc>
                <a:spcPct val="90000"/>
              </a:lnSpc>
            </a:pPr>
            <a:r>
              <a:rPr lang="en-US" sz="1800" dirty="0"/>
              <a:t>Have founded or co-funded six companies</a:t>
            </a:r>
          </a:p>
          <a:p>
            <a:pPr>
              <a:lnSpc>
                <a:spcPct val="90000"/>
              </a:lnSpc>
            </a:pPr>
            <a:r>
              <a:rPr lang="en-US" sz="1800" dirty="0"/>
              <a:t>Started at the computer science and engineering (CSE) department in 2013</a:t>
            </a:r>
          </a:p>
          <a:p>
            <a:pPr>
              <a:lnSpc>
                <a:spcPct val="90000"/>
              </a:lnSpc>
            </a:pPr>
            <a:r>
              <a:rPr lang="en-US" sz="1800" dirty="0"/>
              <a:t>Received my PhD in 2006</a:t>
            </a:r>
          </a:p>
        </p:txBody>
      </p:sp>
    </p:spTree>
    <p:extLst>
      <p:ext uri="{BB962C8B-B14F-4D97-AF65-F5344CB8AC3E}">
        <p14:creationId xmlns:p14="http://schemas.microsoft.com/office/powerpoint/2010/main" val="1073324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Definitions</a:t>
            </a:r>
          </a:p>
        </p:txBody>
      </p:sp>
      <p:sp>
        <p:nvSpPr>
          <p:cNvPr id="3" name="Content Placeholder 2"/>
          <p:cNvSpPr>
            <a:spLocks noGrp="1"/>
          </p:cNvSpPr>
          <p:nvPr>
            <p:ph idx="1"/>
          </p:nvPr>
        </p:nvSpPr>
        <p:spPr/>
        <p:txBody>
          <a:bodyPr/>
          <a:lstStyle/>
          <a:p>
            <a:r>
              <a:rPr lang="en-US" sz="2800" dirty="0"/>
              <a:t>Moral – practical and factual </a:t>
            </a:r>
            <a:br>
              <a:rPr lang="en-US" sz="2800" dirty="0"/>
            </a:br>
            <a:r>
              <a:rPr lang="en-US" sz="2800" dirty="0"/>
              <a:t>actions conducted by humans</a:t>
            </a:r>
            <a:br>
              <a:rPr lang="en-US" sz="2800" dirty="0"/>
            </a:br>
            <a:endParaRPr lang="en-US" sz="2800" dirty="0"/>
          </a:p>
          <a:p>
            <a:r>
              <a:rPr lang="en-US" sz="2800" dirty="0"/>
              <a:t>Ethics – systematic reflection of human actions, and the reason for said actions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2040" y="4279392"/>
            <a:ext cx="3962400" cy="219760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0872" y="524892"/>
            <a:ext cx="2672125" cy="2912616"/>
          </a:xfrm>
          <a:prstGeom prst="rect">
            <a:avLst/>
          </a:prstGeom>
        </p:spPr>
      </p:pic>
    </p:spTree>
    <p:extLst>
      <p:ext uri="{BB962C8B-B14F-4D97-AF65-F5344CB8AC3E}">
        <p14:creationId xmlns:p14="http://schemas.microsoft.com/office/powerpoint/2010/main" val="1155877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51" y="548680"/>
            <a:ext cx="9144000" cy="762000"/>
          </a:xfrm>
        </p:spPr>
        <p:txBody>
          <a:bodyPr/>
          <a:lstStyle/>
          <a:p>
            <a:r>
              <a:rPr lang="en-US" dirty="0"/>
              <a:t>Definitions (cont.)</a:t>
            </a:r>
          </a:p>
        </p:txBody>
      </p:sp>
      <p:pic>
        <p:nvPicPr>
          <p:cNvPr id="4" name="Content Placeholder 3" descr="Screen Shot 2015-09-28 at 10.47.09.png"/>
          <p:cNvPicPr>
            <a:picLocks noGrp="1" noChangeAspect="1"/>
          </p:cNvPicPr>
          <p:nvPr>
            <p:ph idx="1"/>
          </p:nvPr>
        </p:nvPicPr>
        <p:blipFill>
          <a:blip r:embed="rId3">
            <a:extLst>
              <a:ext uri="{28A0092B-C50C-407E-A947-70E740481C1C}">
                <a14:useLocalDpi xmlns:a14="http://schemas.microsoft.com/office/drawing/2010/main" val="0"/>
              </a:ext>
            </a:extLst>
          </a:blip>
          <a:srcRect l="-39224" r="-39224"/>
          <a:stretch>
            <a:fillRect/>
          </a:stretch>
        </p:blipFill>
        <p:spPr>
          <a:xfrm>
            <a:off x="-108520" y="1268760"/>
            <a:ext cx="10009112" cy="5208240"/>
          </a:xfrm>
        </p:spPr>
      </p:pic>
    </p:spTree>
    <p:extLst>
      <p:ext uri="{BB962C8B-B14F-4D97-AF65-F5344CB8AC3E}">
        <p14:creationId xmlns:p14="http://schemas.microsoft.com/office/powerpoint/2010/main" val="3706326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p:txBody>
          <a:bodyPr/>
          <a:lstStyle/>
          <a:p>
            <a:r>
              <a:rPr lang="en-GB" dirty="0"/>
              <a:t>Rules of Conduct</a:t>
            </a:r>
          </a:p>
          <a:p>
            <a:pPr lvl="1"/>
            <a:r>
              <a:rPr lang="en-GB" dirty="0"/>
              <a:t>What is permitted</a:t>
            </a:r>
          </a:p>
          <a:p>
            <a:pPr lvl="1"/>
            <a:endParaRPr lang="en-GB" dirty="0"/>
          </a:p>
          <a:p>
            <a:pPr lvl="1"/>
            <a:endParaRPr lang="en-GB" dirty="0"/>
          </a:p>
          <a:p>
            <a:r>
              <a:rPr lang="en-GB" dirty="0"/>
              <a:t>What research should be done?</a:t>
            </a:r>
          </a:p>
          <a:p>
            <a:r>
              <a:rPr lang="en-GB" dirty="0"/>
              <a:t>How should research/assignments be conducted?</a:t>
            </a:r>
          </a:p>
          <a:p>
            <a:r>
              <a:rPr lang="en-GB" dirty="0"/>
              <a:t>How should research/assignments be reported?</a:t>
            </a:r>
          </a:p>
          <a:p>
            <a:endParaRPr lang="en-GB" dirty="0"/>
          </a:p>
          <a:p>
            <a:r>
              <a:rPr lang="en-GB" dirty="0"/>
              <a:t>Sometimes summarised in </a:t>
            </a:r>
            <a:r>
              <a:rPr lang="en-GB" i="1" dirty="0"/>
              <a:t>Codes of Ethics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7904" y="476671"/>
            <a:ext cx="5112568" cy="2840315"/>
          </a:xfrm>
          <a:prstGeom prst="rect">
            <a:avLst/>
          </a:prstGeom>
        </p:spPr>
      </p:pic>
    </p:spTree>
    <p:extLst>
      <p:ext uri="{BB962C8B-B14F-4D97-AF65-F5344CB8AC3E}">
        <p14:creationId xmlns:p14="http://schemas.microsoft.com/office/powerpoint/2010/main" val="4091342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GB"/>
              <a:t>What research should be done?</a:t>
            </a:r>
          </a:p>
        </p:txBody>
      </p:sp>
      <p:sp>
        <p:nvSpPr>
          <p:cNvPr id="8195" name="Rectangle 3"/>
          <p:cNvSpPr>
            <a:spLocks noGrp="1" noChangeArrowheads="1"/>
          </p:cNvSpPr>
          <p:nvPr>
            <p:ph type="body" idx="1"/>
          </p:nvPr>
        </p:nvSpPr>
        <p:spPr/>
        <p:txBody>
          <a:bodyPr>
            <a:normAutofit lnSpcReduction="10000"/>
          </a:bodyPr>
          <a:lstStyle/>
          <a:p>
            <a:pPr>
              <a:lnSpc>
                <a:spcPct val="90000"/>
              </a:lnSpc>
            </a:pPr>
            <a:r>
              <a:rPr lang="en-GB" sz="2800" dirty="0"/>
              <a:t>There is no such thing as perfectly ethical research</a:t>
            </a:r>
          </a:p>
          <a:p>
            <a:pPr lvl="1">
              <a:lnSpc>
                <a:spcPct val="90000"/>
              </a:lnSpc>
            </a:pPr>
            <a:r>
              <a:rPr lang="en-US" sz="1400" dirty="0"/>
              <a:t>This is because you're using the most powerful tools science has to offer in getting at truth or some needed change, and with your results, somebody's going to be proven wrong or lose out in the power struggle.</a:t>
            </a:r>
          </a:p>
          <a:p>
            <a:pPr>
              <a:lnSpc>
                <a:spcPct val="90000"/>
              </a:lnSpc>
            </a:pPr>
            <a:r>
              <a:rPr lang="en-GB" sz="2800" dirty="0"/>
              <a:t>There is no such thing as totally harmless research</a:t>
            </a:r>
          </a:p>
          <a:p>
            <a:pPr lvl="1">
              <a:lnSpc>
                <a:spcPct val="90000"/>
              </a:lnSpc>
            </a:pPr>
            <a:r>
              <a:rPr lang="en-US" sz="1400" dirty="0"/>
              <a:t>Research is all about power and sometimes creating inequalities where a placid consensus may have existed before. </a:t>
            </a:r>
          </a:p>
          <a:p>
            <a:pPr lvl="1">
              <a:lnSpc>
                <a:spcPct val="90000"/>
              </a:lnSpc>
            </a:pPr>
            <a:r>
              <a:rPr lang="en-US" sz="1400" dirty="0"/>
              <a:t>Somebody, usually your subjects, is going to be harmed, either psychologically, socially, physically, or economically. </a:t>
            </a:r>
          </a:p>
          <a:p>
            <a:pPr lvl="1">
              <a:lnSpc>
                <a:spcPct val="90000"/>
              </a:lnSpc>
            </a:pPr>
            <a:r>
              <a:rPr lang="en-US" sz="1400" dirty="0"/>
              <a:t>Their privacy is, and should be, invaded to get any useful information (why do research on the obvious, surface characteristics of people?), and this is psychological harm. </a:t>
            </a:r>
          </a:p>
          <a:p>
            <a:pPr lvl="1">
              <a:lnSpc>
                <a:spcPct val="90000"/>
              </a:lnSpc>
            </a:pPr>
            <a:r>
              <a:rPr lang="en-US" sz="1400" dirty="0"/>
              <a:t>Socially and physically, you're harming them by taking up their time with your silly research, and economically, you're exploiting them by not paying them for their contribution. </a:t>
            </a:r>
          </a:p>
          <a:p>
            <a:pPr lvl="1">
              <a:lnSpc>
                <a:spcPct val="90000"/>
              </a:lnSpc>
            </a:pPr>
            <a:r>
              <a:rPr lang="en-US" sz="1400" dirty="0"/>
              <a:t>You, the researcher, will go on and become famous writing a book about them, but they will always remain lowly research subjects. </a:t>
            </a:r>
          </a:p>
        </p:txBody>
      </p:sp>
    </p:spTree>
    <p:extLst>
      <p:ext uri="{BB962C8B-B14F-4D97-AF65-F5344CB8AC3E}">
        <p14:creationId xmlns:p14="http://schemas.microsoft.com/office/powerpoint/2010/main" val="3141148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GB" dirty="0"/>
              <a:t>Ethical Models</a:t>
            </a:r>
          </a:p>
        </p:txBody>
      </p:sp>
      <p:sp>
        <p:nvSpPr>
          <p:cNvPr id="12291" name="Rectangle 3"/>
          <p:cNvSpPr>
            <a:spLocks noGrp="1" noChangeArrowheads="1"/>
          </p:cNvSpPr>
          <p:nvPr>
            <p:ph type="body" idx="1"/>
          </p:nvPr>
        </p:nvSpPr>
        <p:spPr/>
        <p:txBody>
          <a:bodyPr/>
          <a:lstStyle/>
          <a:p>
            <a:pPr>
              <a:lnSpc>
                <a:spcPct val="80000"/>
              </a:lnSpc>
            </a:pPr>
            <a:r>
              <a:rPr lang="en-IE" sz="1600" b="1" dirty="0"/>
              <a:t>The Value-Free Model</a:t>
            </a:r>
            <a:r>
              <a:rPr lang="en-IE" sz="1600" dirty="0"/>
              <a:t> -- the idea here is that rigorous research will yield results that can be used for anyone's benefit, for good or evil, for better or worse, and that in the long run, good will win out over evil if researchers adhere to methodological rigor and consistency </a:t>
            </a:r>
          </a:p>
          <a:p>
            <a:pPr>
              <a:lnSpc>
                <a:spcPct val="80000"/>
              </a:lnSpc>
            </a:pPr>
            <a:r>
              <a:rPr lang="en-IE" sz="1600" b="1" dirty="0"/>
              <a:t>The Social Problems Model</a:t>
            </a:r>
            <a:r>
              <a:rPr lang="en-IE" sz="1600" dirty="0"/>
              <a:t> -- the idea here is that research is problem solving, all about understanding the world we live in a little better so that we can modify it toward some greater good </a:t>
            </a:r>
          </a:p>
          <a:p>
            <a:pPr>
              <a:lnSpc>
                <a:spcPct val="80000"/>
              </a:lnSpc>
            </a:pPr>
            <a:r>
              <a:rPr lang="en-IE" sz="1600" b="1" dirty="0"/>
              <a:t>The Marxist Model</a:t>
            </a:r>
            <a:r>
              <a:rPr lang="en-IE" sz="1600" dirty="0"/>
              <a:t> -- the idea here is that there are three kinds of research: trivial; that which aids the bourgeoisie (or haves); and Marxist research which aids the proletariat (the have-nots). </a:t>
            </a:r>
          </a:p>
          <a:p>
            <a:pPr>
              <a:lnSpc>
                <a:spcPct val="80000"/>
              </a:lnSpc>
            </a:pPr>
            <a:r>
              <a:rPr lang="en-IE" sz="1600" b="1" dirty="0"/>
              <a:t>The Vulnerable Populations Model</a:t>
            </a:r>
            <a:r>
              <a:rPr lang="en-IE" sz="1600" dirty="0"/>
              <a:t> -- the idea here is that research ought to be used to uplift or empower those social groups who lack power in society, especially by qualitative research which gives them a "voice" </a:t>
            </a:r>
          </a:p>
          <a:p>
            <a:pPr>
              <a:lnSpc>
                <a:spcPct val="80000"/>
              </a:lnSpc>
            </a:pPr>
            <a:r>
              <a:rPr lang="en-IE" sz="1600" b="1" dirty="0"/>
              <a:t>The Government Pawn Model</a:t>
            </a:r>
            <a:r>
              <a:rPr lang="en-IE" sz="1600" dirty="0"/>
              <a:t> -- the idea here is that research ought to be of use to government decision makers so that better public policy can be made  </a:t>
            </a:r>
          </a:p>
          <a:p>
            <a:pPr>
              <a:lnSpc>
                <a:spcPct val="80000"/>
              </a:lnSpc>
            </a:pPr>
            <a:r>
              <a:rPr lang="en-IE" sz="1600" b="1" dirty="0"/>
              <a:t>The Corporate Shill Model</a:t>
            </a:r>
            <a:r>
              <a:rPr lang="en-IE" sz="1600" dirty="0"/>
              <a:t> -- the idea here is that research should be used to promote the interests of wealthy, powerful individuals or corporations with researchers for sale in "think tanks" </a:t>
            </a:r>
          </a:p>
          <a:p>
            <a:pPr>
              <a:lnSpc>
                <a:spcPct val="80000"/>
              </a:lnSpc>
            </a:pPr>
            <a:r>
              <a:rPr lang="en-IE" sz="1600" dirty="0"/>
              <a:t>There's also probably a </a:t>
            </a:r>
            <a:r>
              <a:rPr lang="en-IE" sz="1600" b="1" dirty="0"/>
              <a:t>Self-Imposed Morality Model</a:t>
            </a:r>
            <a:r>
              <a:rPr lang="en-IE" sz="1600" dirty="0"/>
              <a:t> where the researcher simply refuses to cave in to any pressures or ideology, but I leave it to you in deciding if such a person gets much work. </a:t>
            </a:r>
            <a:endParaRPr lang="en-GB" sz="1600" dirty="0"/>
          </a:p>
        </p:txBody>
      </p:sp>
    </p:spTree>
    <p:extLst>
      <p:ext uri="{BB962C8B-B14F-4D97-AF65-F5344CB8AC3E}">
        <p14:creationId xmlns:p14="http://schemas.microsoft.com/office/powerpoint/2010/main" val="4036923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GB"/>
              <a:t>What research should be done?</a:t>
            </a:r>
          </a:p>
        </p:txBody>
      </p:sp>
      <p:sp>
        <p:nvSpPr>
          <p:cNvPr id="16387" name="Rectangle 3"/>
          <p:cNvSpPr>
            <a:spLocks noGrp="1" noChangeArrowheads="1"/>
          </p:cNvSpPr>
          <p:nvPr>
            <p:ph type="body" idx="1"/>
          </p:nvPr>
        </p:nvSpPr>
        <p:spPr/>
        <p:txBody>
          <a:bodyPr/>
          <a:lstStyle/>
          <a:p>
            <a:r>
              <a:rPr lang="en-GB" dirty="0"/>
              <a:t>Political Regulation</a:t>
            </a:r>
          </a:p>
          <a:p>
            <a:pPr lvl="1"/>
            <a:r>
              <a:rPr lang="en-GB" dirty="0"/>
              <a:t>Some research is not allowed (e.g. public opinion surveys just before election, in some countries)</a:t>
            </a:r>
          </a:p>
          <a:p>
            <a:pPr lvl="1"/>
            <a:r>
              <a:rPr lang="en-GB" dirty="0"/>
              <a:t>Some research is contracted to do national security work under the guise of academic research (e.g. CIA, NSA)</a:t>
            </a:r>
            <a:br>
              <a:rPr lang="en-GB" dirty="0"/>
            </a:br>
            <a:endParaRPr lang="en-GB" dirty="0"/>
          </a:p>
          <a:p>
            <a:r>
              <a:rPr lang="en-GB" dirty="0"/>
              <a:t>Economic Regulation</a:t>
            </a:r>
          </a:p>
          <a:p>
            <a:pPr lvl="1"/>
            <a:r>
              <a:rPr lang="en-GB" dirty="0"/>
              <a:t>Who sponsors your research?</a:t>
            </a:r>
          </a:p>
          <a:p>
            <a:pPr lvl="1"/>
            <a:r>
              <a:rPr lang="en-GB" dirty="0"/>
              <a:t>Which agenda does your sponsor have?</a:t>
            </a:r>
          </a:p>
          <a:p>
            <a:pPr lvl="1"/>
            <a:r>
              <a:rPr lang="en-GB" dirty="0"/>
              <a:t>What is the impact of your sponsor?</a:t>
            </a:r>
          </a:p>
        </p:txBody>
      </p:sp>
    </p:spTree>
    <p:extLst>
      <p:ext uri="{BB962C8B-B14F-4D97-AF65-F5344CB8AC3E}">
        <p14:creationId xmlns:p14="http://schemas.microsoft.com/office/powerpoint/2010/main" val="1727301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GB" sz="3200" dirty="0"/>
              <a:t>How should research be conducted?</a:t>
            </a:r>
          </a:p>
        </p:txBody>
      </p:sp>
      <p:sp>
        <p:nvSpPr>
          <p:cNvPr id="13315" name="Rectangle 3"/>
          <p:cNvSpPr>
            <a:spLocks noGrp="1" noChangeArrowheads="1"/>
          </p:cNvSpPr>
          <p:nvPr>
            <p:ph type="body" idx="1"/>
          </p:nvPr>
        </p:nvSpPr>
        <p:spPr/>
        <p:txBody>
          <a:bodyPr/>
          <a:lstStyle/>
          <a:p>
            <a:pPr>
              <a:lnSpc>
                <a:spcPct val="90000"/>
              </a:lnSpc>
            </a:pPr>
            <a:r>
              <a:rPr lang="en-GB" sz="1800" b="1" dirty="0"/>
              <a:t>Nuremberg Code</a:t>
            </a:r>
          </a:p>
          <a:p>
            <a:pPr lvl="1">
              <a:lnSpc>
                <a:spcPct val="90000"/>
              </a:lnSpc>
            </a:pPr>
            <a:r>
              <a:rPr lang="en-US" sz="1800" dirty="0"/>
              <a:t>List of rules established by a military tribunal on Nazi war crimes during World War II.</a:t>
            </a:r>
          </a:p>
          <a:p>
            <a:pPr lvl="1">
              <a:lnSpc>
                <a:spcPct val="90000"/>
              </a:lnSpc>
            </a:pPr>
            <a:r>
              <a:rPr lang="en-US" sz="1800" dirty="0"/>
              <a:t>Principles Include:</a:t>
            </a:r>
            <a:endParaRPr lang="en-IE" sz="1800" dirty="0"/>
          </a:p>
          <a:p>
            <a:pPr lvl="2">
              <a:lnSpc>
                <a:spcPct val="90000"/>
              </a:lnSpc>
            </a:pPr>
            <a:r>
              <a:rPr lang="en-IE" sz="1800" dirty="0"/>
              <a:t>Voluntary consent</a:t>
            </a:r>
          </a:p>
          <a:p>
            <a:pPr lvl="2">
              <a:lnSpc>
                <a:spcPct val="90000"/>
              </a:lnSpc>
            </a:pPr>
            <a:r>
              <a:rPr lang="en-IE" sz="1800" dirty="0"/>
              <a:t>Avoidance of unnecessary suffering</a:t>
            </a:r>
          </a:p>
          <a:p>
            <a:pPr lvl="2">
              <a:lnSpc>
                <a:spcPct val="90000"/>
              </a:lnSpc>
            </a:pPr>
            <a:r>
              <a:rPr lang="en-IE" sz="1800" dirty="0"/>
              <a:t>Avoidance of accidental death or disability</a:t>
            </a:r>
          </a:p>
          <a:p>
            <a:pPr lvl="2">
              <a:lnSpc>
                <a:spcPct val="90000"/>
              </a:lnSpc>
            </a:pPr>
            <a:r>
              <a:rPr lang="en-IE" sz="1800" dirty="0"/>
              <a:t>Termination of research if harm is likely</a:t>
            </a:r>
          </a:p>
          <a:p>
            <a:pPr lvl="2">
              <a:lnSpc>
                <a:spcPct val="90000"/>
              </a:lnSpc>
            </a:pPr>
            <a:r>
              <a:rPr lang="en-IE" sz="1800" dirty="0"/>
              <a:t>Experiments should be conducted by highly qualified people</a:t>
            </a:r>
          </a:p>
          <a:p>
            <a:pPr lvl="2">
              <a:lnSpc>
                <a:spcPct val="90000"/>
              </a:lnSpc>
            </a:pPr>
            <a:r>
              <a:rPr lang="en-IE" sz="1800" dirty="0"/>
              <a:t>Results should be for the good of society and unattainable by any other means</a:t>
            </a:r>
            <a:endParaRPr lang="en-US" sz="1800" dirty="0"/>
          </a:p>
          <a:p>
            <a:pPr>
              <a:lnSpc>
                <a:spcPct val="90000"/>
              </a:lnSpc>
            </a:pPr>
            <a:r>
              <a:rPr lang="en-US" sz="1800" dirty="0"/>
              <a:t>The Nuremberg Code was later followed by</a:t>
            </a:r>
          </a:p>
          <a:p>
            <a:pPr lvl="1">
              <a:lnSpc>
                <a:spcPct val="90000"/>
              </a:lnSpc>
            </a:pPr>
            <a:r>
              <a:rPr lang="en-US" sz="1800" dirty="0"/>
              <a:t>the 1948 U.N. Declaration of Human Rights</a:t>
            </a:r>
          </a:p>
          <a:p>
            <a:pPr lvl="1">
              <a:lnSpc>
                <a:spcPct val="90000"/>
              </a:lnSpc>
            </a:pPr>
            <a:r>
              <a:rPr lang="en-US" sz="1800" dirty="0"/>
              <a:t>the 1964 Helsinki accord. </a:t>
            </a:r>
            <a:endParaRPr lang="en-GB" sz="1800" dirty="0"/>
          </a:p>
        </p:txBody>
      </p:sp>
    </p:spTree>
    <p:extLst>
      <p:ext uri="{BB962C8B-B14F-4D97-AF65-F5344CB8AC3E}">
        <p14:creationId xmlns:p14="http://schemas.microsoft.com/office/powerpoint/2010/main" val="1074252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GB"/>
              <a:t>Common recent guidelines</a:t>
            </a:r>
          </a:p>
        </p:txBody>
      </p:sp>
      <p:sp>
        <p:nvSpPr>
          <p:cNvPr id="14339" name="Rectangle 3"/>
          <p:cNvSpPr>
            <a:spLocks noGrp="1" noChangeArrowheads="1"/>
          </p:cNvSpPr>
          <p:nvPr>
            <p:ph type="body" idx="1"/>
          </p:nvPr>
        </p:nvSpPr>
        <p:spPr/>
        <p:txBody>
          <a:bodyPr/>
          <a:lstStyle/>
          <a:p>
            <a:pPr>
              <a:lnSpc>
                <a:spcPct val="90000"/>
              </a:lnSpc>
            </a:pPr>
            <a:r>
              <a:rPr lang="en-IE" dirty="0"/>
              <a:t>Subjects should be given a </a:t>
            </a:r>
            <a:r>
              <a:rPr lang="en-IE" i="1" dirty="0"/>
              <a:t>fair explanation</a:t>
            </a:r>
            <a:r>
              <a:rPr lang="en-IE" dirty="0"/>
              <a:t> of the purpose and procedures of the research</a:t>
            </a:r>
          </a:p>
          <a:p>
            <a:pPr>
              <a:lnSpc>
                <a:spcPct val="90000"/>
              </a:lnSpc>
            </a:pPr>
            <a:r>
              <a:rPr lang="en-IE" dirty="0"/>
              <a:t>Subjects should be given a description of any reasonable </a:t>
            </a:r>
            <a:r>
              <a:rPr lang="en-IE" i="1" dirty="0"/>
              <a:t>risks or discomforts</a:t>
            </a:r>
            <a:r>
              <a:rPr lang="en-IE" dirty="0"/>
              <a:t> expected</a:t>
            </a:r>
          </a:p>
          <a:p>
            <a:pPr>
              <a:lnSpc>
                <a:spcPct val="90000"/>
              </a:lnSpc>
            </a:pPr>
            <a:r>
              <a:rPr lang="en-IE" dirty="0"/>
              <a:t>Subjects should be told of any </a:t>
            </a:r>
            <a:r>
              <a:rPr lang="en-IE" i="1" dirty="0"/>
              <a:t>possible benefits</a:t>
            </a:r>
            <a:r>
              <a:rPr lang="en-IE" dirty="0"/>
              <a:t> to be obtained by participating</a:t>
            </a:r>
          </a:p>
          <a:p>
            <a:pPr>
              <a:lnSpc>
                <a:spcPct val="90000"/>
              </a:lnSpc>
            </a:pPr>
            <a:r>
              <a:rPr lang="en-IE" dirty="0"/>
              <a:t>Researchers should disclose any </a:t>
            </a:r>
            <a:r>
              <a:rPr lang="en-IE" i="1" dirty="0"/>
              <a:t>alternative procedures</a:t>
            </a:r>
            <a:r>
              <a:rPr lang="en-IE" dirty="0"/>
              <a:t> that might be advantageous to the subject</a:t>
            </a:r>
          </a:p>
          <a:p>
            <a:pPr>
              <a:lnSpc>
                <a:spcPct val="90000"/>
              </a:lnSpc>
            </a:pPr>
            <a:r>
              <a:rPr lang="en-IE" dirty="0"/>
              <a:t>Researchers should offer to </a:t>
            </a:r>
            <a:r>
              <a:rPr lang="en-IE" i="1" dirty="0"/>
              <a:t>answer any questions</a:t>
            </a:r>
            <a:r>
              <a:rPr lang="en-IE" dirty="0"/>
              <a:t> subjects may have during the research</a:t>
            </a:r>
          </a:p>
          <a:p>
            <a:pPr>
              <a:lnSpc>
                <a:spcPct val="90000"/>
              </a:lnSpc>
            </a:pPr>
            <a:r>
              <a:rPr lang="en-IE" dirty="0"/>
              <a:t>Subjects should be told they are </a:t>
            </a:r>
            <a:r>
              <a:rPr lang="en-IE" i="1" dirty="0"/>
              <a:t>free to withdraw</a:t>
            </a:r>
            <a:r>
              <a:rPr lang="en-IE" dirty="0"/>
              <a:t> and discontinue participation at any time</a:t>
            </a:r>
            <a:endParaRPr lang="en-GB" dirty="0"/>
          </a:p>
        </p:txBody>
      </p:sp>
    </p:spTree>
    <p:extLst>
      <p:ext uri="{BB962C8B-B14F-4D97-AF65-F5344CB8AC3E}">
        <p14:creationId xmlns:p14="http://schemas.microsoft.com/office/powerpoint/2010/main" val="731730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GB"/>
              <a:t>Anonymity</a:t>
            </a:r>
          </a:p>
        </p:txBody>
      </p:sp>
      <p:sp>
        <p:nvSpPr>
          <p:cNvPr id="18435" name="Rectangle 3"/>
          <p:cNvSpPr>
            <a:spLocks noGrp="1" noChangeArrowheads="1"/>
          </p:cNvSpPr>
          <p:nvPr>
            <p:ph type="body" idx="1"/>
          </p:nvPr>
        </p:nvSpPr>
        <p:spPr/>
        <p:txBody>
          <a:bodyPr/>
          <a:lstStyle/>
          <a:p>
            <a:r>
              <a:rPr lang="en-US" sz="2400" dirty="0"/>
              <a:t>Promise and keep your promises of anonymity.</a:t>
            </a:r>
          </a:p>
          <a:p>
            <a:r>
              <a:rPr lang="en-US" sz="2400" dirty="0"/>
              <a:t>After identifying your sampling frame, try to forget about taking names or any other unique identifiers.</a:t>
            </a:r>
          </a:p>
          <a:p>
            <a:r>
              <a:rPr lang="en-US" sz="2400" dirty="0"/>
              <a:t>Reassure people that you won't go to the media.</a:t>
            </a:r>
          </a:p>
          <a:p>
            <a:r>
              <a:rPr lang="en-US" sz="2400" dirty="0"/>
              <a:t>Fill them in on what journal outlet you have planned.</a:t>
            </a:r>
          </a:p>
          <a:p>
            <a:r>
              <a:rPr lang="en-US" sz="2400" dirty="0"/>
              <a:t>Promise to destroy your documents if they're worried about your response to being subpoenaed. </a:t>
            </a:r>
          </a:p>
        </p:txBody>
      </p:sp>
    </p:spTree>
    <p:extLst>
      <p:ext uri="{BB962C8B-B14F-4D97-AF65-F5344CB8AC3E}">
        <p14:creationId xmlns:p14="http://schemas.microsoft.com/office/powerpoint/2010/main" val="33565070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GB"/>
              <a:t>Common recent guidelines</a:t>
            </a:r>
          </a:p>
        </p:txBody>
      </p:sp>
      <p:sp>
        <p:nvSpPr>
          <p:cNvPr id="15363" name="Rectangle 3"/>
          <p:cNvSpPr>
            <a:spLocks noGrp="1" noChangeArrowheads="1"/>
          </p:cNvSpPr>
          <p:nvPr>
            <p:ph type="body" idx="1"/>
          </p:nvPr>
        </p:nvSpPr>
        <p:spPr/>
        <p:txBody>
          <a:bodyPr/>
          <a:lstStyle/>
          <a:p>
            <a:pPr>
              <a:buFont typeface="Wingdings" charset="0"/>
              <a:buNone/>
            </a:pPr>
            <a:endParaRPr lang="en-IE"/>
          </a:p>
          <a:p>
            <a:r>
              <a:rPr lang="en-IE" b="1"/>
              <a:t>Respect for persons</a:t>
            </a:r>
            <a:r>
              <a:rPr lang="en-IE"/>
              <a:t> -- the right to informed consent</a:t>
            </a:r>
          </a:p>
          <a:p>
            <a:r>
              <a:rPr lang="en-IE" b="1"/>
              <a:t>Beneficence</a:t>
            </a:r>
            <a:r>
              <a:rPr lang="en-IE"/>
              <a:t> -- minimization of harm and maximization of benefits</a:t>
            </a:r>
          </a:p>
          <a:p>
            <a:r>
              <a:rPr lang="en-IE" b="1"/>
              <a:t>Justice</a:t>
            </a:r>
            <a:r>
              <a:rPr lang="en-IE"/>
              <a:t> -- equitable distribution of benefits and burdens</a:t>
            </a:r>
            <a:endParaRPr lang="en-US"/>
          </a:p>
          <a:p>
            <a:endParaRPr lang="en-GB"/>
          </a:p>
        </p:txBody>
      </p:sp>
    </p:spTree>
    <p:extLst>
      <p:ext uri="{BB962C8B-B14F-4D97-AF65-F5344CB8AC3E}">
        <p14:creationId xmlns:p14="http://schemas.microsoft.com/office/powerpoint/2010/main" val="3191775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GB"/>
              <a:t>Ethical Issues in Data Collection</a:t>
            </a:r>
          </a:p>
        </p:txBody>
      </p:sp>
      <p:sp>
        <p:nvSpPr>
          <p:cNvPr id="17411" name="Rectangle 3"/>
          <p:cNvSpPr>
            <a:spLocks noGrp="1" noChangeArrowheads="1"/>
          </p:cNvSpPr>
          <p:nvPr>
            <p:ph type="body" idx="1"/>
          </p:nvPr>
        </p:nvSpPr>
        <p:spPr/>
        <p:txBody>
          <a:bodyPr/>
          <a:lstStyle/>
          <a:p>
            <a:r>
              <a:rPr lang="en-US" dirty="0"/>
              <a:t>Always use volunteers, do not pay your subjects.</a:t>
            </a:r>
          </a:p>
          <a:p>
            <a:pPr lvl="1"/>
            <a:r>
              <a:rPr lang="en-US" dirty="0"/>
              <a:t>Research is, after all, a </a:t>
            </a:r>
            <a:r>
              <a:rPr lang="en-US" i="1" dirty="0"/>
              <a:t>gift</a:t>
            </a:r>
            <a:r>
              <a:rPr lang="en-US" dirty="0"/>
              <a:t> of knowledge that your subjects freely give to you and you're supposed to freely give to the world.</a:t>
            </a:r>
          </a:p>
          <a:p>
            <a:r>
              <a:rPr lang="en-US" dirty="0"/>
              <a:t>There are three ways, and three ways only, to encourage participation ethically (</a:t>
            </a:r>
            <a:r>
              <a:rPr lang="en-US" dirty="0" err="1"/>
              <a:t>Senese</a:t>
            </a:r>
            <a:r>
              <a:rPr lang="en-US" dirty="0"/>
              <a:t> 1997):</a:t>
            </a:r>
          </a:p>
          <a:p>
            <a:pPr lvl="1"/>
            <a:r>
              <a:rPr lang="en-US" dirty="0"/>
              <a:t>Anonymity</a:t>
            </a:r>
          </a:p>
          <a:p>
            <a:pPr lvl="1"/>
            <a:r>
              <a:rPr lang="en-US" dirty="0"/>
              <a:t>Confidentiality</a:t>
            </a:r>
          </a:p>
          <a:p>
            <a:pPr lvl="1"/>
            <a:r>
              <a:rPr lang="en-US" dirty="0"/>
              <a:t>Informed Consent</a:t>
            </a:r>
          </a:p>
          <a:p>
            <a:r>
              <a:rPr lang="en-US" dirty="0"/>
              <a:t>Let’s see what happens when this collides with society, i.e., law</a:t>
            </a:r>
            <a:r>
              <a:rPr lang="mr-IN" dirty="0"/>
              <a:t>…</a:t>
            </a:r>
            <a:endParaRPr lang="en-US" dirty="0"/>
          </a:p>
        </p:txBody>
      </p:sp>
    </p:spTree>
    <p:extLst>
      <p:ext uri="{BB962C8B-B14F-4D97-AF65-F5344CB8AC3E}">
        <p14:creationId xmlns:p14="http://schemas.microsoft.com/office/powerpoint/2010/main" val="3871312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I: DAMP study (GU)</a:t>
            </a:r>
          </a:p>
        </p:txBody>
      </p:sp>
      <p:sp>
        <p:nvSpPr>
          <p:cNvPr id="3" name="Content Placeholder 2"/>
          <p:cNvSpPr>
            <a:spLocks noGrp="1"/>
          </p:cNvSpPr>
          <p:nvPr>
            <p:ph idx="1"/>
          </p:nvPr>
        </p:nvSpPr>
        <p:spPr/>
        <p:txBody>
          <a:bodyPr>
            <a:normAutofit fontScale="85000" lnSpcReduction="20000"/>
          </a:bodyPr>
          <a:lstStyle/>
          <a:p>
            <a:r>
              <a:rPr lang="en-US" dirty="0" err="1"/>
              <a:t>Gillberg</a:t>
            </a:r>
            <a:r>
              <a:rPr lang="en-US" dirty="0"/>
              <a:t> and Rasmussen sent out a questionnaire to pre-school teachers (yes/no answers) with the purpose of identifying DAMP (</a:t>
            </a:r>
            <a:r>
              <a:rPr lang="en-US" i="1" dirty="0"/>
              <a:t>deficits in attention, motor control and perception)</a:t>
            </a:r>
          </a:p>
          <a:p>
            <a:pPr lvl="1"/>
            <a:r>
              <a:rPr lang="en-US" dirty="0"/>
              <a:t>3400 children (72% RR), 340 judged as DAMP children (6-7 years old)</a:t>
            </a:r>
          </a:p>
          <a:p>
            <a:r>
              <a:rPr lang="en-US" dirty="0"/>
              <a:t>Follow-up at 10, 13, and 16 years of age</a:t>
            </a:r>
          </a:p>
          <a:p>
            <a:r>
              <a:rPr lang="en-US" dirty="0"/>
              <a:t>Final check at 22 years of age (published results then)</a:t>
            </a:r>
          </a:p>
          <a:p>
            <a:endParaRPr lang="en-US" dirty="0"/>
          </a:p>
          <a:p>
            <a:r>
              <a:rPr lang="en-US" dirty="0" err="1"/>
              <a:t>Kärfve</a:t>
            </a:r>
            <a:r>
              <a:rPr lang="en-US" dirty="0"/>
              <a:t> and </a:t>
            </a:r>
            <a:r>
              <a:rPr lang="en-US" dirty="0" err="1"/>
              <a:t>Elinder</a:t>
            </a:r>
            <a:r>
              <a:rPr lang="en-US" dirty="0"/>
              <a:t> asked board of ethics to review the research</a:t>
            </a:r>
          </a:p>
          <a:p>
            <a:pPr lvl="1"/>
            <a:r>
              <a:rPr lang="en-US" dirty="0"/>
              <a:t>The specific accusation was that they had added participants to the control group for the final follow-up study at age 22 (low drop-out rate)</a:t>
            </a:r>
          </a:p>
          <a:p>
            <a:pPr lvl="1"/>
            <a:r>
              <a:rPr lang="en-US" dirty="0"/>
              <a:t>University said no evidence could be found of fraud</a:t>
            </a:r>
          </a:p>
          <a:p>
            <a:pPr lvl="1"/>
            <a:r>
              <a:rPr lang="en-US" dirty="0" err="1"/>
              <a:t>Kärfve</a:t>
            </a:r>
            <a:r>
              <a:rPr lang="en-US" dirty="0"/>
              <a:t> and </a:t>
            </a:r>
            <a:r>
              <a:rPr lang="en-US" dirty="0" err="1"/>
              <a:t>Elinder</a:t>
            </a:r>
            <a:r>
              <a:rPr lang="en-US" dirty="0"/>
              <a:t> then asked for the data and were denied access (full confidentiality)</a:t>
            </a:r>
          </a:p>
          <a:p>
            <a:pPr lvl="1"/>
            <a:r>
              <a:rPr lang="en-US" dirty="0"/>
              <a:t>Court found later they had right to access data (</a:t>
            </a:r>
            <a:r>
              <a:rPr lang="en-US" dirty="0" err="1"/>
              <a:t>offentlighetsprincipen</a:t>
            </a:r>
            <a:r>
              <a:rPr lang="en-US" dirty="0"/>
              <a:t>, </a:t>
            </a:r>
            <a:r>
              <a:rPr lang="en-US" dirty="0" err="1"/>
              <a:t>eng</a:t>
            </a:r>
            <a:r>
              <a:rPr lang="en-US" dirty="0"/>
              <a:t>: principle of public access)</a:t>
            </a:r>
          </a:p>
          <a:p>
            <a:pPr lvl="2"/>
            <a:r>
              <a:rPr lang="en-US" dirty="0"/>
              <a:t>Court decided the exact conditions to gain access after appeal</a:t>
            </a:r>
          </a:p>
          <a:p>
            <a:pPr lvl="1"/>
            <a:r>
              <a:rPr lang="en-US" dirty="0"/>
              <a:t>May 6, 2004: data should be released</a:t>
            </a:r>
            <a:r>
              <a:rPr lang="mr-IN" dirty="0"/>
              <a:t>…</a:t>
            </a:r>
            <a:r>
              <a:rPr lang="sv-SE" dirty="0"/>
              <a:t> </a:t>
            </a:r>
            <a:br>
              <a:rPr lang="sv-SE" dirty="0"/>
            </a:br>
            <a:r>
              <a:rPr lang="sv-SE" dirty="0"/>
              <a:t>22 </a:t>
            </a:r>
            <a:r>
              <a:rPr lang="sv-SE" dirty="0" err="1"/>
              <a:t>shelf</a:t>
            </a:r>
            <a:r>
              <a:rPr lang="sv-SE" dirty="0"/>
              <a:t>-meters (100 K pages, videos and sound)</a:t>
            </a:r>
            <a:endParaRPr lang="en-US" dirty="0"/>
          </a:p>
        </p:txBody>
      </p:sp>
    </p:spTree>
    <p:extLst>
      <p:ext uri="{BB962C8B-B14F-4D97-AF65-F5344CB8AC3E}">
        <p14:creationId xmlns:p14="http://schemas.microsoft.com/office/powerpoint/2010/main" val="2445145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GB"/>
              <a:t>Confidentiality</a:t>
            </a:r>
          </a:p>
        </p:txBody>
      </p:sp>
      <p:sp>
        <p:nvSpPr>
          <p:cNvPr id="19459" name="Rectangle 3"/>
          <p:cNvSpPr>
            <a:spLocks noGrp="1" noChangeArrowheads="1"/>
          </p:cNvSpPr>
          <p:nvPr>
            <p:ph type="body" idx="1"/>
          </p:nvPr>
        </p:nvSpPr>
        <p:spPr/>
        <p:txBody>
          <a:bodyPr/>
          <a:lstStyle/>
          <a:p>
            <a:r>
              <a:rPr lang="en-US"/>
              <a:t>This is what you should promise if you can't keep anonymity.</a:t>
            </a:r>
          </a:p>
          <a:p>
            <a:pPr lvl="1"/>
            <a:r>
              <a:rPr lang="en-US"/>
              <a:t>In other words, </a:t>
            </a:r>
            <a:r>
              <a:rPr lang="en-US" i="1"/>
              <a:t>use confidentiality if you can't guarantee anonymity</a:t>
            </a:r>
            <a:r>
              <a:rPr lang="en-US"/>
              <a:t>.</a:t>
            </a:r>
          </a:p>
          <a:p>
            <a:r>
              <a:rPr lang="en-US"/>
              <a:t>You guarantee that:</a:t>
            </a:r>
          </a:p>
          <a:p>
            <a:pPr lvl="1"/>
            <a:r>
              <a:rPr lang="en-US"/>
              <a:t>no one will be </a:t>
            </a:r>
            <a:r>
              <a:rPr lang="en-US" i="1"/>
              <a:t>individually identifiable</a:t>
            </a:r>
            <a:r>
              <a:rPr lang="en-US"/>
              <a:t> in any way by you,</a:t>
            </a:r>
          </a:p>
          <a:p>
            <a:pPr lvl="1"/>
            <a:r>
              <a:rPr lang="en-US"/>
              <a:t>that all your tables, reports, and publications will only </a:t>
            </a:r>
            <a:r>
              <a:rPr lang="en-US" i="1"/>
              <a:t>discuss findings in the aggregate</a:t>
            </a:r>
            <a:r>
              <a:rPr lang="en-US"/>
              <a:t>.</a:t>
            </a:r>
          </a:p>
          <a:p>
            <a:r>
              <a:rPr lang="en-US"/>
              <a:t>This is one of the basic rules of research</a:t>
            </a:r>
          </a:p>
        </p:txBody>
      </p:sp>
    </p:spTree>
    <p:extLst>
      <p:ext uri="{BB962C8B-B14F-4D97-AF65-F5344CB8AC3E}">
        <p14:creationId xmlns:p14="http://schemas.microsoft.com/office/powerpoint/2010/main" val="3075464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GB"/>
              <a:t>Informed Consent</a:t>
            </a:r>
          </a:p>
        </p:txBody>
      </p:sp>
      <p:sp>
        <p:nvSpPr>
          <p:cNvPr id="20483" name="Rectangle 3"/>
          <p:cNvSpPr>
            <a:spLocks noGrp="1" noChangeArrowheads="1"/>
          </p:cNvSpPr>
          <p:nvPr>
            <p:ph type="body" idx="1"/>
          </p:nvPr>
        </p:nvSpPr>
        <p:spPr/>
        <p:txBody>
          <a:bodyPr/>
          <a:lstStyle/>
          <a:p>
            <a:r>
              <a:rPr lang="en-US"/>
              <a:t>Be honest and fair with your subjects.</a:t>
            </a:r>
          </a:p>
          <a:p>
            <a:r>
              <a:rPr lang="en-US"/>
              <a:t>Tell them everything they want to know about your research.</a:t>
            </a:r>
          </a:p>
          <a:p>
            <a:r>
              <a:rPr lang="en-US"/>
              <a:t>Be aware of any hidden power differentials that might be pressuring them to participate.</a:t>
            </a:r>
          </a:p>
          <a:p>
            <a:pPr lvl="1"/>
            <a:r>
              <a:rPr lang="en-US"/>
              <a:t>For example, if you're a teacher or authority figure of any kind, and your subjects consist of your students or people in a status reporting to you in some other way, then reflect upon the possibility that they're participating for the possibility of unintended side benefits.</a:t>
            </a:r>
            <a:endParaRPr lang="en-GB"/>
          </a:p>
        </p:txBody>
      </p:sp>
    </p:spTree>
    <p:extLst>
      <p:ext uri="{BB962C8B-B14F-4D97-AF65-F5344CB8AC3E}">
        <p14:creationId xmlns:p14="http://schemas.microsoft.com/office/powerpoint/2010/main" val="469345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GB"/>
              <a:t>Ethical Issues in Data Collection</a:t>
            </a:r>
          </a:p>
        </p:txBody>
      </p:sp>
      <p:sp>
        <p:nvSpPr>
          <p:cNvPr id="22531" name="Rectangle 3"/>
          <p:cNvSpPr>
            <a:spLocks noGrp="1" noChangeArrowheads="1"/>
          </p:cNvSpPr>
          <p:nvPr>
            <p:ph type="body" idx="1"/>
          </p:nvPr>
        </p:nvSpPr>
        <p:spPr/>
        <p:txBody>
          <a:bodyPr/>
          <a:lstStyle/>
          <a:p>
            <a:pPr>
              <a:lnSpc>
                <a:spcPct val="80000"/>
              </a:lnSpc>
            </a:pPr>
            <a:r>
              <a:rPr lang="en-GB" sz="2800" dirty="0"/>
              <a:t>Get permission from individuals </a:t>
            </a:r>
            <a:r>
              <a:rPr lang="en-GB" sz="2800" i="1" dirty="0"/>
              <a:t>and</a:t>
            </a:r>
            <a:r>
              <a:rPr lang="en-GB" sz="2800" dirty="0"/>
              <a:t> individuals in authority</a:t>
            </a:r>
          </a:p>
          <a:p>
            <a:pPr lvl="1">
              <a:lnSpc>
                <a:spcPct val="80000"/>
              </a:lnSpc>
            </a:pPr>
            <a:r>
              <a:rPr lang="en-GB" sz="1800" dirty="0"/>
              <a:t>e.g. line managers</a:t>
            </a:r>
          </a:p>
          <a:p>
            <a:pPr>
              <a:lnSpc>
                <a:spcPct val="80000"/>
              </a:lnSpc>
            </a:pPr>
            <a:r>
              <a:rPr lang="en-GB" sz="2800" dirty="0"/>
              <a:t>Respect research sites – minimise disruption</a:t>
            </a:r>
          </a:p>
          <a:p>
            <a:pPr lvl="1">
              <a:lnSpc>
                <a:spcPct val="80000"/>
              </a:lnSpc>
            </a:pPr>
            <a:r>
              <a:rPr lang="en-GB" sz="1800" dirty="0"/>
              <a:t>Do not ruin a company because of a badly thought through research study</a:t>
            </a:r>
          </a:p>
          <a:p>
            <a:pPr>
              <a:lnSpc>
                <a:spcPct val="80000"/>
              </a:lnSpc>
            </a:pPr>
            <a:r>
              <a:rPr lang="en-GB" sz="2800" dirty="0"/>
              <a:t>All should benefit</a:t>
            </a:r>
          </a:p>
          <a:p>
            <a:pPr lvl="1">
              <a:lnSpc>
                <a:spcPct val="80000"/>
              </a:lnSpc>
            </a:pPr>
            <a:r>
              <a:rPr lang="en-GB" sz="1800" dirty="0"/>
              <a:t>What do you teach the control group?</a:t>
            </a:r>
          </a:p>
          <a:p>
            <a:pPr>
              <a:lnSpc>
                <a:spcPct val="80000"/>
              </a:lnSpc>
            </a:pPr>
            <a:r>
              <a:rPr lang="en-GB" sz="2800" dirty="0"/>
              <a:t>Be open</a:t>
            </a:r>
          </a:p>
          <a:p>
            <a:pPr lvl="1">
              <a:lnSpc>
                <a:spcPct val="80000"/>
              </a:lnSpc>
            </a:pPr>
            <a:r>
              <a:rPr lang="en-GB" sz="1800" dirty="0"/>
              <a:t>Do not coerce people to join the study</a:t>
            </a:r>
          </a:p>
          <a:p>
            <a:pPr>
              <a:lnSpc>
                <a:spcPct val="80000"/>
              </a:lnSpc>
            </a:pPr>
            <a:r>
              <a:rPr lang="en-GB" sz="2800" dirty="0"/>
              <a:t>Confidentiality!</a:t>
            </a:r>
          </a:p>
          <a:p>
            <a:pPr lvl="1">
              <a:lnSpc>
                <a:spcPct val="80000"/>
              </a:lnSpc>
            </a:pPr>
            <a:r>
              <a:rPr lang="en-GB" sz="1800" dirty="0"/>
              <a:t>What the participants tell you stays with you. No matter what.</a:t>
            </a:r>
          </a:p>
        </p:txBody>
      </p:sp>
    </p:spTree>
    <p:extLst>
      <p:ext uri="{BB962C8B-B14F-4D97-AF65-F5344CB8AC3E}">
        <p14:creationId xmlns:p14="http://schemas.microsoft.com/office/powerpoint/2010/main" val="1041349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GB"/>
              <a:t>Consent Form</a:t>
            </a:r>
          </a:p>
        </p:txBody>
      </p:sp>
      <p:sp>
        <p:nvSpPr>
          <p:cNvPr id="24579" name="Rectangle 3"/>
          <p:cNvSpPr>
            <a:spLocks noGrp="1" noChangeArrowheads="1"/>
          </p:cNvSpPr>
          <p:nvPr>
            <p:ph type="body" idx="1"/>
          </p:nvPr>
        </p:nvSpPr>
        <p:spPr/>
        <p:txBody>
          <a:bodyPr/>
          <a:lstStyle/>
          <a:p>
            <a:pPr>
              <a:lnSpc>
                <a:spcPct val="90000"/>
              </a:lnSpc>
            </a:pPr>
            <a:r>
              <a:rPr lang="en-GB" sz="1400" dirty="0"/>
              <a:t>Bare Minimum:</a:t>
            </a:r>
          </a:p>
          <a:p>
            <a:pPr lvl="1">
              <a:lnSpc>
                <a:spcPct val="90000"/>
              </a:lnSpc>
              <a:buFont typeface="Wingdings" charset="0"/>
              <a:buNone/>
            </a:pPr>
            <a:r>
              <a:rPr lang="en-US" sz="1400" i="1" dirty="0"/>
              <a:t>	“I have been informed and understand the personal and professional risks involved by participating in this study. I agree to assume those risks, and my participation is purely voluntary, without any promise of special rewards as a result of my participation.”</a:t>
            </a:r>
          </a:p>
          <a:p>
            <a:pPr>
              <a:lnSpc>
                <a:spcPct val="90000"/>
              </a:lnSpc>
            </a:pPr>
            <a:r>
              <a:rPr lang="en-US" sz="1400" dirty="0"/>
              <a:t>More Detailed (adapted from </a:t>
            </a:r>
            <a:r>
              <a:rPr lang="en-US" sz="1400" dirty="0" err="1"/>
              <a:t>Neuman</a:t>
            </a:r>
            <a:r>
              <a:rPr lang="en-US" sz="1400" dirty="0"/>
              <a:t> &amp; </a:t>
            </a:r>
            <a:r>
              <a:rPr lang="en-US" sz="1400" dirty="0" err="1"/>
              <a:t>Wiegand</a:t>
            </a:r>
            <a:r>
              <a:rPr lang="en-US" sz="1400" dirty="0"/>
              <a:t> 2000):</a:t>
            </a:r>
            <a:endParaRPr lang="en-IE" sz="1400" dirty="0"/>
          </a:p>
          <a:p>
            <a:pPr lvl="1">
              <a:lnSpc>
                <a:spcPct val="90000"/>
              </a:lnSpc>
            </a:pPr>
            <a:r>
              <a:rPr lang="en-IE" sz="1400" dirty="0"/>
              <a:t>A brief description of the </a:t>
            </a:r>
            <a:r>
              <a:rPr lang="en-IE" sz="1400" i="1" dirty="0"/>
              <a:t>purpose and procedure</a:t>
            </a:r>
            <a:r>
              <a:rPr lang="en-IE" sz="1400" dirty="0"/>
              <a:t> of the research, including the expected duration </a:t>
            </a:r>
          </a:p>
          <a:p>
            <a:pPr lvl="1">
              <a:lnSpc>
                <a:spcPct val="90000"/>
              </a:lnSpc>
            </a:pPr>
            <a:r>
              <a:rPr lang="en-IE" sz="1400" dirty="0"/>
              <a:t>A statement of any </a:t>
            </a:r>
            <a:r>
              <a:rPr lang="en-IE" sz="1400" i="1" dirty="0"/>
              <a:t>risks, discomforts, or inconveniences</a:t>
            </a:r>
            <a:r>
              <a:rPr lang="en-IE" sz="1400" dirty="0"/>
              <a:t> associated with participation </a:t>
            </a:r>
          </a:p>
          <a:p>
            <a:pPr lvl="1">
              <a:lnSpc>
                <a:spcPct val="90000"/>
              </a:lnSpc>
            </a:pPr>
            <a:r>
              <a:rPr lang="en-IE" sz="1400" dirty="0"/>
              <a:t>A guarantee of </a:t>
            </a:r>
            <a:r>
              <a:rPr lang="en-IE" sz="1400" i="1" dirty="0"/>
              <a:t>anonymity</a:t>
            </a:r>
            <a:r>
              <a:rPr lang="en-IE" sz="1400" dirty="0"/>
              <a:t> or at least </a:t>
            </a:r>
            <a:r>
              <a:rPr lang="en-IE" sz="1400" i="1" dirty="0"/>
              <a:t>confidentiality</a:t>
            </a:r>
            <a:r>
              <a:rPr lang="en-IE" sz="1400" dirty="0"/>
              <a:t>, and an explanation of both </a:t>
            </a:r>
          </a:p>
          <a:p>
            <a:pPr lvl="1">
              <a:lnSpc>
                <a:spcPct val="90000"/>
              </a:lnSpc>
            </a:pPr>
            <a:r>
              <a:rPr lang="en-IE" sz="1400" dirty="0"/>
              <a:t>The </a:t>
            </a:r>
            <a:r>
              <a:rPr lang="en-IE" sz="1400" i="1" dirty="0"/>
              <a:t>identification, affiliation, and sponsorship of the research</a:t>
            </a:r>
            <a:r>
              <a:rPr lang="en-IE" sz="1400" dirty="0"/>
              <a:t> as well as </a:t>
            </a:r>
            <a:r>
              <a:rPr lang="en-IE" sz="1400" i="1" dirty="0"/>
              <a:t>contact information </a:t>
            </a:r>
          </a:p>
          <a:p>
            <a:pPr lvl="1">
              <a:lnSpc>
                <a:spcPct val="90000"/>
              </a:lnSpc>
            </a:pPr>
            <a:r>
              <a:rPr lang="en-IE" sz="1400" dirty="0"/>
              <a:t>A statement that </a:t>
            </a:r>
            <a:r>
              <a:rPr lang="en-IE" sz="1400" i="1" dirty="0"/>
              <a:t>participation is completely voluntary</a:t>
            </a:r>
            <a:r>
              <a:rPr lang="en-IE" sz="1400" dirty="0"/>
              <a:t> and can be terminated at any time </a:t>
            </a:r>
            <a:r>
              <a:rPr lang="en-IE" sz="1400" i="1" dirty="0"/>
              <a:t>without penalty</a:t>
            </a:r>
            <a:r>
              <a:rPr lang="en-IE" sz="1400" dirty="0"/>
              <a:t> </a:t>
            </a:r>
          </a:p>
          <a:p>
            <a:pPr lvl="1">
              <a:lnSpc>
                <a:spcPct val="90000"/>
              </a:lnSpc>
            </a:pPr>
            <a:r>
              <a:rPr lang="en-IE" sz="1400" dirty="0"/>
              <a:t>A statement of any </a:t>
            </a:r>
            <a:r>
              <a:rPr lang="en-IE" sz="1400" i="1" dirty="0"/>
              <a:t>alternative procedures</a:t>
            </a:r>
            <a:r>
              <a:rPr lang="en-IE" sz="1400" dirty="0"/>
              <a:t> that may be used </a:t>
            </a:r>
          </a:p>
          <a:p>
            <a:pPr lvl="1">
              <a:lnSpc>
                <a:spcPct val="90000"/>
              </a:lnSpc>
            </a:pPr>
            <a:r>
              <a:rPr lang="en-IE" sz="1400" dirty="0"/>
              <a:t>A statement of any </a:t>
            </a:r>
            <a:r>
              <a:rPr lang="en-IE" sz="1400" i="1" dirty="0"/>
              <a:t>benefits</a:t>
            </a:r>
            <a:r>
              <a:rPr lang="en-IE" sz="1400" dirty="0"/>
              <a:t> to the class of subjects involved </a:t>
            </a:r>
          </a:p>
          <a:p>
            <a:pPr lvl="1">
              <a:lnSpc>
                <a:spcPct val="90000"/>
              </a:lnSpc>
            </a:pPr>
            <a:r>
              <a:rPr lang="en-IE" sz="1400" dirty="0"/>
              <a:t>An offer to provide a</a:t>
            </a:r>
            <a:r>
              <a:rPr lang="en-IE" sz="1400" i="1" dirty="0"/>
              <a:t> free copy of a summary</a:t>
            </a:r>
            <a:r>
              <a:rPr lang="en-IE" sz="1400" dirty="0"/>
              <a:t> of the findings </a:t>
            </a:r>
          </a:p>
          <a:p>
            <a:pPr marL="0" indent="0">
              <a:lnSpc>
                <a:spcPct val="90000"/>
              </a:lnSpc>
              <a:buNone/>
            </a:pPr>
            <a:endParaRPr lang="en-IE" sz="2800" dirty="0"/>
          </a:p>
          <a:p>
            <a:pPr marL="0" indent="0">
              <a:lnSpc>
                <a:spcPct val="90000"/>
              </a:lnSpc>
              <a:buNone/>
            </a:pPr>
            <a:r>
              <a:rPr lang="en-IE" sz="2400" dirty="0"/>
              <a:t>There is no black and white here </a:t>
            </a:r>
            <a:r>
              <a:rPr lang="mr-IN" sz="2400" dirty="0"/>
              <a:t>–</a:t>
            </a:r>
            <a:r>
              <a:rPr lang="en-IE" sz="2400" dirty="0"/>
              <a:t> a grayscale exists</a:t>
            </a:r>
            <a:r>
              <a:rPr lang="mr-IN" sz="2400" dirty="0"/>
              <a:t>…</a:t>
            </a:r>
            <a:endParaRPr lang="en-GB" sz="2400" dirty="0"/>
          </a:p>
        </p:txBody>
      </p:sp>
    </p:spTree>
    <p:extLst>
      <p:ext uri="{BB962C8B-B14F-4D97-AF65-F5344CB8AC3E}">
        <p14:creationId xmlns:p14="http://schemas.microsoft.com/office/powerpoint/2010/main" val="2996326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Lots of “failed” experiments</a:t>
            </a:r>
            <a:r>
              <a:rPr lang="mr-IN" dirty="0"/>
              <a:t>…</a:t>
            </a:r>
            <a:br>
              <a:rPr lang="sv-SE" dirty="0"/>
            </a:br>
            <a:r>
              <a:rPr lang="sv-SE" dirty="0"/>
              <a:t>Case </a:t>
            </a:r>
            <a:r>
              <a:rPr lang="sv-SE" dirty="0" err="1"/>
              <a:t>study</a:t>
            </a:r>
            <a:r>
              <a:rPr lang="sv-SE" dirty="0"/>
              <a:t> II</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54667" y="1981200"/>
            <a:ext cx="3034665" cy="4495800"/>
          </a:xfrm>
        </p:spPr>
      </p:pic>
    </p:spTree>
    <p:extLst>
      <p:ext uri="{BB962C8B-B14F-4D97-AF65-F5344CB8AC3E}">
        <p14:creationId xmlns:p14="http://schemas.microsoft.com/office/powerpoint/2010/main" val="16076630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III: </a:t>
            </a:r>
            <a:br>
              <a:rPr lang="en-US" dirty="0"/>
            </a:br>
            <a:r>
              <a:rPr lang="en-US" dirty="0"/>
              <a:t>The monster experiment</a:t>
            </a:r>
          </a:p>
        </p:txBody>
      </p:sp>
      <p:sp>
        <p:nvSpPr>
          <p:cNvPr id="3" name="Content Placeholder 2"/>
          <p:cNvSpPr>
            <a:spLocks noGrp="1"/>
          </p:cNvSpPr>
          <p:nvPr>
            <p:ph idx="1"/>
          </p:nvPr>
        </p:nvSpPr>
        <p:spPr/>
        <p:txBody>
          <a:bodyPr/>
          <a:lstStyle/>
          <a:p>
            <a:r>
              <a:rPr lang="en-US" sz="2400" dirty="0"/>
              <a:t>Wendell Johnson from the University of Iowa conducted a stuttering experiment on 22 orphan children in 1939. </a:t>
            </a:r>
          </a:p>
          <a:p>
            <a:r>
              <a:rPr lang="en-US" sz="2400" dirty="0"/>
              <a:t>The children were put in four control and experimental groups. </a:t>
            </a:r>
          </a:p>
          <a:p>
            <a:r>
              <a:rPr lang="en-US" sz="2400" dirty="0"/>
              <a:t>Half of the kids were given praises and compliments on their fluency of speech, and negative feedbacks to the other half by belittling them for even tiny speech imperfections. </a:t>
            </a:r>
          </a:p>
          <a:p>
            <a:r>
              <a:rPr lang="en-US" sz="2400" dirty="0"/>
              <a:t>Children in experimental groups were also constantly told that they were stutterers. </a:t>
            </a:r>
          </a:p>
          <a:p>
            <a:r>
              <a:rPr lang="en-US" sz="2400" dirty="0"/>
              <a:t>The result? </a:t>
            </a:r>
          </a:p>
        </p:txBody>
      </p:sp>
    </p:spTree>
    <p:extLst>
      <p:ext uri="{BB962C8B-B14F-4D97-AF65-F5344CB8AC3E}">
        <p14:creationId xmlns:p14="http://schemas.microsoft.com/office/powerpoint/2010/main" val="1003486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GB" dirty="0"/>
              <a:t>Case study IV: The Milgram experiment</a:t>
            </a:r>
          </a:p>
        </p:txBody>
      </p:sp>
      <p:sp>
        <p:nvSpPr>
          <p:cNvPr id="24579" name="Rectangle 3"/>
          <p:cNvSpPr>
            <a:spLocks noGrp="1" noChangeArrowheads="1"/>
          </p:cNvSpPr>
          <p:nvPr>
            <p:ph sz="half" idx="1"/>
          </p:nvPr>
        </p:nvSpPr>
        <p:spPr/>
        <p:txBody>
          <a:bodyPr/>
          <a:lstStyle/>
          <a:p>
            <a:pPr>
              <a:lnSpc>
                <a:spcPct val="90000"/>
              </a:lnSpc>
            </a:pPr>
            <a:r>
              <a:rPr lang="en-GB" sz="1800" dirty="0"/>
              <a:t>Stanley Milgram </a:t>
            </a:r>
            <a:r>
              <a:rPr lang="mr-IN" sz="1800" dirty="0"/>
              <a:t>–</a:t>
            </a:r>
            <a:r>
              <a:rPr lang="en-GB" sz="1800" dirty="0"/>
              <a:t> psychologist at Yale University.</a:t>
            </a:r>
          </a:p>
          <a:p>
            <a:pPr>
              <a:lnSpc>
                <a:spcPct val="90000"/>
              </a:lnSpc>
            </a:pPr>
            <a:r>
              <a:rPr lang="en-GB" sz="1800" dirty="0"/>
              <a:t>Conducted an experiment focusing on the conflict between obedience to authority and personal conscience (1961).</a:t>
            </a:r>
          </a:p>
          <a:p>
            <a:pPr>
              <a:lnSpc>
                <a:spcPct val="90000"/>
              </a:lnSpc>
            </a:pPr>
            <a:r>
              <a:rPr lang="en-GB" sz="1800" dirty="0"/>
              <a:t>He examined justifications for acts of genocide offered by those accused at the World War II, Nuremberg War Criminal trials. Their defence was often based on “obedience”, i.e., that they were just following orders from their superiors.</a:t>
            </a:r>
          </a:p>
          <a:p>
            <a:pPr>
              <a:lnSpc>
                <a:spcPct val="90000"/>
              </a:lnSpc>
            </a:pPr>
            <a:endParaRPr lang="en-GB" sz="1800" dirty="0"/>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648200" y="2486458"/>
            <a:ext cx="3810000" cy="3485284"/>
          </a:xfr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63812" y="5741006"/>
            <a:ext cx="5368776" cy="1116994"/>
          </a:xfrm>
          <a:prstGeom prst="rect">
            <a:avLst/>
          </a:prstGeom>
        </p:spPr>
      </p:pic>
    </p:spTree>
    <p:extLst>
      <p:ext uri="{BB962C8B-B14F-4D97-AF65-F5344CB8AC3E}">
        <p14:creationId xmlns:p14="http://schemas.microsoft.com/office/powerpoint/2010/main" val="508514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IV: The Milgram experiment</a:t>
            </a:r>
          </a:p>
        </p:txBody>
      </p:sp>
      <p:pic>
        <p:nvPicPr>
          <p:cNvPr id="5" name="Milgrams Obedience to Authority Experiment 2009 13.mp4">
            <a:hlinkClick r:id="" action="ppaction://media"/>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574800" y="1981200"/>
            <a:ext cx="5994400" cy="4495800"/>
          </a:xfrm>
        </p:spPr>
      </p:pic>
    </p:spTree>
    <p:extLst>
      <p:ext uri="{BB962C8B-B14F-4D97-AF65-F5344CB8AC3E}">
        <p14:creationId xmlns:p14="http://schemas.microsoft.com/office/powerpoint/2010/main" val="176224430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vol="92424">
                <p:cTn id="7" fill="hold" display="0">
                  <p:stCondLst>
                    <p:cond delay="indefinite"/>
                  </p:stCondLst>
                </p:cTn>
                <p:tgtEl>
                  <p:spTgt spid="5"/>
                </p:tgtEl>
              </p:cMediaNode>
            </p:vide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What’s in it for you</a:t>
            </a:r>
            <a:r>
              <a:rPr lang="mr-IN" dirty="0"/>
              <a:t>…</a:t>
            </a:r>
            <a:endParaRPr lang="en-US" dirty="0"/>
          </a:p>
        </p:txBody>
      </p:sp>
      <p:sp>
        <p:nvSpPr>
          <p:cNvPr id="3" name="Content Placeholder 2"/>
          <p:cNvSpPr>
            <a:spLocks noGrp="1"/>
          </p:cNvSpPr>
          <p:nvPr>
            <p:ph idx="1"/>
          </p:nvPr>
        </p:nvSpPr>
        <p:spPr/>
        <p:txBody>
          <a:bodyPr/>
          <a:lstStyle/>
          <a:p>
            <a:pPr marL="0" indent="0" algn="ctr">
              <a:buNone/>
            </a:pPr>
            <a:endParaRPr lang="en-US" sz="2800" dirty="0"/>
          </a:p>
          <a:p>
            <a:pPr marL="0" indent="0" algn="ctr">
              <a:buNone/>
            </a:pPr>
            <a:r>
              <a:rPr lang="en-US" sz="2800" dirty="0"/>
              <a:t>What we’ve seen so far are extreme cases, </a:t>
            </a:r>
            <a:br>
              <a:rPr lang="en-US" sz="2800" dirty="0"/>
            </a:br>
            <a:r>
              <a:rPr lang="en-US" sz="2800" dirty="0"/>
              <a:t>but what does it mean for you?</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2316" y="3645024"/>
            <a:ext cx="1539368" cy="1652429"/>
          </a:xfrm>
          <a:prstGeom prst="rect">
            <a:avLst/>
          </a:prstGeom>
        </p:spPr>
      </p:pic>
    </p:spTree>
    <p:extLst>
      <p:ext uri="{BB962C8B-B14F-4D97-AF65-F5344CB8AC3E}">
        <p14:creationId xmlns:p14="http://schemas.microsoft.com/office/powerpoint/2010/main" val="1124930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GB"/>
              <a:t>Fraud</a:t>
            </a:r>
          </a:p>
        </p:txBody>
      </p:sp>
      <p:sp>
        <p:nvSpPr>
          <p:cNvPr id="26627" name="Rectangle 3"/>
          <p:cNvSpPr>
            <a:spLocks noGrp="1" noChangeArrowheads="1"/>
          </p:cNvSpPr>
          <p:nvPr>
            <p:ph type="body" idx="1"/>
          </p:nvPr>
        </p:nvSpPr>
        <p:spPr/>
        <p:txBody>
          <a:bodyPr/>
          <a:lstStyle/>
          <a:p>
            <a:endParaRPr lang="en-GB" sz="2800" dirty="0"/>
          </a:p>
          <a:p>
            <a:r>
              <a:rPr lang="en-GB" sz="2800" dirty="0"/>
              <a:t>Omission</a:t>
            </a:r>
          </a:p>
          <a:p>
            <a:pPr lvl="1"/>
            <a:r>
              <a:rPr lang="en-GB" sz="2800" dirty="0"/>
              <a:t>Do not say something that should be said</a:t>
            </a:r>
          </a:p>
          <a:p>
            <a:r>
              <a:rPr lang="en-GB" sz="2800" dirty="0"/>
              <a:t>Commission</a:t>
            </a:r>
          </a:p>
          <a:p>
            <a:pPr lvl="1"/>
            <a:r>
              <a:rPr lang="en-GB" sz="2800" dirty="0"/>
              <a:t>Say something false</a:t>
            </a:r>
          </a:p>
        </p:txBody>
      </p:sp>
    </p:spTree>
    <p:extLst>
      <p:ext uri="{BB962C8B-B14F-4D97-AF65-F5344CB8AC3E}">
        <p14:creationId xmlns:p14="http://schemas.microsoft.com/office/powerpoint/2010/main" val="1935609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GB"/>
              <a:t>Fraud</a:t>
            </a:r>
          </a:p>
        </p:txBody>
      </p:sp>
      <p:sp>
        <p:nvSpPr>
          <p:cNvPr id="27651" name="Rectangle 3"/>
          <p:cNvSpPr>
            <a:spLocks noGrp="1" noChangeArrowheads="1"/>
          </p:cNvSpPr>
          <p:nvPr>
            <p:ph type="body" idx="1"/>
          </p:nvPr>
        </p:nvSpPr>
        <p:spPr/>
        <p:txBody>
          <a:bodyPr/>
          <a:lstStyle/>
          <a:p>
            <a:r>
              <a:rPr lang="en-GB" sz="2800" dirty="0"/>
              <a:t>Fabrication</a:t>
            </a:r>
          </a:p>
          <a:p>
            <a:pPr lvl="1"/>
            <a:r>
              <a:rPr lang="en-GB" sz="1800" dirty="0"/>
              <a:t>making up data, lying about procedures</a:t>
            </a:r>
          </a:p>
          <a:p>
            <a:pPr lvl="1"/>
            <a:r>
              <a:rPr lang="en-GB" sz="1800" dirty="0"/>
              <a:t>Keep field records and logs</a:t>
            </a:r>
          </a:p>
          <a:p>
            <a:pPr lvl="2"/>
            <a:r>
              <a:rPr lang="en-GB" sz="1800" dirty="0"/>
              <a:t>They are your proof of what you actually did</a:t>
            </a:r>
          </a:p>
          <a:p>
            <a:r>
              <a:rPr lang="en-GB" sz="2800" dirty="0"/>
              <a:t>Falsification</a:t>
            </a:r>
          </a:p>
          <a:p>
            <a:pPr lvl="1"/>
            <a:r>
              <a:rPr lang="en-GB" sz="1800" dirty="0"/>
              <a:t>manipulating data to obtain a desired outcome</a:t>
            </a:r>
          </a:p>
          <a:p>
            <a:pPr lvl="1"/>
            <a:r>
              <a:rPr lang="en-GB" sz="1800" dirty="0"/>
              <a:t>e.g. discarding data</a:t>
            </a:r>
          </a:p>
          <a:p>
            <a:pPr lvl="2"/>
            <a:r>
              <a:rPr lang="en-GB" sz="1800" dirty="0"/>
              <a:t>Be open and discuss in the article what you discard and why</a:t>
            </a:r>
          </a:p>
          <a:p>
            <a:r>
              <a:rPr lang="en-GB" sz="2800" dirty="0"/>
              <a:t>Plagiarism (self-)</a:t>
            </a:r>
          </a:p>
          <a:p>
            <a:pPr lvl="1"/>
            <a:r>
              <a:rPr lang="en-GB" sz="1800" dirty="0"/>
              <a:t>taking credit for someone else</a:t>
            </a:r>
            <a:r>
              <a:rPr lang="ja-JP" altLang="en-GB" sz="1800" dirty="0">
                <a:latin typeface="Arial"/>
              </a:rPr>
              <a:t>’</a:t>
            </a:r>
            <a:r>
              <a:rPr lang="en-GB" sz="1800" dirty="0"/>
              <a:t>s work</a:t>
            </a:r>
          </a:p>
        </p:txBody>
      </p:sp>
    </p:spTree>
    <p:extLst>
      <p:ext uri="{BB962C8B-B14F-4D97-AF65-F5344CB8AC3E}">
        <p14:creationId xmlns:p14="http://schemas.microsoft.com/office/powerpoint/2010/main" val="21584882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GB" sz="2400" dirty="0"/>
              <a:t>Software Engineering Code of Ethics</a:t>
            </a:r>
          </a:p>
        </p:txBody>
      </p:sp>
      <p:sp>
        <p:nvSpPr>
          <p:cNvPr id="29699" name="Rectangle 3"/>
          <p:cNvSpPr>
            <a:spLocks noGrp="1" noChangeArrowheads="1"/>
          </p:cNvSpPr>
          <p:nvPr>
            <p:ph type="body" idx="1"/>
          </p:nvPr>
        </p:nvSpPr>
        <p:spPr/>
        <p:txBody>
          <a:bodyPr/>
          <a:lstStyle/>
          <a:p>
            <a:pPr>
              <a:lnSpc>
                <a:spcPct val="80000"/>
              </a:lnSpc>
            </a:pPr>
            <a:r>
              <a:rPr lang="en-GB" sz="1400" dirty="0">
                <a:hlinkClick r:id="rId2"/>
              </a:rPr>
              <a:t>http://www.computer.org/tab/seprof/code.htm</a:t>
            </a:r>
            <a:endParaRPr lang="en-GB" sz="1400" dirty="0"/>
          </a:p>
          <a:p>
            <a:pPr>
              <a:lnSpc>
                <a:spcPct val="80000"/>
              </a:lnSpc>
            </a:pPr>
            <a:endParaRPr lang="en-GB" sz="1400" dirty="0"/>
          </a:p>
          <a:p>
            <a:pPr>
              <a:lnSpc>
                <a:spcPct val="80000"/>
              </a:lnSpc>
              <a:buFont typeface="Wingdings" charset="0"/>
              <a:buNone/>
            </a:pPr>
            <a:r>
              <a:rPr lang="en-GB" sz="1400" dirty="0"/>
              <a:t>	Software engineers shall commit themselves to making the analysis, specification, design, development, testing and maintenance of software a beneficial and respected profession. In accordance with their commitment to the health, safety and welfare of the public, software engineers shall adhere to the following Eight Principles:</a:t>
            </a:r>
          </a:p>
          <a:p>
            <a:pPr>
              <a:lnSpc>
                <a:spcPct val="80000"/>
              </a:lnSpc>
              <a:buFont typeface="Wingdings" charset="0"/>
              <a:buAutoNum type="arabicPeriod"/>
            </a:pPr>
            <a:r>
              <a:rPr lang="en-GB" sz="1400" dirty="0">
                <a:hlinkClick r:id="rId2"/>
              </a:rPr>
              <a:t>PUBLIC</a:t>
            </a:r>
            <a:r>
              <a:rPr lang="en-GB" sz="1400" dirty="0"/>
              <a:t> - Software engineers shall act consistently with the public interest.</a:t>
            </a:r>
          </a:p>
          <a:p>
            <a:pPr>
              <a:lnSpc>
                <a:spcPct val="80000"/>
              </a:lnSpc>
              <a:buFont typeface="Wingdings" charset="0"/>
              <a:buAutoNum type="arabicPeriod"/>
            </a:pPr>
            <a:r>
              <a:rPr lang="en-GB" sz="1400" dirty="0">
                <a:hlinkClick r:id="rId2"/>
              </a:rPr>
              <a:t>CLIENT AND EMPLOYER</a:t>
            </a:r>
            <a:r>
              <a:rPr lang="en-GB" sz="1400" dirty="0"/>
              <a:t> - Software engineers shall act in a manner that is in the best interests of their client and employer, consistent with the public interest.</a:t>
            </a:r>
          </a:p>
          <a:p>
            <a:pPr>
              <a:lnSpc>
                <a:spcPct val="80000"/>
              </a:lnSpc>
              <a:buFont typeface="Wingdings" charset="0"/>
              <a:buAutoNum type="arabicPeriod"/>
            </a:pPr>
            <a:r>
              <a:rPr lang="en-GB" sz="1400" dirty="0">
                <a:hlinkClick r:id="rId2"/>
              </a:rPr>
              <a:t>PRODUCT</a:t>
            </a:r>
            <a:r>
              <a:rPr lang="en-GB" sz="1400" dirty="0"/>
              <a:t> - Software engineers shall ensure that their products and related modifications meet the highest professional standards possible.</a:t>
            </a:r>
          </a:p>
          <a:p>
            <a:pPr>
              <a:lnSpc>
                <a:spcPct val="80000"/>
              </a:lnSpc>
              <a:buFont typeface="Wingdings" charset="0"/>
              <a:buAutoNum type="arabicPeriod"/>
            </a:pPr>
            <a:r>
              <a:rPr lang="en-GB" sz="1400" dirty="0">
                <a:hlinkClick r:id="rId2"/>
              </a:rPr>
              <a:t>JUDGMENT</a:t>
            </a:r>
            <a:r>
              <a:rPr lang="en-GB" sz="1400" dirty="0"/>
              <a:t> - Software engineers shall maintain integrity and independence in their professional judgment.</a:t>
            </a:r>
          </a:p>
          <a:p>
            <a:pPr>
              <a:lnSpc>
                <a:spcPct val="80000"/>
              </a:lnSpc>
              <a:buFont typeface="Wingdings" charset="0"/>
              <a:buAutoNum type="arabicPeriod"/>
            </a:pPr>
            <a:r>
              <a:rPr lang="en-GB" sz="1400" dirty="0">
                <a:hlinkClick r:id="rId2"/>
              </a:rPr>
              <a:t>MANAGEMENT </a:t>
            </a:r>
            <a:r>
              <a:rPr lang="en-GB" sz="1400" dirty="0"/>
              <a:t>- Software engineering managers and leaders shall subscribe to and promote an ethical approach to the management of software development and maintenance.</a:t>
            </a:r>
          </a:p>
          <a:p>
            <a:pPr>
              <a:lnSpc>
                <a:spcPct val="80000"/>
              </a:lnSpc>
              <a:buFont typeface="Wingdings" charset="0"/>
              <a:buAutoNum type="arabicPeriod"/>
            </a:pPr>
            <a:r>
              <a:rPr lang="en-GB" sz="1400" dirty="0">
                <a:hlinkClick r:id="rId2"/>
              </a:rPr>
              <a:t>PROFESSION</a:t>
            </a:r>
            <a:r>
              <a:rPr lang="en-GB" sz="1400" dirty="0"/>
              <a:t> - Software engineers shall advance the integrity and reputation of the profession consistent with the public interest.</a:t>
            </a:r>
          </a:p>
          <a:p>
            <a:pPr>
              <a:lnSpc>
                <a:spcPct val="80000"/>
              </a:lnSpc>
              <a:buFont typeface="Wingdings" charset="0"/>
              <a:buAutoNum type="arabicPeriod"/>
            </a:pPr>
            <a:r>
              <a:rPr lang="en-GB" sz="1400" dirty="0">
                <a:hlinkClick r:id="rId2"/>
              </a:rPr>
              <a:t>COLLEAGUES</a:t>
            </a:r>
            <a:r>
              <a:rPr lang="en-GB" sz="1400" dirty="0"/>
              <a:t> - Software engineers shall be fair to and supportive of their colleagues.</a:t>
            </a:r>
          </a:p>
          <a:p>
            <a:pPr>
              <a:lnSpc>
                <a:spcPct val="80000"/>
              </a:lnSpc>
              <a:buFont typeface="Wingdings" charset="0"/>
              <a:buAutoNum type="arabicPeriod"/>
            </a:pPr>
            <a:r>
              <a:rPr lang="en-GB" sz="1400" dirty="0">
                <a:hlinkClick r:id="rId2"/>
              </a:rPr>
              <a:t>SELF</a:t>
            </a:r>
            <a:r>
              <a:rPr lang="en-GB" sz="1400" dirty="0"/>
              <a:t> - Software engineers shall participate in lifelong learning regarding the practice of their profession and shall promote an ethical approach to the practice of the profession.</a:t>
            </a:r>
          </a:p>
        </p:txBody>
      </p:sp>
    </p:spTree>
    <p:extLst>
      <p:ext uri="{BB962C8B-B14F-4D97-AF65-F5344CB8AC3E}">
        <p14:creationId xmlns:p14="http://schemas.microsoft.com/office/powerpoint/2010/main" val="26682238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9F79F44E-2475-5C45-8764-2E576DA74D4C}"/>
              </a:ext>
            </a:extLst>
          </p:cNvPr>
          <p:cNvPicPr>
            <a:picLocks noGrp="1" noChangeAspect="1"/>
          </p:cNvPicPr>
          <p:nvPr>
            <p:ph idx="1"/>
          </p:nvPr>
        </p:nvPicPr>
        <p:blipFill>
          <a:blip r:embed="rId2"/>
          <a:stretch>
            <a:fillRect/>
          </a:stretch>
        </p:blipFill>
        <p:spPr>
          <a:xfrm>
            <a:off x="1619672" y="1268760"/>
            <a:ext cx="5080000" cy="4102100"/>
          </a:xfrm>
        </p:spPr>
      </p:pic>
    </p:spTree>
    <p:extLst>
      <p:ext uri="{BB962C8B-B14F-4D97-AF65-F5344CB8AC3E}">
        <p14:creationId xmlns:p14="http://schemas.microsoft.com/office/powerpoint/2010/main" val="10797300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3FD9147-2B6C-EA44-A351-DE4A02575201}"/>
              </a:ext>
            </a:extLst>
          </p:cNvPr>
          <p:cNvPicPr>
            <a:picLocks noGrp="1" noChangeAspect="1"/>
          </p:cNvPicPr>
          <p:nvPr>
            <p:ph idx="1"/>
          </p:nvPr>
        </p:nvPicPr>
        <p:blipFill>
          <a:blip r:embed="rId2"/>
          <a:stretch>
            <a:fillRect/>
          </a:stretch>
        </p:blipFill>
        <p:spPr>
          <a:xfrm>
            <a:off x="1331640" y="764704"/>
            <a:ext cx="6323174" cy="4495800"/>
          </a:xfrm>
        </p:spPr>
      </p:pic>
    </p:spTree>
    <p:extLst>
      <p:ext uri="{BB962C8B-B14F-4D97-AF65-F5344CB8AC3E}">
        <p14:creationId xmlns:p14="http://schemas.microsoft.com/office/powerpoint/2010/main" val="213999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dirty="0" err="1"/>
              <a:t>Homework</a:t>
            </a:r>
            <a:endParaRPr lang="sv-SE" dirty="0"/>
          </a:p>
        </p:txBody>
      </p:sp>
      <p:sp>
        <p:nvSpPr>
          <p:cNvPr id="3" name="Content Placeholder 2"/>
          <p:cNvSpPr>
            <a:spLocks noGrp="1"/>
          </p:cNvSpPr>
          <p:nvPr>
            <p:ph idx="1"/>
          </p:nvPr>
        </p:nvSpPr>
        <p:spPr/>
        <p:txBody>
          <a:bodyPr/>
          <a:lstStyle/>
          <a:p>
            <a:pPr>
              <a:buFontTx/>
              <a:buChar char="-"/>
            </a:pPr>
            <a:r>
              <a:rPr lang="sv-SE" dirty="0" err="1"/>
              <a:t>Each</a:t>
            </a:r>
            <a:r>
              <a:rPr lang="sv-SE" dirty="0"/>
              <a:t> </a:t>
            </a:r>
            <a:r>
              <a:rPr lang="sv-SE" dirty="0" err="1"/>
              <a:t>group</a:t>
            </a:r>
            <a:r>
              <a:rPr lang="sv-SE" dirty="0"/>
              <a:t> must make an </a:t>
            </a:r>
            <a:r>
              <a:rPr lang="sv-SE" b="1" dirty="0" err="1"/>
              <a:t>ethics</a:t>
            </a:r>
            <a:r>
              <a:rPr lang="sv-SE" b="1" dirty="0"/>
              <a:t> </a:t>
            </a:r>
            <a:r>
              <a:rPr lang="sv-SE" b="1" dirty="0" err="1"/>
              <a:t>assignment</a:t>
            </a:r>
            <a:r>
              <a:rPr lang="sv-SE" b="1" dirty="0"/>
              <a:t> </a:t>
            </a:r>
            <a:r>
              <a:rPr lang="sv-SE" dirty="0"/>
              <a:t>to be sent in to the </a:t>
            </a:r>
            <a:r>
              <a:rPr lang="sv-SE" dirty="0" err="1"/>
              <a:t>examiner</a:t>
            </a:r>
            <a:r>
              <a:rPr lang="sv-SE" dirty="0"/>
              <a:t> (Erland Jonsson) </a:t>
            </a:r>
            <a:r>
              <a:rPr lang="sv-SE" b="1" dirty="0" err="1"/>
              <a:t>before</a:t>
            </a:r>
            <a:r>
              <a:rPr lang="sv-SE" b="1" dirty="0"/>
              <a:t> </a:t>
            </a:r>
            <a:r>
              <a:rPr lang="sv-SE" b="1" dirty="0" err="1"/>
              <a:t>Sun</a:t>
            </a:r>
            <a:r>
              <a:rPr lang="sv-SE" b="1" dirty="0"/>
              <a:t> 2017-10-08, 23.59</a:t>
            </a:r>
            <a:r>
              <a:rPr lang="sv-SE" dirty="0"/>
              <a:t>. </a:t>
            </a:r>
            <a:br>
              <a:rPr lang="sv-SE" dirty="0"/>
            </a:br>
            <a:r>
              <a:rPr lang="sv-SE" dirty="0"/>
              <a:t> </a:t>
            </a:r>
          </a:p>
          <a:p>
            <a:pPr>
              <a:buFontTx/>
              <a:buChar char="-"/>
            </a:pPr>
            <a:r>
              <a:rPr lang="sv-SE" dirty="0"/>
              <a:t>The </a:t>
            </a:r>
            <a:r>
              <a:rPr lang="sv-SE" dirty="0" err="1"/>
              <a:t>assignment</a:t>
            </a:r>
            <a:r>
              <a:rPr lang="sv-SE" dirty="0"/>
              <a:t> is to </a:t>
            </a:r>
            <a:r>
              <a:rPr lang="sv-SE" dirty="0" err="1"/>
              <a:t>write</a:t>
            </a:r>
            <a:r>
              <a:rPr lang="sv-SE" dirty="0"/>
              <a:t> an essay </a:t>
            </a:r>
            <a:r>
              <a:rPr lang="sv-SE" dirty="0" err="1"/>
              <a:t>that</a:t>
            </a:r>
            <a:r>
              <a:rPr lang="sv-SE" dirty="0"/>
              <a:t> </a:t>
            </a:r>
            <a:r>
              <a:rPr lang="sv-SE" dirty="0" err="1"/>
              <a:t>discusses</a:t>
            </a:r>
            <a:r>
              <a:rPr lang="sv-SE" dirty="0"/>
              <a:t> a </a:t>
            </a:r>
            <a:r>
              <a:rPr lang="sv-SE" dirty="0" err="1"/>
              <a:t>specific</a:t>
            </a:r>
            <a:r>
              <a:rPr lang="sv-SE" dirty="0"/>
              <a:t> </a:t>
            </a:r>
            <a:r>
              <a:rPr lang="sv-SE" dirty="0" err="1"/>
              <a:t>ethical</a:t>
            </a:r>
            <a:r>
              <a:rPr lang="sv-SE" dirty="0"/>
              <a:t> </a:t>
            </a:r>
            <a:r>
              <a:rPr lang="sv-SE" dirty="0" err="1"/>
              <a:t>issue</a:t>
            </a:r>
            <a:r>
              <a:rPr lang="sv-SE" dirty="0"/>
              <a:t>/</a:t>
            </a:r>
            <a:r>
              <a:rPr lang="sv-SE" dirty="0" err="1"/>
              <a:t>question</a:t>
            </a:r>
            <a:r>
              <a:rPr lang="sv-SE" dirty="0"/>
              <a:t>. The essay </a:t>
            </a:r>
            <a:r>
              <a:rPr lang="sv-SE" dirty="0" err="1"/>
              <a:t>should</a:t>
            </a:r>
            <a:r>
              <a:rPr lang="sv-SE" dirty="0"/>
              <a:t> </a:t>
            </a:r>
            <a:r>
              <a:rPr lang="sv-SE" dirty="0" err="1"/>
              <a:t>typically</a:t>
            </a:r>
            <a:r>
              <a:rPr lang="sv-SE" dirty="0"/>
              <a:t> be 1-2 pages. </a:t>
            </a:r>
          </a:p>
          <a:p>
            <a:pPr>
              <a:buFontTx/>
              <a:buChar char="-"/>
            </a:pPr>
            <a:endParaRPr lang="sv-SE" dirty="0"/>
          </a:p>
          <a:p>
            <a:pPr>
              <a:buFontTx/>
              <a:buChar char="-"/>
            </a:pPr>
            <a:r>
              <a:rPr lang="sv-SE" dirty="0" err="1"/>
              <a:t>Please</a:t>
            </a:r>
            <a:r>
              <a:rPr lang="sv-SE" dirty="0"/>
              <a:t> note </a:t>
            </a:r>
            <a:r>
              <a:rPr lang="sv-SE" dirty="0" err="1"/>
              <a:t>that</a:t>
            </a:r>
            <a:r>
              <a:rPr lang="sv-SE" dirty="0"/>
              <a:t> </a:t>
            </a:r>
            <a:r>
              <a:rPr lang="sv-SE" dirty="0" err="1"/>
              <a:t>there</a:t>
            </a:r>
            <a:r>
              <a:rPr lang="sv-SE" dirty="0"/>
              <a:t> </a:t>
            </a:r>
            <a:r>
              <a:rPr lang="sv-SE" dirty="0" err="1"/>
              <a:t>are</a:t>
            </a:r>
            <a:r>
              <a:rPr lang="sv-SE" dirty="0"/>
              <a:t> no ”right </a:t>
            </a:r>
            <a:r>
              <a:rPr lang="sv-SE" dirty="0" err="1"/>
              <a:t>answers</a:t>
            </a:r>
            <a:r>
              <a:rPr lang="sv-SE" dirty="0"/>
              <a:t>” to </a:t>
            </a:r>
            <a:r>
              <a:rPr lang="sv-SE" dirty="0" err="1"/>
              <a:t>these</a:t>
            </a:r>
            <a:r>
              <a:rPr lang="sv-SE" dirty="0"/>
              <a:t> </a:t>
            </a:r>
            <a:r>
              <a:rPr lang="sv-SE" dirty="0" err="1"/>
              <a:t>questions</a:t>
            </a:r>
            <a:r>
              <a:rPr lang="sv-SE" dirty="0"/>
              <a:t>. </a:t>
            </a:r>
            <a:r>
              <a:rPr lang="sv-SE" dirty="0" err="1"/>
              <a:t>Your</a:t>
            </a:r>
            <a:r>
              <a:rPr lang="sv-SE" dirty="0"/>
              <a:t> essay </a:t>
            </a:r>
            <a:r>
              <a:rPr lang="sv-SE" dirty="0" err="1"/>
              <a:t>will</a:t>
            </a:r>
            <a:r>
              <a:rPr lang="sv-SE" dirty="0"/>
              <a:t> be </a:t>
            </a:r>
            <a:r>
              <a:rPr lang="sv-SE" dirty="0" err="1"/>
              <a:t>judged</a:t>
            </a:r>
            <a:r>
              <a:rPr lang="sv-SE" dirty="0"/>
              <a:t> from </a:t>
            </a:r>
            <a:r>
              <a:rPr lang="sv-SE" dirty="0" err="1"/>
              <a:t>your</a:t>
            </a:r>
            <a:r>
              <a:rPr lang="sv-SE" dirty="0"/>
              <a:t> </a:t>
            </a:r>
            <a:r>
              <a:rPr lang="sv-SE" dirty="0" err="1"/>
              <a:t>discussion</a:t>
            </a:r>
            <a:r>
              <a:rPr lang="sv-SE" dirty="0"/>
              <a:t> </a:t>
            </a:r>
            <a:r>
              <a:rPr lang="sv-SE" dirty="0" err="1"/>
              <a:t>of</a:t>
            </a:r>
            <a:r>
              <a:rPr lang="sv-SE" dirty="0"/>
              <a:t> the </a:t>
            </a:r>
            <a:r>
              <a:rPr lang="sv-SE" dirty="0" err="1"/>
              <a:t>topic</a:t>
            </a:r>
            <a:r>
              <a:rPr lang="sv-SE" dirty="0"/>
              <a:t> (pass/</a:t>
            </a:r>
            <a:r>
              <a:rPr lang="sv-SE" dirty="0" err="1"/>
              <a:t>fail</a:t>
            </a:r>
            <a:r>
              <a:rPr lang="sv-SE" dirty="0"/>
              <a:t>). </a:t>
            </a:r>
          </a:p>
          <a:p>
            <a:pPr>
              <a:buFontTx/>
              <a:buChar char="-"/>
            </a:pPr>
            <a:endParaRPr lang="sv-SE" dirty="0"/>
          </a:p>
          <a:p>
            <a:pPr>
              <a:buFontTx/>
              <a:buChar char="-"/>
            </a:pPr>
            <a:r>
              <a:rPr lang="sv-SE" dirty="0" err="1"/>
              <a:t>Please</a:t>
            </a:r>
            <a:r>
              <a:rPr lang="sv-SE" dirty="0"/>
              <a:t> note </a:t>
            </a:r>
            <a:r>
              <a:rPr lang="sv-SE" dirty="0" err="1"/>
              <a:t>that</a:t>
            </a:r>
            <a:r>
              <a:rPr lang="sv-SE" dirty="0"/>
              <a:t> </a:t>
            </a:r>
            <a:r>
              <a:rPr lang="sv-SE" dirty="0" err="1"/>
              <a:t>only</a:t>
            </a:r>
            <a:r>
              <a:rPr lang="sv-SE" dirty="0"/>
              <a:t> </a:t>
            </a:r>
            <a:r>
              <a:rPr lang="sv-SE" dirty="0" err="1"/>
              <a:t>one</a:t>
            </a:r>
            <a:r>
              <a:rPr lang="sv-SE" dirty="0"/>
              <a:t> essay per </a:t>
            </a:r>
            <a:r>
              <a:rPr lang="sv-SE" dirty="0" err="1"/>
              <a:t>group</a:t>
            </a:r>
            <a:r>
              <a:rPr lang="sv-SE" dirty="0"/>
              <a:t> (not per student) is to be sent to the </a:t>
            </a:r>
            <a:r>
              <a:rPr lang="sv-SE" dirty="0" err="1"/>
              <a:t>examiner</a:t>
            </a:r>
            <a:r>
              <a:rPr lang="sv-SE" dirty="0"/>
              <a:t>.</a:t>
            </a:r>
          </a:p>
          <a:p>
            <a:pPr marL="0" indent="0">
              <a:buNone/>
            </a:pPr>
            <a:endParaRPr lang="sv-SE" dirty="0"/>
          </a:p>
        </p:txBody>
      </p:sp>
    </p:spTree>
    <p:extLst>
      <p:ext uri="{BB962C8B-B14F-4D97-AF65-F5344CB8AC3E}">
        <p14:creationId xmlns:p14="http://schemas.microsoft.com/office/powerpoint/2010/main" val="9730322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dirty="0" err="1"/>
              <a:t>Homework</a:t>
            </a:r>
            <a:endParaRPr lang="sv-SE" dirty="0"/>
          </a:p>
        </p:txBody>
      </p:sp>
      <p:sp>
        <p:nvSpPr>
          <p:cNvPr id="3" name="Content Placeholder 2"/>
          <p:cNvSpPr>
            <a:spLocks noGrp="1"/>
          </p:cNvSpPr>
          <p:nvPr>
            <p:ph idx="1"/>
          </p:nvPr>
        </p:nvSpPr>
        <p:spPr/>
        <p:txBody>
          <a:bodyPr/>
          <a:lstStyle/>
          <a:p>
            <a:pPr>
              <a:buFontTx/>
              <a:buChar char="-"/>
            </a:pPr>
            <a:r>
              <a:rPr lang="sv-SE" dirty="0"/>
              <a:t>The </a:t>
            </a:r>
            <a:r>
              <a:rPr lang="sv-SE" dirty="0" err="1"/>
              <a:t>question</a:t>
            </a:r>
            <a:r>
              <a:rPr lang="sv-SE" dirty="0"/>
              <a:t>-to-</a:t>
            </a:r>
            <a:r>
              <a:rPr lang="sv-SE" dirty="0" err="1"/>
              <a:t>group</a:t>
            </a:r>
            <a:r>
              <a:rPr lang="sv-SE" dirty="0"/>
              <a:t> </a:t>
            </a:r>
            <a:r>
              <a:rPr lang="sv-SE" dirty="0" err="1"/>
              <a:t>allocation</a:t>
            </a:r>
            <a:r>
              <a:rPr lang="sv-SE" dirty="0"/>
              <a:t> is: </a:t>
            </a:r>
          </a:p>
          <a:p>
            <a:pPr>
              <a:buFontTx/>
              <a:buChar char="-"/>
            </a:pPr>
            <a:endParaRPr lang="sv-SE" dirty="0"/>
          </a:p>
          <a:p>
            <a:pPr lvl="1">
              <a:buFontTx/>
              <a:buChar char="-"/>
            </a:pPr>
            <a:r>
              <a:rPr lang="sv-SE" dirty="0" err="1"/>
              <a:t>Question</a:t>
            </a:r>
            <a:r>
              <a:rPr lang="sv-SE" dirty="0"/>
              <a:t> 1: Groups 1,  6, 11, 16, 21</a:t>
            </a:r>
          </a:p>
          <a:p>
            <a:pPr lvl="1">
              <a:buFontTx/>
              <a:buChar char="-"/>
            </a:pPr>
            <a:r>
              <a:rPr lang="sv-SE" dirty="0" err="1"/>
              <a:t>Question</a:t>
            </a:r>
            <a:r>
              <a:rPr lang="sv-SE" dirty="0"/>
              <a:t> 2: Groups 2,  7, 12, 17, 22</a:t>
            </a:r>
          </a:p>
          <a:p>
            <a:pPr lvl="1">
              <a:buFontTx/>
              <a:buChar char="-"/>
            </a:pPr>
            <a:r>
              <a:rPr lang="sv-SE" dirty="0" err="1"/>
              <a:t>Question</a:t>
            </a:r>
            <a:r>
              <a:rPr lang="sv-SE" dirty="0"/>
              <a:t> 3: Groups 3,  8, 13, 18, 23</a:t>
            </a:r>
          </a:p>
          <a:p>
            <a:pPr lvl="1">
              <a:buFontTx/>
              <a:buChar char="-"/>
            </a:pPr>
            <a:r>
              <a:rPr lang="sv-SE" dirty="0" err="1"/>
              <a:t>Question</a:t>
            </a:r>
            <a:r>
              <a:rPr lang="sv-SE" dirty="0"/>
              <a:t> 4: Groups 4,  9, 14, 19,</a:t>
            </a:r>
          </a:p>
          <a:p>
            <a:pPr lvl="1">
              <a:buFontTx/>
              <a:buChar char="-"/>
            </a:pPr>
            <a:r>
              <a:rPr lang="sv-SE" dirty="0" err="1"/>
              <a:t>Question</a:t>
            </a:r>
            <a:r>
              <a:rPr lang="sv-SE" dirty="0"/>
              <a:t> 5: Groups 5, 10, 15, 20, </a:t>
            </a:r>
          </a:p>
          <a:p>
            <a:pPr lvl="1">
              <a:buFontTx/>
              <a:buChar char="-"/>
            </a:pPr>
            <a:endParaRPr lang="sv-SE" dirty="0"/>
          </a:p>
          <a:p>
            <a:pPr>
              <a:buFontTx/>
              <a:buChar char="-"/>
            </a:pPr>
            <a:r>
              <a:rPr lang="sv-SE" dirty="0"/>
              <a:t>The </a:t>
            </a:r>
            <a:r>
              <a:rPr lang="sv-SE" dirty="0" err="1"/>
              <a:t>five</a:t>
            </a:r>
            <a:r>
              <a:rPr lang="sv-SE" dirty="0"/>
              <a:t> </a:t>
            </a:r>
            <a:r>
              <a:rPr lang="sv-SE" dirty="0" err="1"/>
              <a:t>questions</a:t>
            </a:r>
            <a:r>
              <a:rPr lang="sv-SE" dirty="0"/>
              <a:t> </a:t>
            </a:r>
            <a:r>
              <a:rPr lang="sv-SE" dirty="0" err="1"/>
              <a:t>are</a:t>
            </a:r>
            <a:r>
              <a:rPr lang="sv-SE" dirty="0"/>
              <a:t> </a:t>
            </a:r>
            <a:r>
              <a:rPr lang="sv-SE" dirty="0" err="1"/>
              <a:t>presented</a:t>
            </a:r>
            <a:r>
              <a:rPr lang="sv-SE" dirty="0"/>
              <a:t> on the </a:t>
            </a:r>
            <a:r>
              <a:rPr lang="sv-SE" dirty="0" err="1"/>
              <a:t>following</a:t>
            </a:r>
            <a:r>
              <a:rPr lang="sv-SE" dirty="0"/>
              <a:t> </a:t>
            </a:r>
            <a:r>
              <a:rPr lang="sv-SE" dirty="0" err="1"/>
              <a:t>slides</a:t>
            </a:r>
            <a:r>
              <a:rPr lang="sv-SE" dirty="0"/>
              <a:t>. </a:t>
            </a:r>
          </a:p>
          <a:p>
            <a:pPr marL="0" indent="0">
              <a:buNone/>
            </a:pPr>
            <a:endParaRPr lang="sv-SE" dirty="0"/>
          </a:p>
        </p:txBody>
      </p:sp>
    </p:spTree>
    <p:extLst>
      <p:ext uri="{BB962C8B-B14F-4D97-AF65-F5344CB8AC3E}">
        <p14:creationId xmlns:p14="http://schemas.microsoft.com/office/powerpoint/2010/main" val="28526098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a:t>
            </a:r>
          </a:p>
        </p:txBody>
      </p:sp>
      <p:sp>
        <p:nvSpPr>
          <p:cNvPr id="3" name="Content Placeholder 2"/>
          <p:cNvSpPr>
            <a:spLocks noGrp="1"/>
          </p:cNvSpPr>
          <p:nvPr>
            <p:ph idx="1"/>
          </p:nvPr>
        </p:nvSpPr>
        <p:spPr/>
        <p:txBody>
          <a:bodyPr/>
          <a:lstStyle/>
          <a:p>
            <a:pPr marL="0" indent="0">
              <a:buNone/>
            </a:pPr>
            <a:r>
              <a:rPr lang="en-US" dirty="0"/>
              <a:t>You have led a study where you have investigated the effectiveness and efficiency among programmers at several large companies. After you have concluded your study, one of the participating companies asks for the collected data. The company wants to use the data as input for assessing individual engineers’ performance at the company. You promised all participants </a:t>
            </a:r>
            <a:r>
              <a:rPr lang="en-US" b="1" dirty="0"/>
              <a:t>confidentiality</a:t>
            </a:r>
            <a:r>
              <a:rPr lang="en-US" dirty="0"/>
              <a:t>. Are you legally and/or ethically obliged to provide the data if no agreement has been signed with the company regarding these issues? Argue your case! </a:t>
            </a:r>
          </a:p>
          <a:p>
            <a:pPr marL="0" indent="0">
              <a:buNone/>
            </a:pPr>
            <a:endParaRPr lang="en-US" dirty="0"/>
          </a:p>
        </p:txBody>
      </p:sp>
    </p:spTree>
    <p:extLst>
      <p:ext uri="{BB962C8B-B14F-4D97-AF65-F5344CB8AC3E}">
        <p14:creationId xmlns:p14="http://schemas.microsoft.com/office/powerpoint/2010/main" val="8377968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a:t>
            </a:r>
          </a:p>
        </p:txBody>
      </p:sp>
      <p:sp>
        <p:nvSpPr>
          <p:cNvPr id="3" name="Content Placeholder 2"/>
          <p:cNvSpPr>
            <a:spLocks noGrp="1"/>
          </p:cNvSpPr>
          <p:nvPr>
            <p:ph idx="1"/>
          </p:nvPr>
        </p:nvSpPr>
        <p:spPr/>
        <p:txBody>
          <a:bodyPr/>
          <a:lstStyle/>
          <a:p>
            <a:pPr marL="0" indent="0">
              <a:buNone/>
            </a:pPr>
            <a:r>
              <a:rPr lang="en-US" dirty="0"/>
              <a:t>In fraud they make a distinction between omission/commission and fabrication, falsification and plagiarism. Can you </a:t>
            </a:r>
            <a:r>
              <a:rPr lang="en-US" b="1" dirty="0"/>
              <a:t>exemplify, and provide a strategy</a:t>
            </a:r>
            <a:r>
              <a:rPr lang="en-US" dirty="0"/>
              <a:t> to counter this threat?</a:t>
            </a:r>
          </a:p>
        </p:txBody>
      </p:sp>
    </p:spTree>
    <p:extLst>
      <p:ext uri="{BB962C8B-B14F-4D97-AF65-F5344CB8AC3E}">
        <p14:creationId xmlns:p14="http://schemas.microsoft.com/office/powerpoint/2010/main" val="38228393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3</a:t>
            </a:r>
          </a:p>
        </p:txBody>
      </p:sp>
      <p:sp>
        <p:nvSpPr>
          <p:cNvPr id="3" name="Content Placeholder 2"/>
          <p:cNvSpPr>
            <a:spLocks noGrp="1"/>
          </p:cNvSpPr>
          <p:nvPr>
            <p:ph idx="1"/>
          </p:nvPr>
        </p:nvSpPr>
        <p:spPr/>
        <p:txBody>
          <a:bodyPr/>
          <a:lstStyle/>
          <a:p>
            <a:pPr marL="0" indent="0">
              <a:buNone/>
            </a:pPr>
            <a:r>
              <a:rPr lang="en-US" dirty="0"/>
              <a:t>Considering the common ethical models (pp. 6), in your opinion, </a:t>
            </a:r>
            <a:r>
              <a:rPr lang="en-US" b="1" dirty="0"/>
              <a:t>which</a:t>
            </a:r>
            <a:r>
              <a:rPr lang="en-US" dirty="0"/>
              <a:t> model should guide a modern society? </a:t>
            </a:r>
            <a:r>
              <a:rPr lang="en-US" b="1" dirty="0"/>
              <a:t>Why</a:t>
            </a:r>
            <a:r>
              <a:rPr lang="en-US" dirty="0"/>
              <a:t>? </a:t>
            </a:r>
          </a:p>
        </p:txBody>
      </p:sp>
    </p:spTree>
    <p:extLst>
      <p:ext uri="{BB962C8B-B14F-4D97-AF65-F5344CB8AC3E}">
        <p14:creationId xmlns:p14="http://schemas.microsoft.com/office/powerpoint/2010/main" val="18287567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4</a:t>
            </a:r>
          </a:p>
        </p:txBody>
      </p:sp>
      <p:sp>
        <p:nvSpPr>
          <p:cNvPr id="3" name="Content Placeholder 2"/>
          <p:cNvSpPr>
            <a:spLocks noGrp="1"/>
          </p:cNvSpPr>
          <p:nvPr>
            <p:ph idx="1"/>
          </p:nvPr>
        </p:nvSpPr>
        <p:spPr/>
        <p:txBody>
          <a:bodyPr/>
          <a:lstStyle/>
          <a:p>
            <a:pPr marL="0" indent="0">
              <a:buNone/>
            </a:pPr>
            <a:r>
              <a:rPr lang="en-US" dirty="0"/>
              <a:t>On June 9, 2011, Google released a “doodle” honoring Les Paul which the users then found addictive to play with. A third party, </a:t>
            </a:r>
            <a:r>
              <a:rPr lang="en-US" dirty="0" err="1"/>
              <a:t>RescueTime</a:t>
            </a:r>
            <a:r>
              <a:rPr lang="en-US" dirty="0"/>
              <a:t>, estimated that 5.3 million hours were spent playing this game, i.e., about eight lifetimes</a:t>
            </a:r>
            <a:r>
              <a:rPr lang="mr-IN" dirty="0"/>
              <a:t>…</a:t>
            </a:r>
            <a:endParaRPr lang="en-US" dirty="0"/>
          </a:p>
          <a:p>
            <a:pPr marL="0" indent="0">
              <a:buNone/>
            </a:pPr>
            <a:r>
              <a:rPr lang="en-US" dirty="0">
                <a:hlinkClick r:id="rId3"/>
              </a:rPr>
              <a:t>http://elgoog.im/guitar/</a:t>
            </a:r>
            <a:endParaRPr lang="en-US" dirty="0"/>
          </a:p>
          <a:p>
            <a:pPr marL="0" indent="0">
              <a:buNone/>
            </a:pPr>
            <a:endParaRPr lang="en-US" dirty="0"/>
          </a:p>
          <a:p>
            <a:r>
              <a:rPr lang="en-US" dirty="0"/>
              <a:t>Did the doodle make a positive contribution to the world? </a:t>
            </a:r>
          </a:p>
          <a:p>
            <a:r>
              <a:rPr lang="en-US" dirty="0"/>
              <a:t>Do engineers at Google have an obligation to consider this question before releasing the feature?</a:t>
            </a:r>
          </a:p>
          <a:p>
            <a:r>
              <a:rPr lang="en-US" dirty="0"/>
              <a:t>What principle(s) should they use to determine the answer? </a:t>
            </a:r>
          </a:p>
        </p:txBody>
      </p:sp>
    </p:spTree>
    <p:extLst>
      <p:ext uri="{BB962C8B-B14F-4D97-AF65-F5344CB8AC3E}">
        <p14:creationId xmlns:p14="http://schemas.microsoft.com/office/powerpoint/2010/main" val="11674082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5</a:t>
            </a:r>
          </a:p>
        </p:txBody>
      </p:sp>
      <p:sp>
        <p:nvSpPr>
          <p:cNvPr id="3" name="Content Placeholder 2"/>
          <p:cNvSpPr>
            <a:spLocks noGrp="1"/>
          </p:cNvSpPr>
          <p:nvPr>
            <p:ph idx="1"/>
          </p:nvPr>
        </p:nvSpPr>
        <p:spPr/>
        <p:txBody>
          <a:bodyPr/>
          <a:lstStyle/>
          <a:p>
            <a:pPr marL="0" indent="0">
              <a:buNone/>
            </a:pPr>
            <a:r>
              <a:rPr lang="en-US" dirty="0"/>
              <a:t>You work for a large telecom operator. You overhear your managers speak about a contract the company has gotten from a country. The country is a dictatorship. You realize that the functionality your work on has been requested by that country and can be used to search for keyword strings in emails, Skype, phone conversations etc. What do you do?</a:t>
            </a:r>
          </a:p>
          <a:p>
            <a:pPr marL="0" indent="0">
              <a:buNone/>
            </a:pPr>
            <a:endParaRPr lang="en-US" dirty="0"/>
          </a:p>
          <a:p>
            <a:r>
              <a:rPr lang="en-US" dirty="0"/>
              <a:t>Who are the stakeholders, and what do they each have at stake depending on what you do?</a:t>
            </a:r>
          </a:p>
          <a:p>
            <a:r>
              <a:rPr lang="en-US" dirty="0"/>
              <a:t>What is your ethical obligation?</a:t>
            </a:r>
          </a:p>
        </p:txBody>
      </p:sp>
    </p:spTree>
    <p:extLst>
      <p:ext uri="{BB962C8B-B14F-4D97-AF65-F5344CB8AC3E}">
        <p14:creationId xmlns:p14="http://schemas.microsoft.com/office/powerpoint/2010/main" val="991340683"/>
      </p:ext>
    </p:extLst>
  </p:cSld>
  <p:clrMapOvr>
    <a:masterClrMapping/>
  </p:clrMapOvr>
</p:sld>
</file>

<file path=ppt/theme/theme1.xml><?xml version="1.0" encoding="utf-8"?>
<a:theme xmlns:a="http://schemas.openxmlformats.org/drawingml/2006/main" name="Chalmers-GU">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sv-SE" sz="2400" b="0" i="0" u="none" strike="noStrike" cap="none" normalizeH="0" baseline="0">
            <a:ln>
              <a:noFill/>
            </a:ln>
            <a:solidFill>
              <a:schemeClr val="tx1"/>
            </a:solidFill>
            <a:effectLst/>
            <a:latin typeface="Times" pitchFamily="6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sv-SE" sz="2400" b="0" i="0" u="none" strike="noStrike" cap="none" normalizeH="0" baseline="0">
            <a:ln>
              <a:noFill/>
            </a:ln>
            <a:solidFill>
              <a:schemeClr val="tx1"/>
            </a:solidFill>
            <a:effectLst/>
            <a:latin typeface="Times" pitchFamily="68"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t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Chalmers-GU.potx</Template>
  <TotalTime>841</TotalTime>
  <Words>2764</Words>
  <Application>Microsoft Office PowerPoint</Application>
  <PresentationFormat>全屏显示(4:3)</PresentationFormat>
  <Paragraphs>242</Paragraphs>
  <Slides>35</Slides>
  <Notes>7</Notes>
  <HiddenSlides>8</HiddenSlides>
  <MMClips>1</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35</vt:i4>
      </vt:variant>
    </vt:vector>
  </HeadingPairs>
  <TitlesOfParts>
    <vt:vector size="40" baseType="lpstr">
      <vt:lpstr>Arial</vt:lpstr>
      <vt:lpstr>Arial Black</vt:lpstr>
      <vt:lpstr>Times</vt:lpstr>
      <vt:lpstr>Wingdings</vt:lpstr>
      <vt:lpstr>Chalmers-GU</vt:lpstr>
      <vt:lpstr>Ethics in research and studies</vt:lpstr>
      <vt:lpstr>Me, myself and I</vt:lpstr>
      <vt:lpstr>Definitions</vt:lpstr>
      <vt:lpstr>Definitions (cont.)</vt:lpstr>
      <vt:lpstr>PowerPoint 演示文稿</vt:lpstr>
      <vt:lpstr>What research should be done?</vt:lpstr>
      <vt:lpstr>Ethical Models</vt:lpstr>
      <vt:lpstr>What research should be done?</vt:lpstr>
      <vt:lpstr>How should research be conducted?</vt:lpstr>
      <vt:lpstr>Common recent guidelines</vt:lpstr>
      <vt:lpstr>Anonymity</vt:lpstr>
      <vt:lpstr>Common recent guidelines</vt:lpstr>
      <vt:lpstr>Ethical Issues in Data Collection</vt:lpstr>
      <vt:lpstr>Case study I: DAMP study (GU)</vt:lpstr>
      <vt:lpstr>Confidentiality</vt:lpstr>
      <vt:lpstr>Informed Consent</vt:lpstr>
      <vt:lpstr>Ethical Issues in Data Collection</vt:lpstr>
      <vt:lpstr>Consent Form</vt:lpstr>
      <vt:lpstr>Lots of “failed” experiments… Case study II</vt:lpstr>
      <vt:lpstr>Case study III:  The monster experiment</vt:lpstr>
      <vt:lpstr>Case study IV: The Milgram experiment</vt:lpstr>
      <vt:lpstr>Case study IV: The Milgram experiment</vt:lpstr>
      <vt:lpstr>What’s in it for you…</vt:lpstr>
      <vt:lpstr>Fraud</vt:lpstr>
      <vt:lpstr>Fraud</vt:lpstr>
      <vt:lpstr>Software Engineering Code of Ethics</vt:lpstr>
      <vt:lpstr>PowerPoint 演示文稿</vt:lpstr>
      <vt:lpstr>PowerPoint 演示文稿</vt:lpstr>
      <vt:lpstr>Homework</vt:lpstr>
      <vt:lpstr>Homework</vt:lpstr>
      <vt:lpstr>Question 1</vt:lpstr>
      <vt:lpstr>Question 2</vt:lpstr>
      <vt:lpstr>Question 3</vt:lpstr>
      <vt:lpstr>Question 4</vt:lpstr>
      <vt:lpstr>Question 5</vt:lpstr>
    </vt:vector>
  </TitlesOfParts>
  <Company>Chalmers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Bild 1</dc:title>
  <dc:creator>ullare</dc:creator>
  <cp:lastModifiedBy>Xingrong Zong</cp:lastModifiedBy>
  <cp:revision>119</cp:revision>
  <dcterms:created xsi:type="dcterms:W3CDTF">2010-11-02T13:42:29Z</dcterms:created>
  <dcterms:modified xsi:type="dcterms:W3CDTF">2025-09-08T06:53:54Z</dcterms:modified>
</cp:coreProperties>
</file>