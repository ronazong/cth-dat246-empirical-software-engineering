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30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305" r:id="rId30"/>
    <p:sldId id="283" r:id="rId31"/>
    <p:sldId id="306" r:id="rId32"/>
    <p:sldId id="308" r:id="rId33"/>
    <p:sldId id="309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1" u="none" strike="noStrike" cap="none" spc="0" normalizeH="0" baseline="0">
        <a:ln>
          <a:noFill/>
        </a:ln>
        <a:solidFill>
          <a:srgbClr val="7B5E2F"/>
        </a:solidFill>
        <a:effectLst/>
        <a:uFillTx/>
        <a:latin typeface="+mn-lt"/>
        <a:ea typeface="+mn-ea"/>
        <a:cs typeface="+mn-cs"/>
        <a:sym typeface="Baskerville"/>
      </a:defRPr>
    </a:lvl1pPr>
    <a:lvl2pPr marL="0" marR="0" indent="34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1" u="none" strike="noStrike" cap="none" spc="0" normalizeH="0" baseline="0">
        <a:ln>
          <a:noFill/>
        </a:ln>
        <a:solidFill>
          <a:srgbClr val="7B5E2F"/>
        </a:solidFill>
        <a:effectLst/>
        <a:uFillTx/>
        <a:latin typeface="+mn-lt"/>
        <a:ea typeface="+mn-ea"/>
        <a:cs typeface="+mn-cs"/>
        <a:sym typeface="Baskerville"/>
      </a:defRPr>
    </a:lvl2pPr>
    <a:lvl3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1" u="none" strike="noStrike" cap="none" spc="0" normalizeH="0" baseline="0">
        <a:ln>
          <a:noFill/>
        </a:ln>
        <a:solidFill>
          <a:srgbClr val="7B5E2F"/>
        </a:solidFill>
        <a:effectLst/>
        <a:uFillTx/>
        <a:latin typeface="+mn-lt"/>
        <a:ea typeface="+mn-ea"/>
        <a:cs typeface="+mn-cs"/>
        <a:sym typeface="Baskerville"/>
      </a:defRPr>
    </a:lvl3pPr>
    <a:lvl4pPr marL="0" marR="0" indent="1028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1" u="none" strike="noStrike" cap="none" spc="0" normalizeH="0" baseline="0">
        <a:ln>
          <a:noFill/>
        </a:ln>
        <a:solidFill>
          <a:srgbClr val="7B5E2F"/>
        </a:solidFill>
        <a:effectLst/>
        <a:uFillTx/>
        <a:latin typeface="+mn-lt"/>
        <a:ea typeface="+mn-ea"/>
        <a:cs typeface="+mn-cs"/>
        <a:sym typeface="Baskerville"/>
      </a:defRPr>
    </a:lvl4pPr>
    <a:lvl5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1" u="none" strike="noStrike" cap="none" spc="0" normalizeH="0" baseline="0">
        <a:ln>
          <a:noFill/>
        </a:ln>
        <a:solidFill>
          <a:srgbClr val="7B5E2F"/>
        </a:solidFill>
        <a:effectLst/>
        <a:uFillTx/>
        <a:latin typeface="+mn-lt"/>
        <a:ea typeface="+mn-ea"/>
        <a:cs typeface="+mn-cs"/>
        <a:sym typeface="Baskerville"/>
      </a:defRPr>
    </a:lvl5pPr>
    <a:lvl6pPr marL="0" marR="0" indent="1714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1" u="none" strike="noStrike" cap="none" spc="0" normalizeH="0" baseline="0">
        <a:ln>
          <a:noFill/>
        </a:ln>
        <a:solidFill>
          <a:srgbClr val="7B5E2F"/>
        </a:solidFill>
        <a:effectLst/>
        <a:uFillTx/>
        <a:latin typeface="+mn-lt"/>
        <a:ea typeface="+mn-ea"/>
        <a:cs typeface="+mn-cs"/>
        <a:sym typeface="Baskerville"/>
      </a:defRPr>
    </a:lvl6pPr>
    <a:lvl7pPr marL="0" marR="0" indent="2057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1" u="none" strike="noStrike" cap="none" spc="0" normalizeH="0" baseline="0">
        <a:ln>
          <a:noFill/>
        </a:ln>
        <a:solidFill>
          <a:srgbClr val="7B5E2F"/>
        </a:solidFill>
        <a:effectLst/>
        <a:uFillTx/>
        <a:latin typeface="+mn-lt"/>
        <a:ea typeface="+mn-ea"/>
        <a:cs typeface="+mn-cs"/>
        <a:sym typeface="Baskerville"/>
      </a:defRPr>
    </a:lvl7pPr>
    <a:lvl8pPr marL="0" marR="0" indent="2400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1" u="none" strike="noStrike" cap="none" spc="0" normalizeH="0" baseline="0">
        <a:ln>
          <a:noFill/>
        </a:ln>
        <a:solidFill>
          <a:srgbClr val="7B5E2F"/>
        </a:solidFill>
        <a:effectLst/>
        <a:uFillTx/>
        <a:latin typeface="+mn-lt"/>
        <a:ea typeface="+mn-ea"/>
        <a:cs typeface="+mn-cs"/>
        <a:sym typeface="Baskerville"/>
      </a:defRPr>
    </a:lvl8pPr>
    <a:lvl9pPr marL="0" marR="0" indent="2743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1" u="none" strike="noStrike" cap="none" spc="0" normalizeH="0" baseline="0">
        <a:ln>
          <a:noFill/>
        </a:ln>
        <a:solidFill>
          <a:srgbClr val="7B5E2F"/>
        </a:solidFill>
        <a:effectLst/>
        <a:uFillTx/>
        <a:latin typeface="+mn-lt"/>
        <a:ea typeface="+mn-ea"/>
        <a:cs typeface="+mn-cs"/>
        <a:sym typeface="Baskervill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937958"/>
        </a:fontRef>
        <a:srgbClr val="937958"/>
      </a:tcTxStyle>
      <a:tcStyle>
        <a:tcBdr>
          <a:left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left>
          <a:right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right>
          <a:top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top>
          <a:bottom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bottom>
          <a:insideH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insideH>
          <a:insideV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n" i="off">
        <a:font>
          <a:latin typeface="Baskerville SemiBold"/>
          <a:ea typeface="Baskerville SemiBold"/>
          <a:cs typeface="Baskerville SemiBold"/>
        </a:font>
        <a:srgbClr val="F5F5F5"/>
      </a:tcTxStyle>
      <a:tcStyle>
        <a:tcBdr>
          <a:left>
            <a:ln w="12700" cap="flat">
              <a:solidFill>
                <a:srgbClr val="CBC5B7"/>
              </a:solidFill>
              <a:prstDash val="solid"/>
              <a:miter lim="400000"/>
            </a:ln>
          </a:left>
          <a:right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right>
          <a:top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top>
          <a:bottom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bottom>
          <a:insideH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insideH>
          <a:insideV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Baskerville SemiBold"/>
          <a:ea typeface="Baskerville SemiBold"/>
          <a:cs typeface="Baskerville SemiBold"/>
        </a:font>
        <a:srgbClr val="F5F5F5"/>
      </a:tcTxStyle>
      <a:tcStyle>
        <a:tcBdr>
          <a:left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left>
          <a:right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right>
          <a:top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top>
          <a:bottom>
            <a:ln w="12700" cap="flat">
              <a:solidFill>
                <a:srgbClr val="CBC5B7"/>
              </a:solidFill>
              <a:prstDash val="solid"/>
              <a:miter lim="400000"/>
            </a:ln>
          </a:bottom>
          <a:insideH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insideH>
          <a:insideV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Baskerville SemiBold"/>
          <a:ea typeface="Baskerville SemiBold"/>
          <a:cs typeface="Baskerville SemiBold"/>
        </a:font>
        <a:srgbClr val="F5F5F5"/>
      </a:tcTxStyle>
      <a:tcStyle>
        <a:tcBdr>
          <a:left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left>
          <a:right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right>
          <a:top>
            <a:ln w="12700" cap="flat">
              <a:solidFill>
                <a:srgbClr val="CBC5B7"/>
              </a:solidFill>
              <a:prstDash val="solid"/>
              <a:miter lim="400000"/>
            </a:ln>
          </a:top>
          <a:bottom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bottom>
          <a:insideH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insideH>
          <a:insideV>
            <a:ln w="12700" cap="flat">
              <a:solidFill>
                <a:srgbClr val="CBC5B7"/>
              </a:solidFill>
              <a:custDash>
                <a:ds d="300000" sp="300000"/>
              </a:custDash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6"/>
    <p:restoredTop sz="94737"/>
  </p:normalViewPr>
  <p:slideViewPr>
    <p:cSldViewPr snapToGrid="0" snapToObjects="1">
      <p:cViewPr varScale="1">
        <p:scale>
          <a:sx n="83" d="100"/>
          <a:sy n="83" d="100"/>
        </p:scale>
        <p:origin x="17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24T11:58:34.901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</inkml:brush>
  </inkml:definitions>
  <inkml:trace contextRef="#ctx0" brushRef="#br0">112 2843,'56'0,"0"0,-1 0,0 0,0 1,3-2,35-8,3-4,-17 2,0 0,17-3,1 2,-7 2,-2 2,-13 8,2 0,-7-2,4-2,-3 1,20 2,-5-1,-19-3,-2 0,3 5,-5 0,4 0,24 0,-39 0,-23 15,-18 14,-11 28,-23 23,-13-6,-9 7,1 3,-5 7,8-27,-6 5,-2 2,2 1,3 2,1 2,0-1,-1-1,0-6,0-1,-1-1,0 3,-3 10,-1 3,1-1,0-4,-9 7,0-4,2 3,12-13,2 2,0 1,-1-3,-1-4,0-1,0-2,3 0,-5 16,3-1,0-3,2-7,-1-2,3-2,-11 25,3-2,-1 0,2-1,4-5,4-3,6-9,2-2,-3 2,1-4,9-16,1-3,-1 6,0-1,-10 29,10-28,14-18,3-17,32-57,23-33,7 11,13-7,5-7,-24 21,4-5,2-2,2-3,3-2,3 0,-4 5,4-1,2-2,2-1,1-1,2-1,0 0,1-1,-8 7,0 0,1-1,1-1,1 0,0-1,2 0,0-1,1 0,1 0,-6 4,2 0,0-1,1 0,0 0,2-1,-1 0,2-1,0 1,0 0,1-1,1 1,-2 1,1 0,1 0,1-1,0 1,0-1,1 0,0 1,1-1,-1 1,1 0,0 0,-1 1,1-1,1-1,0 1,0-1,1 1,0 0,-1 0,1 1,-1 0,-1 1,0 2,-1 1,-1 1,2-1,0 1,-1 2,-2 1,1 1,-1 1,0 0,1 0,-1-1,2 0,0 0,3-4,3-1,1-2,1 1,-1-1,0 1,-1 1,-2 3,-3 2,-4 3,-3 4,12-6,-6 7,-4 3,-1 1,2-2,7-4,-1-2,5-4,4-2,1-2,0 1,-2 3,-3 3,-5 6,11-3,-5 6,-3 4,-1 0,0-2,-3 1,0-2,-2 1,0 1,-1 3,15-5,0 2,-3 4,-11 6,3 4,-5 4,16-4,-4 3,-31 10,-5 5,20 6,-39 22,-27 19,-39 17,-20 12,12-17,-5 5,-4 3,-3 1,-1-1,-2 2,-4 2,-3 1,-3 3,5-8,-3 3,-3 1,-1 2,-2 1,1 0,0 2,4-3,-1 1,0 2,-1 1,1 0,-1-1,1-1,0-2,-4 3,1-3,0-1,0-1,0 2,-2 1,-1 4,7-5,-2 3,-1 2,-1 1,0 1,0 0,1-2,1 0,2-4,0 0,1-2,2-2,-1 0,1-1,0 1,-1 2,-2 1,2-1,-3 3,0 1,-1 0,0 1,1-1,1-1,2-2,3-3,-3 4,3-3,2-2,0 0,2-1,-1 1,-1 2,-1 2,-3 1,1 2,1-1,1-1,4-3,5-3,-10 15,6-5,3-2,-2 1,-5 0,0 0,0-1,3 0,7-2,3 1,2-3,4-5,-12 14,4-2,11-13,2 2,2-3,-4 11,6-5,7-15,5-2,3 22,10-29,7-15,0-9,31-24,41-56,-20 20,9-7,3-5,-1-2,3-6,3-3,6-4,-18 18,4-2,2-2,2-2,2-1,1-2,0-1,-6 5,1-1,1-2,0-2,2 0,1 0,1-2,0 1,2-1,-5 5,3 0,0-2,2 0,0 0,1-1,-1 1,1 0,-2 0,0 1,-1 1,7-8,-1 1,-1 1,-1 1,1-1,0 1,0-2,2 0,2-1,-5 5,1-1,1-1,2-1,0 0,1 0,-1 0,-1 1,0 2,-2 1,-2 2,3-2,-1 2,-1 1,-1 1,0 1,-2 0,1 1,-1 0,0 0,4-3,-1 0,-1 1,0 0,0 0,0 1,1-1,0 2,3-3,3-1,0-1,1 1,-2 2,-4 3,-4 5,-6 6,26-14,-10 10,5-3,-10 2,6-6,2 0,-3 3,-8 9,0 7,-7 7,2-2,11-9,2-2,-6 6,6 5,-8 7,-15 7,-8 4,5 5,-13 7,-27 18,-2 32,-19 15,-15 12,-14 4,-13 7,-5 6,12-20,-3 4,-3 3,-3 2,-4 2,11-18,-4 1,-1 1,-2 2,-2 1,-1 0,1 2,-1 0,1 0,0 1,-1 0,-1 2,0 0,-1 1,0 1,-2 1,0 0,5-8,-2 3,-1 0,0 1,-1 0,-1 1,1-1,1 0,0 0,2-2,2-1,-4 5,2-1,2-1,0-1,1 0,-1 0,0 1,-2 1,-2 1,3-5,-1 1,-2 2,-2 0,0 0,1 1,-1-1,1 0,2-1,1-2,2-1,-7 12,3-3,1-1,2-1,0 0,-1 0,0 2,-2 0,1-1,-2 1,0 1,-2 0,1 1,1-1,1-2,1-2,3-2,-3 3,2-3,1-2,2-1,1 0,-1 0,2 2,-1 2,0 1,1 1,0 0,2-2,2-4,2-3,-13 17,4-7,2-2,1 2,3 0,2 2,2-1,-1-3,2-5,-1 0,2-4,6-6,-4 15,4-4,-4 10,1-2,8-22,5-4,5 24,5-27,14-14,0-20,0-2,37-11,33-36,-13 3,10-9,4-4,-5-2,3-5,4-3,4-4,-8 4,4-3,3-2,1-2,3-2,0 1,-12 8,1-1,1 0,1-1,1-1,1-1,1 0,2-1,0-1,3-3,1 0,2-1,0 0,-1 0,0 0,-1 2,-3 1,0 1,-2 1,-1 1,-1 1,0 0,1 0,1-2,4-1,-6 3,2-1,2-1,1 0,1-1,-1 0,1 1,-2 1,-1 1,-3 1,7-2,-2 0,-1 2,-1 0,-1 2,0-1,-1 2,0-1,6-3,-2 1,0 0,-1 1,0 0,1 0,2 0,5-2,3-3,2 1,-1 0,-4 3,-5 5,-9 6,16-8,-12 10,7-5,-10 5,7-4,1-1,-3 3,-7 6,0 1,-6 5,2 1,11-5,2 0,-5 4,4 0,-7 7,-16 11,-5 3,9 1,-23 7,-17 26,-14 26,-23 11,-15 14,-1-9,-8 7,-5 5,-3 2,7-17,-1 2,-2 1,-4 2,-4 6,-4 4,11-15,-4 4,-4 5,-2 2,-3 3,-1 2,0 0,-1-1,1 0,2-1,1-4,3-2,-6 6,3-2,2-4,1 0,-1-1,0 2,-2 1,-3 4,-4 3,11-13,-3 3,-2 3,-2 2,-2 2,-2 2,1 0,-1 0,0 0,1-2,2 0,1-4,3-1,2-5,3-3,-12 17,4-6,4-4,2-2,0-1,-1 1,-3 3,-4 5,6-9,-2 3,-2 2,-2 2,-1 1,-1 1,0 0,0 0,1-1,2-2,1-2,3-2,-6 7,3-3,1-1,1-1,1-2,0 1,0 0,-2 1,-1 2,0-1,-1 2,-1 1,-1 0,0 1,0-1,1-1,2-2,1-2,3-2,-6 8,2-3,2-2,1-2,1 0,0-1,-1 2,0-1,-2 2,-1 0,2-1,3-3,4-5,5-7,-8 13,8-9,-3 5,4-5,-4 7,-1 1,3-2,4-8,0 0,5-7,1 3,-3 12,1 2,2-7,-4-1,7-5,0 32,21-45,7-11,12-21,22-7,16-26,13-16,8-4,10-8,4-5,-18 9,2-4,3-4,3-2,3-2,-4 2,4-2,2-3,2-1,2-2,0 0,1 0,-11 8,0 0,1-1,1-1,1 0,1-1,0-1,1 0,0-1,1-1,0 0,2-1,0-1,0-1,2 0,-1 0,1-1,1 0,-1 0,-2 3,1-1,0-1,0 0,1 0,0 0,0 0,0-1,1 1,0 0,-1 0,-4 4,-1 1,1-1,0 1,0-1,0 1,0-1,1 0,0 0,0 0,1 0,-1-1,-1 2,0-1,0 0,1 0,0-1,0 0,1 1,-1-1,0 1,0 0,1 0,-2 1,1 1,2-3,1 1,-1 1,0 0,-1 0,1 1,0 0,0 0,0 0,1 0,0 0,0-1,2 0,2-2,0 1,1-1,1 1,-1-1,0 1,-2 1,0 1,-2 0,-2 2,-1 2,4-5,-2 1,-2 3,-2 0,-1 2,1-1,0 0,2 0,2-1,0 0,2 0,2-1,0 0,1 0,-1 0,0 0,-1 2,-2 0,-2 1,5-3,-3 1,-1 1,-1 0,-1 1,1-1,2-1,1-1,-1 1,1-1,1-1,0 0,1-1,1 0,-1 1,0 0,-1 0,-1 3,0-2,2 1,-1 0,-1 1,0 0,-3 2,-2 0,-2 3,11-10,-3 2,-4 3,0 0,0 0,2-1,-6 5,2-2,2 0,-2 0,-2 3,-4 3,-7 6,19-12,-10 8,4-4,3-8,5-6,-1 1,-7 10,-9 13,-5 6,-1-3,6-12,-1-3,-3 5,12 2,-8 5,-19 8,-4 5,16 3,-31 16,-3 6,-18 22,-15 18,-17 20,-13 14,2-18,-6 4,-5 5,-2 3,0 3,-3 4,-2 4,-4 2,-3 4,9-17,-3 3,-2 2,-2 2,-1 1,-1 2,0 1,-1 0,8-6,-1 2,0 0,-1 2,0 0,-1 2,-1 0,0 1,-3 0,0 1,6-9,-1-1,-2 2,0 0,-1 0,-1 2,0-1,-1 1,0 1,0 0,0 0,0 1,0 0,5-5,1 0,-1 1,0 0,0 1,-1 0,1 1,-1-1,0 1,0 0,0 0,-1 1,1-1,-2 0,1 0,0-2,1 0,-2 1,1-1,-1 1,0 0,0 0,-1-1,1 1,-1 0,0 0,1 0,-1 0,0 0,1 0,0 0,0 0,0 0,0-1,0 1,0 0,0 0,-1 0,1 0,0 0,0 0,0 0,0 0,0-1,0 0,0 1,0-1,-3 3,-1 1,1 0,0-1,-1 1,1-1,0 0,-1 0,1 0,0-1,0 1,0-1,0 0,0 0,1-1,-4 4,1-1,-1 1,0 0,0-1,0 1,1-1,-1-1,2 0,0-1,1-1,1-1,1-2,1 0,-3 3,1-1,2-2,1-1,1-1,0-1,1 0,-1 0,0 1,-1 0,-2 1,-3 4,-2 1,0 1,-2 1,1-1,0 0,0 0,2-1,1-2,2-1,2-1,-5 7,3-1,3-2,1-2,0 0,0 1,-2 0,-2 3,5-9,-3 2,0 1,-2 0,1 1,-1-1,1-1,2-1,2-1,2-3,-7 9,3-1,2-3,1 0,0-2,1 1,-2 0,-1 1,-2 3,-1-1,2-1,2-3,3-4,7-7,-13 15,8-9,-3 3,-6 5,-5 4,2-1,9-6,-3 14,5-6,10-23,-2-2,5-1,3 7,7-5,-4 3,21-21,48-45,11-24,13-17,0 5,9-6,6-6,2-1,-12 9,2-1,3-3,1-1,3-3,3-1,-6 2,3-1,2-2,1-2,2-2,1 0,1 0,1-1,-8 7,0 0,1 0,1 0,1-1,1-2,2-1,2-2,1-2,3-2,-19 15,1-2,2-1,1-2,2-1,0-1,2-1,0 0,1-2,1 1,-1-1,1 0,-1 1,1-1,-1 2,-1 0,-1 1,0 1,-1 0,0 1,0 0,0 1,0-1,0 1,0-1,0 1,0-1,1 0,0-1,0-1,2 0,-1 0,2-2,0-1,-6 5,2-1,-1 0,2-2,0 0,0-1,1-1,0 1,1-2,0 1,0-1,0 1,0-1,0 1,0-1,-1 1,1 1,-1 0,0 0,-1 1,0 1,3-3,0 1,0 0,-1 1,1 0,-1 0,0 0,0 1,0 0,0 0,-1 0,1 0,0-1,-1 1,1 0,-1-1,1 0,-1-1,1 1,0-2,1-1,0 0,0 0,0-1,0 0,0 0,0 0,0 0,0 0,-1 0,1 1,-2 0,1 0,-2 1,1 0,-2 2,0 0,0 1,7-7,-1 1,-1 2,-1 1,-1 0,-1 1,1 1,-1-1,0 0,1 1,0-2,1 1,1-2,1-1,1-1,-8 7,1-1,1 0,1-2,1 0,0-1,1 0,0 0,0-1,0 1,0 0,0 0,0 0,-1 1,-1 1,0 0,-2 2,0 0,-2 2,6-5,-1 1,-2 2,0 0,-1 2,-1 0,-1 1,1-1,-1 1,1 0,1-1,0-1,1-1,2 0,0-2,-3 3,1-1,1-1,0-1,1 0,0-1,1 0,1-1,-1 1,1-1,0 0,0 1,-1 0,1 0,-1 0,0 2,0-1,-1 2,1 0,0-1,1 1,1 0,-1 0,1 0,-1 1,0 0,-1 1,0-1,0 1,-2 1,0 0,-2 1,-1 0,-1 1,-2 1,11-10,-4 2,-1 0,-2 2,-1 0,-1 1,-1 0,1 0,0 0,1 0,2 0,1-1,0 1,2-1,2 0,0 0,1-1,1 1,-1 0,0 0,-2 1,-1 1,-2 1,-3 2,-2 1,8-7,-4 2,-3 2,-1 1,-1 0,-1 2,0-1,1 0,1 1,9-7,0 0,0 1,0 1,1-1,-2 1,0 1,0-1,-3 3,2-3,0 1,-1 0,-2 1,-3 4,-4 3,-7 6,26-19,-10 10,3-4,-13 8,4-4,2 0,-4 2,-6 5,2 2,-7 5,0-1,5-8,-1-1,-2 4,9 2,-8 5,7-17,-32 39,-17 5,-11 16,-39 26,-18 30,6-19,-11 7,-4 4,1 5,-2 6,-3 3,-3 1,3-6,-3 1,-1 2,-2 3,-1 2,10-7,-1 3,-2 3,0 1,-1 0,0 1,-1-2,6-7,-1 0,0-1,-1 0,0 2,-1 0,0 1,0 2,2 0,0 1,-1 2,0 1,0 0,0 1,-1 0,0 0,0 0,-3 1,0 1,-1 0,0 1,0-1,-1 1,1 0,-1 1,0 1,4-5,-1 1,0 0,-1 1,1 0,0 0,0 1,0-1,1 2,0-1,1 2,1 0,0 0,0 1,1 0,0 1,0-1,-1 0,0 0,-1 1,5-8,-2 1,0 0,0 0,0-1,0 1,0 0,0 0,1 1,0 0,1 0,2 1,0 1,0 0,1 1,1 0,-1 0,1 0,0 0,-1-1,1 1,-2-1,0-1,0 1,0-2,-1 1,0 0,0 0,0-1,1 2,0-1,1 1,0 0,0 1,1 2,-1 0,2 1,-1 1,1-2,0 1,1-2,0-1,0-2,2-2,-10 11,2-4,1-2,1-1,-1-1,1 1,-1 3,-1 2,6-7,-1 2,0 2,-1 1,1 1,-1-1,2 0,0-2,1-2,2-2,-9 13,3-5,1-1,1-1,0 0,-1 2,-3 2,6-9,-2 3,-1 1,0 1,-1-1,1 0,2-1,1-2,4-4,-8 14,4-3,2-3,1-1,0 0,-2 1,-3 0,-1 2,0-1,0-1,3-2,4-4,-5 9,5-4,2-2,0-1,3-6,1-2,0 0,1 0,-1 4,-1 2,3-3,6-7,0 10,5-4,-10 22,2-3,11-25,5-5,1 34,5-38,14-13,0-22,0-1,27-11,6-7,40-31,-19-5,5-9,12-9,7-9,-21 17,4-4,4-3,2-4,-9 7,3-3,3-2,0-2,2-1,0 0,-2 3,1 0,2-1,0-1,0 0,-1 0,0-1,-3 2,0-1,-1 0,1 0,-1 0,2-1,2-1,-2 3,3-2,0 0,1 0,0-1,0 2,-2 0,-1 1,10-10,-2 2,-1 1,0 0,2-1,3-3,-8 9,3-3,2 0,1-1,0-1,0 1,0-1,-3 1,-2 2,-2 1,0-1,0 0,0 0,-1 0,1 0,1 0,0 0,1-1,1 1,-1-1,0 1,0-1,-1 1,0 1,4-6,1-1,-1 1,0 0,-2 1,-2 2,-1 2,9-8,-2 2,-2 2,0 1,2-1,-6 7,2-2,1 0,-1 3,-4 3,-7 6,8-5,-7 7,5-3,4-3,7-5,-1 1,-8 6,-10 7,-5 4,1 0,9-6,2-1,-5 3,7-5,-5 6,-17 12,-3 5,16-4,-31 22,-3 1,-18 28,-1 29,-28 10,-15 14,6-10,-5 8,-5 5,-3 1,-3-1,-5 2,-4 3,-2 2,-2 4,14-19,-3 3,-1 1,-1 2,-2 2,0 0,-1 0,-1 1,0-1,-1 0,-1 1,0 0,-2 1,0 1,-1 1,-1 0,1 0,5-8,0 0,-1 2,-1 0,0 1,-1 0,1-1,0 1,1-2,1-1,0-1,-4 7,1-2,2-1,0 0,0-1,-1 0,0 1,-2 1,-2 2,5-6,-3 1,-1 2,-2 0,0 0,0 1,0-1,1 0,1-1,1-2,2-1,-2 3,2-2,1-1,2-1,-1 0,1-1,-2 1,-1 1,-3 1,5-6,-2 1,-2 1,0 0,-1 0,0 1,-1-1,1 0,0 0,1 0,1-1,-2 3,1 0,-1 0,2 0,-1-1,1 0,0 0,0-1,0-1,0-1,-3 2,-1 1,0-2,1 0,0 0,0-3,2 0,2-2,2-2,-11 11,4-2,1-3,1-1,0 0,-3 0,-3 3,-3 1,0-1,0-1,3-3,4-3,-6 5,5-4,0-2,-2 3,6-7,-4 2,1 0,1-1,5-3,-14 14,5-4,1-1,6-5,0-2,6-4,-4 1,5-2,-3 6,2-2,7-15,4-2,-8 21,14-24,17-12,12-8,60-47,-3 4,-1-6,6-8,5-6,2-5,-13 9,2-2,4-4,3 1,4-3,3-2,1 0,7-7,1-1,2-2,4-1,-5 5,4 0,3-1,0-2,1-1,-8 4,0-2,2-1,0 0,1-1,2 0,-6 5,2-1,0 1,1-1,1-1,0 0,-1 0,-6 4,0-1,1 0,-1-1,1 1,0-1,1 0,-1 0,2 0,1 0,-1-1,1 1,0-1,0 1,0 0,0 1,-1 1,-1 0,1 0,-1 0,1 1,0 0,-1 0,1 1,0 0,1-1,0 0,0 1,0 1,-2 1,-2 1,-3 2,18-12,-5 4,-2 2,1-1,3-1,-3 3,3-3,2 1,-1 0,-4 2,-4 5,4-4,-5 4,-3 2,2-1,0-3,1 0,-1 0,1 3,0 3,2 2,-3 2,-8 4,9-6,-2 4,-6 7,5 1,-6 2,3-3,-6 6,-8 8,-3 4,44-3,-48 16,4 0,-34 27,-4 14,-6 40,-2-6,-5 9,-8 6,-6 7,0-6,-3 6,-6 3,-1-16,-4 1,-2 1,-1 3,3-9,-1 1,-1 1,-1 2,-2 1,2-7,-2 2,-1 2,0-1,-1 2,0-1,-1 2,-1 1,0 0,-1 1,0 0,0 1,4-8,-1 1,0 0,-1 1,0-1,0 0,-2 0,0-1,-2 0,0 0,-1-1,1 0,0 1,0 0,1 1,1 1,1 0,-1 0,0-1,-1 0,0-1,-2-1,-1 0,-1-1,0 0,0-2,2-2,3-2,-4 9,3-4,1-1,0-1,-2 2,-5 8,-3 2,1-1,1-1,3-6,4-3,2-3,2-3,0 1,-7 20,1 0,1-1,-1-2,1-1,5-8,8-9,2-4,-5 8,0-3,11-21,1-4,-5 18,14-24,2-21,22-7,23-20,35-36,-23 14,6-5,17-17,3-4,2 0,2-3,-11 9,3-3,-1 0,-2 3,-1 1,5-5,-13 8,3-4,2-2,1 1,-1 1,12-5,0 2,1-1,2-4,-17 11,1-3,1-2,1 1,1 0,-1 2,13-5,1 3,0 0,1 0,0-2,-11 5,2-2,-1-1,1 0,-2 3,-2 2,1 1,-3 4,0 0,1 1,2-3,13-8,4-2,0-1,-4 3,-10 7,-5 2,-8 7,6-4,10-7,9-3,-1 0,-8 5,-13 9,-6 3,2-1,14-12,3-2,-5 4,7 1,-4 3,-7 2,-4 2,22-14,-6 15,-34 7,-5 20,-15 2,-7 6,-1 0,-10 79,-3-14,-3 10,-2 10,1-8,0 6,1 4,-1 9,-1 0,0-1,-1 0,-6 6,-2-22,-4 5,-2 1,-3 1,-2-3,-2-2,-2-2,-2-1,-4 2,-2 0,-2-3,-2 1,-3 1,-3 0,-1-1,-2 0,-4 3,-3-2,-2 1,-2-1,-1 0,-1 0,5-9,-1 1,-1 0,-1-1,0-1,0-2,1-3,-11 12,0-5,1-2,-2 0,-1 2,6-7,-1 1,-2 0,1 0,1-3,3-3,-15 12,2-3,2-4,2 1,8-6,2-2,0 0,-1 1,-6 6,-2 2,2-2,5-8,-16 8,5-5,20-8,0 2,2-4,-10 2,5-6,-9 15,26-18,15-22,17-13,34-44,22-26,-1 9,7-5,-7 5,7-8,4-2,-1 1,2 1,0 1,3-1,2-1,-3 2,3-1,2-2,0 0,0 0,4-4,1 0,0-1,0 1,-4 2,-8 9,-3 2,-1 0,0-1,2-1,9-9,2-2,0-2,-1 2,-6 3,-3 1,-3 3,-3 0,1 0,0 0,-1 0,1-1,1-3,-2 0,3-4,0-1,-3 2,-7 6,-1-6,-5 5,0-2,15-17,1-3,-6 6,-1-3,-11 7,-17 21,-3 0,6-6,-2 0,-7 7,-4 2,-2-29,-2 33,-7 15,0 21,0-12,0 3,0-18,0 23,0-3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2" name="Shape 18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835054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/>
          </p:cNvSpPr>
          <p:nvPr>
            <p:ph type="title"/>
          </p:nvPr>
        </p:nvSpPr>
        <p:spPr>
          <a:xfrm>
            <a:off x="1143000" y="1600200"/>
            <a:ext cx="10718800" cy="337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32" name="Shape 32"/>
          <p:cNvSpPr>
            <a:spLocks noGrp="1"/>
          </p:cNvSpPr>
          <p:nvPr>
            <p:ph type="body" sz="quarter" idx="1"/>
          </p:nvPr>
        </p:nvSpPr>
        <p:spPr>
          <a:xfrm>
            <a:off x="1143000" y="4965700"/>
            <a:ext cx="10718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" name="Shape 4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0" name="Shape 5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numCol="2" spcCol="535940" anchor="t"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/>
          </p:cNvSpPr>
          <p:nvPr>
            <p:ph type="body" idx="1"/>
          </p:nvPr>
        </p:nvSpPr>
        <p:spPr>
          <a:xfrm>
            <a:off x="1143000" y="825500"/>
            <a:ext cx="10718800" cy="810260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buBlip>
                <a:blip r:embed="rId2"/>
              </a:buBlip>
              <a:defRPr sz="4200"/>
            </a:lvl1pPr>
            <a:lvl2pPr>
              <a:lnSpc>
                <a:spcPct val="120000"/>
              </a:lnSpc>
              <a:buBlip>
                <a:blip r:embed="rId2"/>
              </a:buBlip>
              <a:defRPr sz="4200"/>
            </a:lvl2pPr>
            <a:lvl3pPr>
              <a:lnSpc>
                <a:spcPct val="120000"/>
              </a:lnSpc>
              <a:buBlip>
                <a:blip r:embed="rId2"/>
              </a:buBlip>
              <a:defRPr sz="4200"/>
            </a:lvl3pPr>
            <a:lvl4pPr>
              <a:lnSpc>
                <a:spcPct val="120000"/>
              </a:lnSpc>
              <a:buBlip>
                <a:blip r:embed="rId2"/>
              </a:buBlip>
              <a:defRPr sz="4200"/>
            </a:lvl4pPr>
            <a:lvl5pPr>
              <a:lnSpc>
                <a:spcPct val="120000"/>
              </a:lnSpc>
              <a:buBlip>
                <a:blip r:embed="rId2"/>
              </a:buBlip>
              <a:defRPr sz="4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/>
          </p:cNvSpPr>
          <p:nvPr>
            <p:ph type="title"/>
          </p:nvPr>
        </p:nvSpPr>
        <p:spPr>
          <a:xfrm>
            <a:off x="1143000" y="3060700"/>
            <a:ext cx="10718800" cy="3632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5" name="Shape 165"/>
          <p:cNvSpPr>
            <a:spLocks noGrp="1"/>
          </p:cNvSpPr>
          <p:nvPr>
            <p:ph type="body" sz="half" idx="1"/>
          </p:nvPr>
        </p:nvSpPr>
        <p:spPr>
          <a:xfrm>
            <a:off x="1143000" y="2882900"/>
            <a:ext cx="5105400" cy="6045200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74" name="Shape 174"/>
          <p:cNvSpPr>
            <a:spLocks noGrp="1"/>
          </p:cNvSpPr>
          <p:nvPr>
            <p:ph type="body" sz="half" idx="1"/>
          </p:nvPr>
        </p:nvSpPr>
        <p:spPr>
          <a:xfrm>
            <a:off x="6756400" y="2882900"/>
            <a:ext cx="5105400" cy="6045200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xfrm>
            <a:off x="1143000" y="825500"/>
            <a:ext cx="10718800" cy="15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rPr dirty="0"/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idx="1"/>
          </p:nvPr>
        </p:nvSpPr>
        <p:spPr>
          <a:xfrm>
            <a:off x="1143000" y="2882900"/>
            <a:ext cx="10718800" cy="604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buBlip>
                <a:blip r:embed="rId11"/>
              </a:buBlip>
            </a:lvl1pPr>
            <a:lvl2pPr>
              <a:buBlip>
                <a:blip r:embed="rId11"/>
              </a:buBlip>
            </a:lvl2pPr>
            <a:lvl3pPr>
              <a:buBlip>
                <a:blip r:embed="rId11"/>
              </a:buBlip>
            </a:lvl3pPr>
            <a:lvl4pPr>
              <a:buBlip>
                <a:blip r:embed="rId11"/>
              </a:buBlip>
            </a:lvl4pPr>
            <a:lvl5pPr>
              <a:buBlip>
                <a:blip r:embed="rId11"/>
              </a:buBlip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pic>
        <p:nvPicPr>
          <p:cNvPr id="16" name="Bildobjekt 3" descr="LO_CH+GUeng_RGB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304800"/>
            <a:ext cx="527685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Bildobjekt 16" descr="GMVBLOMMA.eps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79"/>
          <a:stretch>
            <a:fillRect/>
          </a:stretch>
        </p:blipFill>
        <p:spPr bwMode="auto">
          <a:xfrm>
            <a:off x="-152400" y="7094537"/>
            <a:ext cx="12954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ktangel 9"/>
          <p:cNvSpPr>
            <a:spLocks noChangeArrowheads="1"/>
          </p:cNvSpPr>
          <p:nvPr userDrawn="1"/>
        </p:nvSpPr>
        <p:spPr bwMode="auto">
          <a:xfrm>
            <a:off x="0" y="9321800"/>
            <a:ext cx="13004800" cy="431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endParaRPr lang="sv-SE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9" r:id="rId8"/>
    <p:sldLayoutId id="2147483660" r:id="rId9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all" spc="0" baseline="0">
          <a:ln>
            <a:noFill/>
          </a:ln>
          <a:solidFill>
            <a:schemeClr val="bg2">
              <a:lumMod val="10000"/>
            </a:schemeClr>
          </a:solidFill>
          <a:uFillTx/>
          <a:latin typeface="+mn-lt"/>
          <a:ea typeface="+mn-ea"/>
          <a:cs typeface="+mn-cs"/>
          <a:sym typeface="Baskerville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all" spc="0" baseline="0">
          <a:ln>
            <a:noFill/>
          </a:ln>
          <a:solidFill>
            <a:srgbClr val="AF6D51"/>
          </a:solidFill>
          <a:uFillTx/>
          <a:latin typeface="+mn-lt"/>
          <a:ea typeface="+mn-ea"/>
          <a:cs typeface="+mn-cs"/>
          <a:sym typeface="Baskerville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all" spc="0" baseline="0">
          <a:ln>
            <a:noFill/>
          </a:ln>
          <a:solidFill>
            <a:srgbClr val="AF6D51"/>
          </a:solidFill>
          <a:uFillTx/>
          <a:latin typeface="+mn-lt"/>
          <a:ea typeface="+mn-ea"/>
          <a:cs typeface="+mn-cs"/>
          <a:sym typeface="Baskerville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all" spc="0" baseline="0">
          <a:ln>
            <a:noFill/>
          </a:ln>
          <a:solidFill>
            <a:srgbClr val="AF6D51"/>
          </a:solidFill>
          <a:uFillTx/>
          <a:latin typeface="+mn-lt"/>
          <a:ea typeface="+mn-ea"/>
          <a:cs typeface="+mn-cs"/>
          <a:sym typeface="Baskerville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all" spc="0" baseline="0">
          <a:ln>
            <a:noFill/>
          </a:ln>
          <a:solidFill>
            <a:srgbClr val="AF6D51"/>
          </a:solidFill>
          <a:uFillTx/>
          <a:latin typeface="+mn-lt"/>
          <a:ea typeface="+mn-ea"/>
          <a:cs typeface="+mn-cs"/>
          <a:sym typeface="Baskerville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all" spc="0" baseline="0">
          <a:ln>
            <a:noFill/>
          </a:ln>
          <a:solidFill>
            <a:srgbClr val="AF6D51"/>
          </a:solidFill>
          <a:uFillTx/>
          <a:latin typeface="+mn-lt"/>
          <a:ea typeface="+mn-ea"/>
          <a:cs typeface="+mn-cs"/>
          <a:sym typeface="Baskerville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all" spc="0" baseline="0">
          <a:ln>
            <a:noFill/>
          </a:ln>
          <a:solidFill>
            <a:srgbClr val="AF6D51"/>
          </a:solidFill>
          <a:uFillTx/>
          <a:latin typeface="+mn-lt"/>
          <a:ea typeface="+mn-ea"/>
          <a:cs typeface="+mn-cs"/>
          <a:sym typeface="Baskerville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all" spc="0" baseline="0">
          <a:ln>
            <a:noFill/>
          </a:ln>
          <a:solidFill>
            <a:srgbClr val="AF6D51"/>
          </a:solidFill>
          <a:uFillTx/>
          <a:latin typeface="+mn-lt"/>
          <a:ea typeface="+mn-ea"/>
          <a:cs typeface="+mn-cs"/>
          <a:sym typeface="Baskerville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all" spc="0" baseline="0">
          <a:ln>
            <a:noFill/>
          </a:ln>
          <a:solidFill>
            <a:srgbClr val="AF6D51"/>
          </a:solidFill>
          <a:uFillTx/>
          <a:latin typeface="+mn-lt"/>
          <a:ea typeface="+mn-ea"/>
          <a:cs typeface="+mn-cs"/>
          <a:sym typeface="Baskerville"/>
        </a:defRPr>
      </a:lvl9pPr>
    </p:titleStyle>
    <p:bodyStyle>
      <a:lvl1pPr marL="571500" marR="0" indent="-571500" algn="l" defTabSz="584200" rtl="0" latinLnBrk="0">
        <a:lnSpc>
          <a:spcPct val="100000"/>
        </a:lnSpc>
        <a:spcBef>
          <a:spcPts val="2800"/>
        </a:spcBef>
        <a:spcAft>
          <a:spcPts val="0"/>
        </a:spcAft>
        <a:buClrTx/>
        <a:buSzPct val="60000"/>
        <a:buFont typeface="Arial" charset="0"/>
        <a:buChar char="•"/>
        <a:tabLst/>
        <a:defRPr sz="3600" b="0" i="0" u="none" strike="noStrike" cap="none" spc="0" baseline="0">
          <a:ln>
            <a:noFill/>
          </a:ln>
          <a:solidFill>
            <a:schemeClr val="bg2">
              <a:lumMod val="10000"/>
            </a:schemeClr>
          </a:solidFill>
          <a:uFillTx/>
          <a:latin typeface="+mn-lt"/>
          <a:ea typeface="+mn-ea"/>
          <a:cs typeface="+mn-cs"/>
          <a:sym typeface="Baskerville"/>
        </a:defRPr>
      </a:lvl1pPr>
      <a:lvl2pPr marL="1016000" marR="0" indent="-571500" algn="l" defTabSz="584200" rtl="0" latinLnBrk="0">
        <a:lnSpc>
          <a:spcPct val="100000"/>
        </a:lnSpc>
        <a:spcBef>
          <a:spcPts val="2800"/>
        </a:spcBef>
        <a:spcAft>
          <a:spcPts val="0"/>
        </a:spcAft>
        <a:buClrTx/>
        <a:buSzPct val="60000"/>
        <a:buFont typeface="Arial" charset="0"/>
        <a:buChar char="•"/>
        <a:tabLst/>
        <a:defRPr sz="3600" b="0" i="0" u="none" strike="noStrike" cap="none" spc="0" baseline="0">
          <a:ln>
            <a:noFill/>
          </a:ln>
          <a:solidFill>
            <a:schemeClr val="bg2">
              <a:lumMod val="10000"/>
            </a:schemeClr>
          </a:solidFill>
          <a:uFillTx/>
          <a:latin typeface="+mn-lt"/>
          <a:ea typeface="+mn-ea"/>
          <a:cs typeface="+mn-cs"/>
          <a:sym typeface="Baskerville"/>
        </a:defRPr>
      </a:lvl2pPr>
      <a:lvl3pPr marL="1460500" marR="0" indent="-571500" algn="l" defTabSz="584200" rtl="0" latinLnBrk="0">
        <a:lnSpc>
          <a:spcPct val="100000"/>
        </a:lnSpc>
        <a:spcBef>
          <a:spcPts val="2800"/>
        </a:spcBef>
        <a:spcAft>
          <a:spcPts val="0"/>
        </a:spcAft>
        <a:buClrTx/>
        <a:buSzPct val="60000"/>
        <a:buFont typeface="Arial" charset="0"/>
        <a:buChar char="•"/>
        <a:tabLst/>
        <a:defRPr sz="3600" b="0" i="0" u="none" strike="noStrike" cap="none" spc="0" baseline="0">
          <a:ln>
            <a:noFill/>
          </a:ln>
          <a:solidFill>
            <a:schemeClr val="bg2">
              <a:lumMod val="10000"/>
            </a:schemeClr>
          </a:solidFill>
          <a:uFillTx/>
          <a:latin typeface="+mn-lt"/>
          <a:ea typeface="+mn-ea"/>
          <a:cs typeface="+mn-cs"/>
          <a:sym typeface="Baskerville"/>
        </a:defRPr>
      </a:lvl3pPr>
      <a:lvl4pPr marL="1905000" marR="0" indent="-571500" algn="l" defTabSz="584200" rtl="0" latinLnBrk="0">
        <a:lnSpc>
          <a:spcPct val="100000"/>
        </a:lnSpc>
        <a:spcBef>
          <a:spcPts val="2800"/>
        </a:spcBef>
        <a:spcAft>
          <a:spcPts val="0"/>
        </a:spcAft>
        <a:buClrTx/>
        <a:buSzPct val="60000"/>
        <a:buFont typeface="Arial" charset="0"/>
        <a:buChar char="•"/>
        <a:tabLst/>
        <a:defRPr sz="3600" b="0" i="0" u="none" strike="noStrike" cap="none" spc="0" baseline="0">
          <a:ln>
            <a:noFill/>
          </a:ln>
          <a:solidFill>
            <a:schemeClr val="bg2">
              <a:lumMod val="10000"/>
            </a:schemeClr>
          </a:solidFill>
          <a:uFillTx/>
          <a:latin typeface="+mn-lt"/>
          <a:ea typeface="+mn-ea"/>
          <a:cs typeface="+mn-cs"/>
          <a:sym typeface="Baskerville"/>
        </a:defRPr>
      </a:lvl4pPr>
      <a:lvl5pPr marL="2349500" marR="0" indent="-571500" algn="l" defTabSz="584200" rtl="0" latinLnBrk="0">
        <a:lnSpc>
          <a:spcPct val="100000"/>
        </a:lnSpc>
        <a:spcBef>
          <a:spcPts val="2800"/>
        </a:spcBef>
        <a:spcAft>
          <a:spcPts val="0"/>
        </a:spcAft>
        <a:buClrTx/>
        <a:buSzPct val="60000"/>
        <a:buFont typeface="Arial" charset="0"/>
        <a:buChar char="•"/>
        <a:tabLst/>
        <a:defRPr sz="3600" b="0" i="0" u="none" strike="noStrike" cap="none" spc="0" baseline="0">
          <a:ln>
            <a:noFill/>
          </a:ln>
          <a:solidFill>
            <a:schemeClr val="bg2">
              <a:lumMod val="10000"/>
            </a:schemeClr>
          </a:solidFill>
          <a:uFillTx/>
          <a:latin typeface="+mn-lt"/>
          <a:ea typeface="+mn-ea"/>
          <a:cs typeface="+mn-cs"/>
          <a:sym typeface="Baskerville"/>
        </a:defRPr>
      </a:lvl5pPr>
      <a:lvl6pPr marL="2794000" marR="0" indent="-571500" algn="l" defTabSz="584200" rtl="0" latinLnBrk="0">
        <a:lnSpc>
          <a:spcPct val="100000"/>
        </a:lnSpc>
        <a:spcBef>
          <a:spcPts val="2800"/>
        </a:spcBef>
        <a:spcAft>
          <a:spcPts val="0"/>
        </a:spcAft>
        <a:buClrTx/>
        <a:buSzPct val="60000"/>
        <a:buFontTx/>
        <a:buBlip>
          <a:blip r:embed="rId11"/>
        </a:buBlip>
        <a:tabLst/>
        <a:defRPr sz="3600" b="0" i="0" u="none" strike="noStrike" cap="none" spc="0" baseline="0">
          <a:ln>
            <a:noFill/>
          </a:ln>
          <a:solidFill>
            <a:srgbClr val="7B5E2F"/>
          </a:solidFill>
          <a:uFillTx/>
          <a:latin typeface="+mn-lt"/>
          <a:ea typeface="+mn-ea"/>
          <a:cs typeface="+mn-cs"/>
          <a:sym typeface="Baskerville"/>
        </a:defRPr>
      </a:lvl6pPr>
      <a:lvl7pPr marL="3238500" marR="0" indent="-571500" algn="l" defTabSz="584200" rtl="0" latinLnBrk="0">
        <a:lnSpc>
          <a:spcPct val="100000"/>
        </a:lnSpc>
        <a:spcBef>
          <a:spcPts val="2800"/>
        </a:spcBef>
        <a:spcAft>
          <a:spcPts val="0"/>
        </a:spcAft>
        <a:buClrTx/>
        <a:buSzPct val="60000"/>
        <a:buFontTx/>
        <a:buBlip>
          <a:blip r:embed="rId11"/>
        </a:buBlip>
        <a:tabLst/>
        <a:defRPr sz="3600" b="0" i="0" u="none" strike="noStrike" cap="none" spc="0" baseline="0">
          <a:ln>
            <a:noFill/>
          </a:ln>
          <a:solidFill>
            <a:srgbClr val="7B5E2F"/>
          </a:solidFill>
          <a:uFillTx/>
          <a:latin typeface="+mn-lt"/>
          <a:ea typeface="+mn-ea"/>
          <a:cs typeface="+mn-cs"/>
          <a:sym typeface="Baskerville"/>
        </a:defRPr>
      </a:lvl7pPr>
      <a:lvl8pPr marL="3683000" marR="0" indent="-571500" algn="l" defTabSz="584200" rtl="0" latinLnBrk="0">
        <a:lnSpc>
          <a:spcPct val="100000"/>
        </a:lnSpc>
        <a:spcBef>
          <a:spcPts val="2800"/>
        </a:spcBef>
        <a:spcAft>
          <a:spcPts val="0"/>
        </a:spcAft>
        <a:buClrTx/>
        <a:buSzPct val="60000"/>
        <a:buFontTx/>
        <a:buBlip>
          <a:blip r:embed="rId11"/>
        </a:buBlip>
        <a:tabLst/>
        <a:defRPr sz="3600" b="0" i="0" u="none" strike="noStrike" cap="none" spc="0" baseline="0">
          <a:ln>
            <a:noFill/>
          </a:ln>
          <a:solidFill>
            <a:srgbClr val="7B5E2F"/>
          </a:solidFill>
          <a:uFillTx/>
          <a:latin typeface="+mn-lt"/>
          <a:ea typeface="+mn-ea"/>
          <a:cs typeface="+mn-cs"/>
          <a:sym typeface="Baskerville"/>
        </a:defRPr>
      </a:lvl8pPr>
      <a:lvl9pPr marL="4127500" marR="0" indent="-571500" algn="l" defTabSz="584200" rtl="0" latinLnBrk="0">
        <a:lnSpc>
          <a:spcPct val="100000"/>
        </a:lnSpc>
        <a:spcBef>
          <a:spcPts val="2800"/>
        </a:spcBef>
        <a:spcAft>
          <a:spcPts val="0"/>
        </a:spcAft>
        <a:buClrTx/>
        <a:buSzPct val="60000"/>
        <a:buFontTx/>
        <a:buBlip>
          <a:blip r:embed="rId11"/>
        </a:buBlip>
        <a:tabLst/>
        <a:defRPr sz="3600" b="0" i="0" u="none" strike="noStrike" cap="none" spc="0" baseline="0">
          <a:ln>
            <a:noFill/>
          </a:ln>
          <a:solidFill>
            <a:srgbClr val="7B5E2F"/>
          </a:solidFill>
          <a:uFillTx/>
          <a:latin typeface="+mn-lt"/>
          <a:ea typeface="+mn-ea"/>
          <a:cs typeface="+mn-cs"/>
          <a:sym typeface="Baskervill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 SemiBold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 SemiBold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 SemiBold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 SemiBold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 SemiBold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 SemiBold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 SemiBold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 SemiBold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ndom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torkar.github.io/affective_stat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tmodeling.stat.columbia.edu/2019/11/16/why-do-a-within-person-rather-than-a-between-person-experiment/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i.org/10.1080/1931245070933666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/>
          </p:cNvSpPr>
          <p:nvPr>
            <p:ph type="ctrTitle"/>
          </p:nvPr>
        </p:nvSpPr>
        <p:spPr>
          <a:xfrm>
            <a:off x="1143000" y="3978114"/>
            <a:ext cx="10718800" cy="3378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survey Research</a:t>
            </a:r>
            <a:br>
              <a:rPr lang="en-US" dirty="0"/>
            </a:br>
            <a:endParaRPr lang="en-US" dirty="0"/>
          </a:p>
        </p:txBody>
      </p:sp>
      <p:sp>
        <p:nvSpPr>
          <p:cNvPr id="185" name="Shape 185"/>
          <p:cNvSpPr>
            <a:spLocks noGrp="1"/>
          </p:cNvSpPr>
          <p:nvPr>
            <p:ph type="subTitle" sz="half" idx="1"/>
          </p:nvPr>
        </p:nvSpPr>
        <p:spPr>
          <a:xfrm>
            <a:off x="355600" y="7998201"/>
            <a:ext cx="12293600" cy="2171700"/>
          </a:xfrm>
          <a:prstGeom prst="rect">
            <a:avLst/>
          </a:prstGeom>
        </p:spPr>
        <p:txBody>
          <a:bodyPr/>
          <a:lstStyle/>
          <a:p>
            <a:r>
              <a:rPr lang="sv-SE" sz="2000" dirty="0"/>
              <a:t>Prof. Richard Torkar</a:t>
            </a:r>
          </a:p>
          <a:p>
            <a:r>
              <a:rPr lang="sv-SE" sz="2000" dirty="0"/>
              <a:t>Dr. </a:t>
            </a:r>
            <a:r>
              <a:rPr lang="sv-SE" sz="2000" dirty="0" err="1"/>
              <a:t>Wasif</a:t>
            </a:r>
            <a:r>
              <a:rPr lang="sv-SE" sz="2000" dirty="0"/>
              <a:t> </a:t>
            </a:r>
            <a:r>
              <a:rPr lang="sv-SE" sz="2000" dirty="0" err="1"/>
              <a:t>Afzal</a:t>
            </a:r>
            <a:endParaRPr lang="sv-SE" sz="2000" dirty="0"/>
          </a:p>
          <a:p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contents</a:t>
            </a:r>
          </a:p>
        </p:txBody>
      </p:sp>
      <p:sp>
        <p:nvSpPr>
          <p:cNvPr id="189" name="Shape 18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920750" indent="-476250">
              <a:buBlip>
                <a:blip r:embed="rId2"/>
              </a:buBlip>
              <a:defRPr sz="3000"/>
            </a:pPr>
            <a:r>
              <a:rPr dirty="0"/>
              <a:t>The survey process:</a:t>
            </a:r>
          </a:p>
          <a:p>
            <a:pPr marL="1365250" lvl="1" indent="-476250">
              <a:buBlip>
                <a:blip r:embed="rId2"/>
              </a:buBlip>
              <a:defRPr sz="3000"/>
            </a:pPr>
            <a:r>
              <a:rPr dirty="0"/>
              <a:t>Defining objectives</a:t>
            </a:r>
          </a:p>
          <a:p>
            <a:pPr marL="1365250" lvl="1" indent="-476250">
              <a:buBlip>
                <a:blip r:embed="rId2"/>
              </a:buBlip>
              <a:defRPr sz="3000"/>
            </a:pPr>
            <a:r>
              <a:rPr dirty="0"/>
              <a:t>Sampling strategy</a:t>
            </a:r>
          </a:p>
          <a:p>
            <a:pPr marL="1365250" lvl="1" indent="-476250">
              <a:buBlip>
                <a:blip r:embed="rId2"/>
              </a:buBlip>
              <a:defRPr sz="3000"/>
            </a:pPr>
            <a:r>
              <a:rPr dirty="0"/>
              <a:t>Mode of data collection</a:t>
            </a:r>
          </a:p>
          <a:p>
            <a:pPr marL="1365250" lvl="1" indent="-476250">
              <a:buBlip>
                <a:blip r:embed="rId2"/>
              </a:buBlip>
              <a:defRPr sz="3000"/>
            </a:pPr>
            <a:r>
              <a:rPr dirty="0"/>
              <a:t>Survey instrument</a:t>
            </a:r>
          </a:p>
          <a:p>
            <a:pPr marL="1365250" lvl="1" indent="-476250">
              <a:buBlip>
                <a:blip r:embed="rId2"/>
              </a:buBlip>
              <a:defRPr sz="3000"/>
            </a:pPr>
            <a:r>
              <a:rPr dirty="0"/>
              <a:t>Reliability and validity of survey instrument</a:t>
            </a:r>
          </a:p>
          <a:p>
            <a:pPr marL="1365250" lvl="1" indent="-476250">
              <a:buBlip>
                <a:blip r:embed="rId2"/>
              </a:buBlip>
              <a:defRPr sz="3000"/>
            </a:pPr>
            <a:r>
              <a:rPr dirty="0"/>
              <a:t>Pretesting the instrument</a:t>
            </a:r>
          </a:p>
          <a:p>
            <a:pPr marL="1365250" lvl="1" indent="-476250">
              <a:buBlip>
                <a:blip r:embed="rId2"/>
              </a:buBlip>
              <a:defRPr sz="3000"/>
            </a:pPr>
            <a:r>
              <a:rPr dirty="0"/>
              <a:t>Data analysis and interpretation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237CD4DA-952A-0945-B293-5DA93F63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 some nomenclature and definitions</a:t>
            </a:r>
          </a:p>
        </p:txBody>
      </p:sp>
    </p:spTree>
    <p:extLst>
      <p:ext uri="{BB962C8B-B14F-4D97-AF65-F5344CB8AC3E}">
        <p14:creationId xmlns:p14="http://schemas.microsoft.com/office/powerpoint/2010/main" val="36855148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What is a survey?</a:t>
            </a:r>
          </a:p>
        </p:txBody>
      </p:sp>
      <p:sp>
        <p:nvSpPr>
          <p:cNvPr id="193" name="Shape 193"/>
          <p:cNvSpPr>
            <a:spLocks noGrp="1"/>
          </p:cNvSpPr>
          <p:nvPr>
            <p:ph type="body" idx="1"/>
          </p:nvPr>
        </p:nvSpPr>
        <p:spPr>
          <a:xfrm>
            <a:off x="1143000" y="2578100"/>
            <a:ext cx="10718800" cy="6553200"/>
          </a:xfrm>
          <a:prstGeom prst="rect">
            <a:avLst/>
          </a:prstGeom>
        </p:spPr>
        <p:txBody>
          <a:bodyPr/>
          <a:lstStyle/>
          <a:p>
            <a:pPr marL="889000" indent="-444500">
              <a:buBlip>
                <a:blip r:embed="rId2"/>
              </a:buBlip>
              <a:defRPr sz="2800"/>
            </a:pPr>
            <a:r>
              <a:t>A survey design provides a </a:t>
            </a:r>
            <a:r>
              <a:rPr i="1"/>
              <a:t>quantitative</a:t>
            </a:r>
            <a:r>
              <a:t> or </a:t>
            </a:r>
            <a:r>
              <a:rPr i="1"/>
              <a:t>numeric</a:t>
            </a:r>
            <a:r>
              <a:t> description of trends, attitudes, or opinions of a population by studying a </a:t>
            </a:r>
            <a:r>
              <a:rPr i="1"/>
              <a:t>sample</a:t>
            </a:r>
            <a:r>
              <a:t> of that population [Creswell, 2014].</a:t>
            </a:r>
          </a:p>
          <a:p>
            <a:pPr marL="889000" indent="-444500">
              <a:buBlip>
                <a:blip r:embed="rId2"/>
              </a:buBlip>
              <a:defRPr sz="2800"/>
            </a:pPr>
            <a:r>
              <a:t>[...] the concerns involved in doing a survey are [...] to do with the detailed design of the </a:t>
            </a:r>
            <a:r>
              <a:rPr i="1"/>
              <a:t>instrument</a:t>
            </a:r>
            <a:r>
              <a:t> to be used (almost always a questionnaire, largely or wholly composed of fixed-choice questions), determining the </a:t>
            </a:r>
            <a:r>
              <a:rPr i="1"/>
              <a:t>sample</a:t>
            </a:r>
            <a:r>
              <a:t> to be surveyed and ensuring high </a:t>
            </a:r>
            <a:r>
              <a:rPr i="1"/>
              <a:t>response rates</a:t>
            </a:r>
            <a:r>
              <a:t> [Robson, 2002].</a:t>
            </a:r>
          </a:p>
          <a:p>
            <a:pPr marL="889000" indent="-444500">
              <a:buBlip>
                <a:blip r:embed="rId2"/>
              </a:buBlip>
              <a:defRPr sz="2800"/>
            </a:pPr>
            <a:r>
              <a:t>A survey is not just the </a:t>
            </a:r>
            <a:r>
              <a:rPr i="1"/>
              <a:t>instrument</a:t>
            </a:r>
            <a:r>
              <a:t> (the questionnaire or checklist) for gathering information. It is a comprehensive system for collecting information to describe, compare or explain </a:t>
            </a:r>
            <a:r>
              <a:rPr i="1"/>
              <a:t>knowledge</a:t>
            </a:r>
            <a:r>
              <a:t>, </a:t>
            </a:r>
            <a:r>
              <a:rPr i="1"/>
              <a:t>attitudes</a:t>
            </a:r>
            <a:r>
              <a:t> and </a:t>
            </a:r>
            <a:r>
              <a:rPr i="1"/>
              <a:t>behavior</a:t>
            </a:r>
            <a:r>
              <a:t>. [Pfleeger and Kitchenham, 2001].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Features of survey</a:t>
            </a:r>
          </a:p>
        </p:txBody>
      </p:sp>
      <p:sp>
        <p:nvSpPr>
          <p:cNvPr id="197" name="Shape 19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460500" lvl="1">
              <a:buBlip>
                <a:blip r:embed="rId2"/>
              </a:buBlip>
            </a:pPr>
            <a:r>
              <a:rPr dirty="0"/>
              <a:t>The use of fixed, quantitative design (non-experimental);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The collection of a small amount of data in standardized form from a relatively large number of individuals;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The selection of representative samples of individuals from known populations.</a:t>
            </a:r>
            <a:endParaRPr lang="sv-SE" dirty="0"/>
          </a:p>
          <a:p>
            <a:pPr marL="1460500" lvl="1">
              <a:buBlip>
                <a:blip r:embed="rId2"/>
              </a:buBlip>
            </a:pPr>
            <a:r>
              <a:rPr lang="sv-SE" i="1" dirty="0"/>
              <a:t>n</a:t>
            </a:r>
            <a:r>
              <a:rPr lang="sv-SE" dirty="0"/>
              <a:t> &gt; </a:t>
            </a:r>
            <a:r>
              <a:rPr lang="sv-SE" i="1" dirty="0"/>
              <a:t>p </a:t>
            </a:r>
            <a:r>
              <a:rPr lang="sv-SE" dirty="0"/>
              <a:t>(</a:t>
            </a:r>
            <a:r>
              <a:rPr lang="sv-SE" i="1" dirty="0"/>
              <a:t>n</a:t>
            </a:r>
            <a:r>
              <a:rPr lang="sv-SE" dirty="0"/>
              <a:t> &lt; </a:t>
            </a:r>
            <a:r>
              <a:rPr lang="sv-SE" i="1" dirty="0"/>
              <a:t>p </a:t>
            </a:r>
            <a:r>
              <a:rPr lang="sv-SE" dirty="0"/>
              <a:t>for </a:t>
            </a:r>
            <a:r>
              <a:rPr lang="sv-SE" dirty="0" err="1"/>
              <a:t>interviews</a:t>
            </a:r>
            <a:r>
              <a:rPr lang="sv-SE" dirty="0"/>
              <a:t>)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984250" indent="-539750">
              <a:buBlip>
                <a:blip r:embed="rId2"/>
              </a:buBlip>
              <a:defRPr sz="3400"/>
            </a:pPr>
            <a:r>
              <a:t>Surveys work best with standardized questions.</a:t>
            </a:r>
          </a:p>
          <a:p>
            <a:pPr marL="984250" indent="-539750">
              <a:buBlip>
                <a:blip r:embed="rId2"/>
              </a:buBlip>
              <a:defRPr sz="3400"/>
            </a:pPr>
            <a:r>
              <a:t>Surveys can provide a wide range of ‘people characteristics’, and of relationships (correlations) between such characteristics. </a:t>
            </a:r>
          </a:p>
          <a:p>
            <a:pPr marL="984250" indent="-539750">
              <a:buBlip>
                <a:blip r:embed="rId2"/>
              </a:buBlip>
              <a:defRPr sz="3400"/>
            </a:pPr>
            <a:r>
              <a:t>Purpose is to generalize from a sample to a population so that inferences can be made about some characteristic, attitude, or behavior of this population.</a:t>
            </a:r>
          </a:p>
          <a:p>
            <a:pPr marL="984250" indent="-539750">
              <a:buBlip>
                <a:blip r:embed="rId2"/>
              </a:buBlip>
              <a:defRPr sz="3400"/>
            </a:pPr>
            <a:r>
              <a:t>Identification of causal relationships is difficult (correlation does not imply causation).</a:t>
            </a:r>
          </a:p>
        </p:txBody>
      </p:sp>
      <p:sp>
        <p:nvSpPr>
          <p:cNvPr id="201" name="Shape 201"/>
          <p:cNvSpPr/>
          <p:nvPr/>
        </p:nvSpPr>
        <p:spPr>
          <a:xfrm>
            <a:off x="1143000" y="825500"/>
            <a:ext cx="10718800" cy="15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7200" i="0" cap="all">
                <a:solidFill>
                  <a:srgbClr val="AF6D51"/>
                </a:solidFill>
              </a:defRPr>
            </a:lvl1pPr>
          </a:lstStyle>
          <a:p>
            <a:r>
              <a:rPr dirty="0">
                <a:solidFill>
                  <a:schemeClr val="bg2">
                    <a:lumMod val="10000"/>
                  </a:schemeClr>
                </a:solidFill>
              </a:rPr>
              <a:t>Features of survey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survey</a:t>
            </a:r>
          </a:p>
        </p:txBody>
      </p:sp>
      <p:sp>
        <p:nvSpPr>
          <p:cNvPr id="205" name="Shape 205"/>
          <p:cNvSpPr>
            <a:spLocks noGrp="1"/>
          </p:cNvSpPr>
          <p:nvPr>
            <p:ph type="body" sz="half" idx="1"/>
          </p:nvPr>
        </p:nvSpPr>
        <p:spPr>
          <a:xfrm>
            <a:off x="1143000" y="3594100"/>
            <a:ext cx="10718800" cy="4622800"/>
          </a:xfrm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t>Supervised vs. Unsupervised</a:t>
            </a:r>
          </a:p>
          <a:p>
            <a:pPr marL="1460500" lvl="1">
              <a:buBlip>
                <a:blip r:embed="rId2"/>
              </a:buBlip>
            </a:pPr>
            <a:r>
              <a:t>Supervised: Assigning a survey researcher to one or a group of respondents.</a:t>
            </a:r>
          </a:p>
          <a:p>
            <a:pPr marL="1460500" lvl="1">
              <a:buBlip>
                <a:blip r:embed="rId2"/>
              </a:buBlip>
            </a:pPr>
            <a:r>
              <a:t>Unsupervised: E.g., mailed questionnaire.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survey</a:t>
            </a:r>
          </a:p>
        </p:txBody>
      </p:sp>
      <p:sp>
        <p:nvSpPr>
          <p:cNvPr id="209" name="Shape 20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t>Cross-sectional vs. Longitudinal</a:t>
            </a:r>
          </a:p>
          <a:p>
            <a:pPr marL="1016000">
              <a:buBlip>
                <a:blip r:embed="rId2"/>
              </a:buBlip>
            </a:pPr>
            <a:r>
              <a:t>Cross-sectional survey:</a:t>
            </a:r>
          </a:p>
          <a:p>
            <a:pPr marL="1460500" lvl="1">
              <a:buBlip>
                <a:blip r:embed="rId2"/>
              </a:buBlip>
            </a:pPr>
            <a:r>
              <a:t>Collects information from a sample of the population at a specific point in time, even though it could take days to gather all the data.</a:t>
            </a:r>
          </a:p>
          <a:p>
            <a:pPr marL="1460500" lvl="1">
              <a:buBlip>
                <a:blip r:embed="rId2"/>
              </a:buBlip>
            </a:pPr>
            <a:r>
              <a:t>If you survey everyone in the population, that is known as a census.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survey</a:t>
            </a:r>
          </a:p>
        </p:txBody>
      </p:sp>
      <p:sp>
        <p:nvSpPr>
          <p:cNvPr id="213" name="Shape 2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rPr sz="3200" dirty="0"/>
              <a:t>Longitudinal Survey:</a:t>
            </a:r>
          </a:p>
          <a:p>
            <a:pPr marL="1460500" lvl="1">
              <a:buBlip>
                <a:blip r:embed="rId2"/>
              </a:buBlip>
            </a:pPr>
            <a:r>
              <a:rPr sz="3200" dirty="0"/>
              <a:t>Information is collected at different points in time to study change over time.</a:t>
            </a:r>
          </a:p>
          <a:p>
            <a:pPr marL="1460500" lvl="1">
              <a:buBlip>
                <a:blip r:embed="rId2"/>
              </a:buBlip>
            </a:pPr>
            <a:r>
              <a:rPr sz="3200" i="1" dirty="0"/>
              <a:t>Cohort studies</a:t>
            </a:r>
            <a:r>
              <a:rPr sz="3200" dirty="0"/>
              <a:t>: Samples a group experiencing an </a:t>
            </a:r>
            <a:r>
              <a:rPr sz="3200" b="1" dirty="0"/>
              <a:t>event</a:t>
            </a:r>
            <a:r>
              <a:rPr sz="3200" dirty="0"/>
              <a:t> in a selected time period and studying them at different time intervals.</a:t>
            </a:r>
          </a:p>
          <a:p>
            <a:pPr marL="1460500" lvl="1">
              <a:buBlip>
                <a:blip r:embed="rId2"/>
              </a:buBlip>
            </a:pPr>
            <a:r>
              <a:rPr sz="3200" i="1" dirty="0"/>
              <a:t>Panel studies</a:t>
            </a:r>
            <a:r>
              <a:rPr sz="3200" dirty="0"/>
              <a:t>: A </a:t>
            </a:r>
            <a:r>
              <a:rPr sz="3200" b="1" dirty="0"/>
              <a:t>sample is drawn </a:t>
            </a:r>
            <a:r>
              <a:rPr sz="3200" dirty="0"/>
              <a:t>from a population and those same individuals are studied over time (usually at regular intervals</a:t>
            </a:r>
            <a:r>
              <a:rPr lang="sv-SE" sz="3200" dirty="0"/>
              <a:t> </a:t>
            </a:r>
            <a:r>
              <a:rPr lang="sv-SE" sz="3200" dirty="0" err="1"/>
              <a:t>with</a:t>
            </a:r>
            <a:r>
              <a:rPr lang="sv-SE" sz="3200" dirty="0"/>
              <a:t> at </a:t>
            </a:r>
            <a:r>
              <a:rPr lang="sv-SE" sz="3200" dirty="0" err="1"/>
              <a:t>least</a:t>
            </a:r>
            <a:r>
              <a:rPr lang="sv-SE" sz="3200" dirty="0"/>
              <a:t> </a:t>
            </a:r>
            <a:r>
              <a:rPr lang="sv-SE" sz="3200" i="1" dirty="0"/>
              <a:t>t = t</a:t>
            </a:r>
            <a:r>
              <a:rPr lang="sv-SE" sz="3200" i="1" baseline="-25000" dirty="0"/>
              <a:t>1</a:t>
            </a:r>
            <a:r>
              <a:rPr lang="sv-SE" sz="3200" i="1" dirty="0"/>
              <a:t>,..,t</a:t>
            </a:r>
            <a:r>
              <a:rPr lang="sv-SE" sz="3200" i="1" baseline="-25000" dirty="0"/>
              <a:t>2</a:t>
            </a:r>
            <a:r>
              <a:rPr sz="3200" dirty="0"/>
              <a:t>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survey process</a:t>
            </a:r>
          </a:p>
        </p:txBody>
      </p:sp>
      <p:sp>
        <p:nvSpPr>
          <p:cNvPr id="217" name="Shape 217"/>
          <p:cNvSpPr>
            <a:spLocks noGrp="1"/>
          </p:cNvSpPr>
          <p:nvPr>
            <p:ph type="body" idx="1"/>
          </p:nvPr>
        </p:nvSpPr>
        <p:spPr>
          <a:xfrm>
            <a:off x="1143000" y="2298700"/>
            <a:ext cx="10718800" cy="7226300"/>
          </a:xfrm>
          <a:prstGeom prst="rect">
            <a:avLst/>
          </a:prstGeom>
        </p:spPr>
        <p:txBody>
          <a:bodyPr/>
          <a:lstStyle/>
          <a:p>
            <a:pPr>
              <a:buSzPct val="100000"/>
              <a:buAutoNum type="arabicPeriod"/>
              <a:defRPr sz="2800"/>
            </a:pPr>
            <a:r>
              <a:rPr dirty="0"/>
              <a:t>Formulate </a:t>
            </a:r>
            <a:r>
              <a:rPr i="1" dirty="0"/>
              <a:t>research questions</a:t>
            </a:r>
            <a:r>
              <a:rPr dirty="0"/>
              <a:t> or </a:t>
            </a:r>
            <a:r>
              <a:rPr i="1" dirty="0"/>
              <a:t>objectives</a:t>
            </a:r>
            <a:r>
              <a:rPr dirty="0"/>
              <a:t>.</a:t>
            </a:r>
          </a:p>
          <a:p>
            <a:pPr>
              <a:buSzPct val="100000"/>
              <a:buAutoNum type="arabicPeriod"/>
              <a:defRPr sz="2800"/>
            </a:pPr>
            <a:r>
              <a:rPr dirty="0"/>
              <a:t>Identify the </a:t>
            </a:r>
            <a:r>
              <a:rPr i="1" dirty="0"/>
              <a:t>population</a:t>
            </a:r>
            <a:r>
              <a:rPr dirty="0"/>
              <a:t> to be studied.</a:t>
            </a:r>
          </a:p>
          <a:p>
            <a:pPr>
              <a:buSzPct val="100000"/>
              <a:buAutoNum type="arabicPeriod"/>
              <a:defRPr sz="2800"/>
            </a:pPr>
            <a:r>
              <a:rPr dirty="0"/>
              <a:t>Select the </a:t>
            </a:r>
            <a:r>
              <a:rPr i="1" dirty="0"/>
              <a:t>sample</a:t>
            </a:r>
            <a:r>
              <a:rPr dirty="0"/>
              <a:t>.</a:t>
            </a:r>
          </a:p>
          <a:p>
            <a:pPr>
              <a:buSzPct val="100000"/>
              <a:buAutoNum type="arabicPeriod"/>
              <a:defRPr sz="2800"/>
            </a:pPr>
            <a:r>
              <a:rPr dirty="0"/>
              <a:t>Choose the mode of </a:t>
            </a:r>
            <a:r>
              <a:rPr i="1" dirty="0"/>
              <a:t>data collection</a:t>
            </a:r>
            <a:r>
              <a:rPr dirty="0"/>
              <a:t> (Mail surveys, Electronic surveys, Direct administration to a group, Telephonic surveys, Personal interviews).</a:t>
            </a:r>
          </a:p>
          <a:p>
            <a:pPr>
              <a:buSzPct val="100000"/>
              <a:buAutoNum type="arabicPeriod"/>
              <a:defRPr sz="2800"/>
            </a:pPr>
            <a:r>
              <a:rPr dirty="0"/>
              <a:t>Construct the </a:t>
            </a:r>
            <a:r>
              <a:rPr i="1" dirty="0"/>
              <a:t>survey instrument.</a:t>
            </a:r>
          </a:p>
          <a:p>
            <a:pPr>
              <a:buSzPct val="100000"/>
              <a:buAutoNum type="arabicPeriod"/>
              <a:defRPr sz="2800"/>
            </a:pPr>
            <a:r>
              <a:rPr i="1" dirty="0"/>
              <a:t>Pretest</a:t>
            </a:r>
            <a:r>
              <a:rPr dirty="0"/>
              <a:t> the survey instrument and establish </a:t>
            </a:r>
            <a:r>
              <a:rPr i="1" dirty="0"/>
              <a:t>reliability/validity.</a:t>
            </a:r>
          </a:p>
          <a:p>
            <a:pPr>
              <a:buSzPct val="100000"/>
              <a:buAutoNum type="arabicPeriod"/>
              <a:defRPr sz="2800"/>
            </a:pPr>
            <a:r>
              <a:rPr dirty="0"/>
              <a:t>Data </a:t>
            </a:r>
            <a:r>
              <a:rPr i="1" dirty="0"/>
              <a:t>analysis &amp; Interpretation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t>1. Setting Survey objectives</a:t>
            </a:r>
          </a:p>
        </p:txBody>
      </p:sp>
      <p:sp>
        <p:nvSpPr>
          <p:cNvPr id="221" name="Shape 22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t>A statement of survey’s </a:t>
            </a:r>
            <a:r>
              <a:rPr i="1"/>
              <a:t>expected outcomes</a:t>
            </a:r>
            <a:r>
              <a:t>.</a:t>
            </a:r>
          </a:p>
          <a:p>
            <a:pPr marL="1016000">
              <a:buBlip>
                <a:blip r:embed="rId2"/>
              </a:buBlip>
            </a:pPr>
            <a:r>
              <a:t>Setting objectives is important because:</a:t>
            </a:r>
          </a:p>
          <a:p>
            <a:pPr marL="1460500" lvl="1">
              <a:buBlip>
                <a:blip r:embed="rId2"/>
              </a:buBlip>
            </a:pPr>
            <a:r>
              <a:t>Objectives determine what the survey will ask, of what population, and what information will be collected.</a:t>
            </a:r>
          </a:p>
          <a:p>
            <a:pPr marL="1460500" lvl="1">
              <a:buBlip>
                <a:blip r:embed="rId2"/>
              </a:buBlip>
            </a:pPr>
            <a:r>
              <a:t>Objectives are usually phrased as research questions or hypotheses, and they help suggest dependent and independent variables.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good practice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364" y="2116991"/>
            <a:ext cx="9710127" cy="72199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600"/>
            </a:lvl1pPr>
          </a:lstStyle>
          <a:p>
            <a:r>
              <a:t>2-3: Sample &amp; population</a:t>
            </a:r>
          </a:p>
        </p:txBody>
      </p:sp>
      <p:sp>
        <p:nvSpPr>
          <p:cNvPr id="229" name="Shape 22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143000" indent="-698500">
              <a:buBlip>
                <a:blip r:embed="rId2"/>
              </a:buBlip>
              <a:defRPr sz="4400"/>
            </a:pPr>
            <a:r>
              <a:rPr i="1"/>
              <a:t>Population</a:t>
            </a:r>
            <a:r>
              <a:t>: the group of individuals to whom the survey applies.</a:t>
            </a:r>
          </a:p>
          <a:p>
            <a:pPr marL="1143000" indent="-698500">
              <a:buBlip>
                <a:blip r:embed="rId2"/>
              </a:buBlip>
              <a:defRPr sz="4400"/>
            </a:pPr>
            <a:r>
              <a:rPr i="1"/>
              <a:t>Sample</a:t>
            </a:r>
            <a:r>
              <a:t>: A representative subset of population such that the results from this subset generalize to target population.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Population identification</a:t>
            </a:r>
          </a:p>
        </p:txBody>
      </p:sp>
      <p:sp>
        <p:nvSpPr>
          <p:cNvPr id="233" name="Shape 23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1143000" indent="-698500">
              <a:buBlip>
                <a:blip r:embed="rId2"/>
              </a:buBlip>
              <a:defRPr sz="4400"/>
            </a:lvl1pPr>
            <a:lvl2pPr marL="1587500" indent="-698500">
              <a:buBlip>
                <a:blip r:embed="rId2"/>
              </a:buBlip>
              <a:defRPr sz="4400"/>
            </a:lvl2pPr>
          </a:lstStyle>
          <a:p>
            <a:r>
              <a:rPr lang="en-US" dirty="0"/>
              <a:t>Should arise from survey objectives/research questions</a:t>
            </a:r>
          </a:p>
          <a:p>
            <a:pPr lvl="1"/>
            <a:r>
              <a:rPr lang="en-US" dirty="0"/>
              <a:t>Example: Software developers doing object-oriented software development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t>Sample identification</a:t>
            </a:r>
          </a:p>
        </p:txBody>
      </p:sp>
      <p:sp>
        <p:nvSpPr>
          <p:cNvPr id="237" name="Shape 23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t>Probabilistic sampling methods:</a:t>
            </a:r>
          </a:p>
          <a:p>
            <a:pPr marL="1460500" lvl="1">
              <a:buBlip>
                <a:blip r:embed="rId2"/>
              </a:buBlip>
            </a:pPr>
            <a:r>
              <a:rPr i="1"/>
              <a:t>Simple random sampling</a:t>
            </a:r>
            <a:r>
              <a:t> (preferred)</a:t>
            </a:r>
          </a:p>
          <a:p>
            <a:pPr marL="1460500" lvl="1">
              <a:buBlip>
                <a:blip r:embed="rId2"/>
              </a:buBlip>
              <a:defRPr i="1"/>
            </a:pPr>
            <a:r>
              <a:t>Stratified random sampling</a:t>
            </a:r>
          </a:p>
          <a:p>
            <a:pPr marL="1016000">
              <a:buBlip>
                <a:blip r:embed="rId2"/>
              </a:buBlip>
            </a:pPr>
            <a:r>
              <a:t>Non-probabilistic sampling methods:</a:t>
            </a:r>
          </a:p>
          <a:p>
            <a:pPr marL="1460500" lvl="1">
              <a:buBlip>
                <a:blip r:embed="rId2"/>
              </a:buBlip>
              <a:defRPr i="1"/>
            </a:pPr>
            <a:r>
              <a:t>Convenience sampling</a:t>
            </a:r>
          </a:p>
          <a:p>
            <a:pPr marL="1016000">
              <a:buBlip>
                <a:blip r:embed="rId2"/>
              </a:buBlip>
            </a:pPr>
            <a:r>
              <a:t>If we need to make strong inferences to the target population, we need a probabilistic sampling method.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800"/>
            </a:lvl1pPr>
          </a:lstStyle>
          <a:p>
            <a:r>
              <a:t>Simple random sampling</a:t>
            </a:r>
          </a:p>
        </p:txBody>
      </p:sp>
      <p:sp>
        <p:nvSpPr>
          <p:cNvPr id="241" name="Shape 24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984250" indent="-539750">
              <a:buBlip>
                <a:blip r:embed="rId2"/>
              </a:buBlip>
              <a:defRPr sz="3400"/>
            </a:pPr>
            <a:r>
              <a:rPr dirty="0"/>
              <a:t>A sample in which every member of the target population has the same probability of being included in the sample.</a:t>
            </a:r>
          </a:p>
          <a:p>
            <a:pPr marL="1428750" lvl="1" indent="-539750">
              <a:defRPr sz="3400"/>
            </a:pPr>
            <a:r>
              <a:rPr dirty="0"/>
              <a:t>Use a random number generator to assign a random number to each member of the target population</a:t>
            </a:r>
            <a:r>
              <a:rPr lang="sv-SE" dirty="0"/>
              <a:t> (</a:t>
            </a:r>
            <a:r>
              <a:rPr lang="sv-SE" dirty="0">
                <a:hlinkClick r:id="rId3"/>
              </a:rPr>
              <a:t>https://www.random.org</a:t>
            </a:r>
            <a:r>
              <a:rPr lang="sv-SE" dirty="0"/>
              <a:t>)</a:t>
            </a:r>
            <a:endParaRPr dirty="0"/>
          </a:p>
          <a:p>
            <a:pPr marL="1428750" lvl="1" indent="-539750">
              <a:buBlip>
                <a:blip r:embed="rId2"/>
              </a:buBlip>
              <a:defRPr sz="3400"/>
            </a:pPr>
            <a:r>
              <a:rPr dirty="0"/>
              <a:t>Order the members on the list according to the random numbers.</a:t>
            </a:r>
          </a:p>
          <a:p>
            <a:pPr marL="1428750" lvl="1" indent="-539750">
              <a:buBlip>
                <a:blip r:embed="rId2"/>
              </a:buBlip>
              <a:defRPr sz="3400"/>
            </a:pPr>
            <a:r>
              <a:rPr dirty="0"/>
              <a:t>Choose the first </a:t>
            </a:r>
            <a:r>
              <a:rPr i="1" dirty="0"/>
              <a:t>n</a:t>
            </a:r>
            <a:r>
              <a:rPr dirty="0"/>
              <a:t> members on the list where </a:t>
            </a:r>
            <a:r>
              <a:rPr i="1" dirty="0"/>
              <a:t>n</a:t>
            </a:r>
            <a:r>
              <a:rPr dirty="0"/>
              <a:t> is the required sample size.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t>Stratified random Sampling</a:t>
            </a:r>
          </a:p>
        </p:txBody>
      </p:sp>
      <p:sp>
        <p:nvSpPr>
          <p:cNvPr id="245" name="Shape 24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143000" indent="-698500">
              <a:buBlip>
                <a:blip r:embed="rId2"/>
              </a:buBlip>
              <a:defRPr sz="4400"/>
            </a:pPr>
            <a:r>
              <a:rPr dirty="0"/>
              <a:t>The target population is divided </a:t>
            </a:r>
            <a:r>
              <a:rPr lang="en-US" dirty="0"/>
              <a:t>into</a:t>
            </a:r>
            <a:r>
              <a:rPr dirty="0"/>
              <a:t> subgroups called </a:t>
            </a:r>
            <a:r>
              <a:rPr i="1" dirty="0"/>
              <a:t>strata</a:t>
            </a:r>
            <a:r>
              <a:rPr dirty="0"/>
              <a:t>. </a:t>
            </a:r>
          </a:p>
          <a:p>
            <a:pPr marL="1143000" indent="-698500">
              <a:buBlip>
                <a:blip r:embed="rId2"/>
              </a:buBlip>
              <a:defRPr sz="4400"/>
            </a:pPr>
            <a:r>
              <a:rPr dirty="0"/>
              <a:t>Each stratum is sampled separately.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Convenience sampling</a:t>
            </a:r>
          </a:p>
        </p:txBody>
      </p:sp>
      <p:sp>
        <p:nvSpPr>
          <p:cNvPr id="249" name="Shape 2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1301750" indent="-857250">
              <a:buBlip>
                <a:blip r:embed="rId2"/>
              </a:buBlip>
              <a:defRPr sz="5400"/>
            </a:lvl1pPr>
          </a:lstStyle>
          <a:p>
            <a:r>
              <a:rPr dirty="0"/>
              <a:t>Obtaining response from those people who are available and willing to take part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Sample size</a:t>
            </a:r>
          </a:p>
        </p:txBody>
      </p:sp>
      <p:sp>
        <p:nvSpPr>
          <p:cNvPr id="253" name="Shape 25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143000" indent="-698500">
              <a:buBlip>
                <a:blip r:embed="rId2"/>
              </a:buBlip>
              <a:defRPr sz="4400"/>
            </a:pPr>
            <a:r>
              <a:rPr dirty="0"/>
              <a:t>If the sample size is not big enough, we cannot come to a reasonable </a:t>
            </a:r>
            <a:r>
              <a:rPr i="1" dirty="0"/>
              <a:t>conclusion</a:t>
            </a:r>
            <a:r>
              <a:rPr dirty="0"/>
              <a:t>, and we can not </a:t>
            </a:r>
            <a:r>
              <a:rPr i="1" dirty="0"/>
              <a:t>generalize</a:t>
            </a:r>
            <a:r>
              <a:rPr dirty="0"/>
              <a:t> to target population.</a:t>
            </a:r>
          </a:p>
          <a:p>
            <a:pPr marL="1143000" indent="-698500">
              <a:buBlip>
                <a:blip r:embed="rId2"/>
              </a:buBlip>
              <a:defRPr sz="4400"/>
            </a:pPr>
            <a:r>
              <a:rPr dirty="0"/>
              <a:t>Borg and Gall </a:t>
            </a:r>
            <a:r>
              <a:rPr lang="sv-SE" dirty="0"/>
              <a:t>(</a:t>
            </a:r>
            <a:r>
              <a:rPr dirty="0"/>
              <a:t>1989) recommend about 100 observations for each of the major sub-groupings in the survey, with 20 to 25 for minor sub-groupings.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Sample size</a:t>
            </a:r>
          </a:p>
        </p:txBody>
      </p:sp>
      <p:sp>
        <p:nvSpPr>
          <p:cNvPr id="257" name="Shape 257"/>
          <p:cNvSpPr>
            <a:spLocks noGrp="1"/>
          </p:cNvSpPr>
          <p:nvPr>
            <p:ph type="body" idx="1"/>
          </p:nvPr>
        </p:nvSpPr>
        <p:spPr>
          <a:xfrm>
            <a:off x="1143000" y="2260600"/>
            <a:ext cx="10718800" cy="7023100"/>
          </a:xfrm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rPr dirty="0"/>
              <a:t>Fowler</a:t>
            </a:r>
            <a:r>
              <a:rPr lang="sv-SE" dirty="0"/>
              <a:t> (</a:t>
            </a:r>
            <a:r>
              <a:rPr dirty="0"/>
              <a:t>2009</a:t>
            </a:r>
            <a:r>
              <a:rPr lang="sv-SE" dirty="0"/>
              <a:t>)</a:t>
            </a:r>
            <a:r>
              <a:rPr dirty="0"/>
              <a:t> presents a table to look up sample sizes. It require</a:t>
            </a:r>
            <a:r>
              <a:rPr lang="sv-SE" dirty="0"/>
              <a:t>s</a:t>
            </a:r>
            <a:r>
              <a:rPr dirty="0"/>
              <a:t> three elements: 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Determine the margin of error you are willing to tolerate (say +/-4% confidence interval).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Determine the confidence level for this margin of error (say 95 out of 100 times, or a 5% chance).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Estimate the percentage of your sample that will respond in a given way (50% with 50/50 being the most conservative because people could respond either way).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Sample size</a:t>
            </a:r>
          </a:p>
        </p:txBody>
      </p:sp>
      <p:sp>
        <p:nvSpPr>
          <p:cNvPr id="261" name="Shape 261"/>
          <p:cNvSpPr/>
          <p:nvPr/>
        </p:nvSpPr>
        <p:spPr>
          <a:xfrm>
            <a:off x="7226300" y="4686299"/>
            <a:ext cx="127000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1200" i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2134568"/>
            <a:ext cx="10553700" cy="697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4. Mode of data collection</a:t>
            </a:r>
          </a:p>
        </p:txBody>
      </p:sp>
      <p:sp>
        <p:nvSpPr>
          <p:cNvPr id="268" name="Shape 26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rPr dirty="0"/>
              <a:t>Mail Surveys: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Best for sensitive items but not open-ended questions.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Lack of control over respondent interaction with unknown others while responding.</a:t>
            </a:r>
          </a:p>
          <a:p>
            <a:pPr marL="1460500" lvl="1">
              <a:buBlip>
                <a:blip r:embed="rId2"/>
              </a:buBlip>
            </a:pPr>
            <a:r>
              <a:rPr i="1" dirty="0"/>
              <a:t>Often</a:t>
            </a:r>
            <a:r>
              <a:rPr dirty="0"/>
              <a:t> used for </a:t>
            </a:r>
            <a:r>
              <a:rPr i="1" dirty="0"/>
              <a:t>very</a:t>
            </a:r>
            <a:r>
              <a:rPr dirty="0"/>
              <a:t> short instruments.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Mode of data collection</a:t>
            </a:r>
          </a:p>
        </p:txBody>
      </p:sp>
      <p:sp>
        <p:nvSpPr>
          <p:cNvPr id="272" name="Shape 27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rPr dirty="0"/>
              <a:t>Direct administration to a group: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Used when researcher has access to all or most of the members of a particular group in one place.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Researcher can explain the study and answer questions.</a:t>
            </a:r>
          </a:p>
          <a:p>
            <a:pPr marL="1460500" lvl="1">
              <a:buBlip>
                <a:blip r:embed="rId2"/>
              </a:buBlip>
            </a:pPr>
            <a:r>
              <a:rPr i="1" dirty="0"/>
              <a:t>Close to 100% response rate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Mode of data collection</a:t>
            </a:r>
          </a:p>
        </p:txBody>
      </p:sp>
      <p:sp>
        <p:nvSpPr>
          <p:cNvPr id="276" name="Shape 276"/>
          <p:cNvSpPr>
            <a:spLocks noGrp="1"/>
          </p:cNvSpPr>
          <p:nvPr>
            <p:ph type="body" idx="1"/>
          </p:nvPr>
        </p:nvSpPr>
        <p:spPr>
          <a:xfrm>
            <a:off x="1143000" y="2374900"/>
            <a:ext cx="10718800" cy="6045200"/>
          </a:xfrm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rPr dirty="0"/>
              <a:t>Personal interview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Can support longer instruments.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Slow data collection time.</a:t>
            </a:r>
          </a:p>
          <a:p>
            <a:pPr marL="1460500" lvl="1">
              <a:buBlip>
                <a:blip r:embed="rId2"/>
              </a:buBlip>
            </a:pPr>
            <a:r>
              <a:rPr i="1" dirty="0"/>
              <a:t>Used when in-depth exploration of opinions is required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Mode of data collection</a:t>
            </a:r>
          </a:p>
        </p:txBody>
      </p:sp>
      <p:sp>
        <p:nvSpPr>
          <p:cNvPr id="280" name="Shape 28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rPr dirty="0"/>
              <a:t>Electronic surveys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Fast in data collection and takes less time in implementation.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Can be administered to large populations.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Not optimal for long surveys or with open-ended questions.</a:t>
            </a:r>
          </a:p>
          <a:p>
            <a:pPr marL="1460500" lvl="1">
              <a:buBlip>
                <a:blip r:embed="rId2"/>
              </a:buBlip>
            </a:pPr>
            <a:r>
              <a:rPr i="1" dirty="0"/>
              <a:t>Near-impossibility of drawing random samples.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10718800" cy="6045200"/>
          </a:xfrm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rPr dirty="0"/>
              <a:t>Telephone surveys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Has the advantage of speed of data collection while supporting longer instruments than mail surveys.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It </a:t>
            </a:r>
            <a:r>
              <a:rPr i="1" dirty="0"/>
              <a:t>supports open-ended responses</a:t>
            </a:r>
            <a:r>
              <a:rPr dirty="0"/>
              <a:t>, though not as well as face-to-face interviewing. </a:t>
            </a:r>
          </a:p>
        </p:txBody>
      </p:sp>
      <p:sp>
        <p:nvSpPr>
          <p:cNvPr id="284" name="Shape 284"/>
          <p:cNvSpPr/>
          <p:nvPr/>
        </p:nvSpPr>
        <p:spPr>
          <a:xfrm>
            <a:off x="1143000" y="825500"/>
            <a:ext cx="10718800" cy="152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5000" i="0" cap="all">
                <a:solidFill>
                  <a:srgbClr val="AF6D51"/>
                </a:solidFill>
              </a:defRPr>
            </a:lvl1pPr>
          </a:lstStyle>
          <a:p>
            <a:r>
              <a:rPr dirty="0">
                <a:solidFill>
                  <a:schemeClr val="bg2">
                    <a:lumMod val="10000"/>
                  </a:schemeClr>
                </a:solidFill>
              </a:rPr>
              <a:t>Mode of data collection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t>5. Constructing the survey instrument</a:t>
            </a:r>
          </a:p>
        </p:txBody>
      </p:sp>
      <p:sp>
        <p:nvSpPr>
          <p:cNvPr id="288" name="Shape 28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t>Survey instruments are usually </a:t>
            </a:r>
            <a:r>
              <a:rPr i="1"/>
              <a:t>questionnaires</a:t>
            </a:r>
            <a:r>
              <a:t>. </a:t>
            </a:r>
          </a:p>
          <a:p>
            <a:pPr marL="1016000">
              <a:buBlip>
                <a:blip r:embed="rId2"/>
              </a:buBlip>
            </a:pPr>
            <a:r>
              <a:t>Questions can be expressed as </a:t>
            </a:r>
            <a:r>
              <a:rPr i="1"/>
              <a:t>open</a:t>
            </a:r>
            <a:r>
              <a:t> and </a:t>
            </a:r>
            <a:r>
              <a:rPr i="1"/>
              <a:t>closed</a:t>
            </a:r>
            <a:r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Open Questions</a:t>
            </a:r>
          </a:p>
        </p:txBody>
      </p:sp>
      <p:sp>
        <p:nvSpPr>
          <p:cNvPr id="292" name="Shape 29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t>A question is open when the respondents are asked to frame their own reply. </a:t>
            </a:r>
          </a:p>
          <a:p>
            <a:pPr marL="1016000">
              <a:buBlip>
                <a:blip r:embed="rId2"/>
              </a:buBlip>
            </a:pPr>
            <a:r>
              <a:t>It avoids imposing any restrictions on the respondent.</a:t>
            </a:r>
          </a:p>
          <a:p>
            <a:pPr marL="1016000">
              <a:buBlip>
                <a:blip r:embed="rId2"/>
              </a:buBlip>
            </a:pPr>
            <a:r>
              <a:t>Open questions have room for misinterpretation and provision of an irrelevant or confusing answer.</a:t>
            </a:r>
          </a:p>
          <a:p>
            <a:pPr marL="1016000">
              <a:buBlip>
                <a:blip r:embed="rId2"/>
              </a:buBlip>
            </a:pPr>
            <a:r>
              <a:t>Open questions are difficult to code and analyze.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B3174AF-4F01-A04F-8664-AED321D3E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Analyzing open questions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8F64218-CF87-C74B-AD76-D2B092AFE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845C836-36EC-DE41-8A74-9F96CDCED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840387"/>
              </p:ext>
            </p:extLst>
          </p:nvPr>
        </p:nvGraphicFramePr>
        <p:xfrm>
          <a:off x="1143000" y="3657605"/>
          <a:ext cx="10718800" cy="4308555"/>
        </p:xfrm>
        <a:graphic>
          <a:graphicData uri="http://schemas.openxmlformats.org/drawingml/2006/table">
            <a:tbl>
              <a:tblPr/>
              <a:tblGrid>
                <a:gridCol w="3444498">
                  <a:extLst>
                    <a:ext uri="{9D8B030D-6E8A-4147-A177-3AD203B41FA5}">
                      <a16:colId xmlns:a16="http://schemas.microsoft.com/office/drawing/2014/main" val="1153571645"/>
                    </a:ext>
                  </a:extLst>
                </a:gridCol>
                <a:gridCol w="7274302">
                  <a:extLst>
                    <a:ext uri="{9D8B030D-6E8A-4147-A177-3AD203B41FA5}">
                      <a16:colId xmlns:a16="http://schemas.microsoft.com/office/drawing/2014/main" val="2938778538"/>
                    </a:ext>
                  </a:extLst>
                </a:gridCol>
              </a:tblGrid>
              <a:tr h="1161865">
                <a:tc>
                  <a:txBody>
                    <a:bodyPr/>
                    <a:lstStyle/>
                    <a:p>
                      <a:r>
                        <a:rPr lang="en-US" sz="2400" i="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Codes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Identifying anchors that allow the key points of the data to be gathered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541084"/>
                  </a:ext>
                </a:extLst>
              </a:tr>
              <a:tr h="1161865">
                <a:tc>
                  <a:txBody>
                    <a:bodyPr/>
                    <a:lstStyle/>
                    <a:p>
                      <a:r>
                        <a:rPr lang="en-US" sz="2400" i="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Concepts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Collections of </a:t>
                      </a:r>
                      <a:r>
                        <a:rPr lang="en-US" sz="2400" b="1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codes</a:t>
                      </a:r>
                      <a:r>
                        <a:rPr lang="en-US" sz="24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 of similar content that allows the data to be grouped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191370"/>
                  </a:ext>
                </a:extLst>
              </a:tr>
              <a:tr h="1161865">
                <a:tc>
                  <a:txBody>
                    <a:bodyPr/>
                    <a:lstStyle/>
                    <a:p>
                      <a:r>
                        <a:rPr lang="en-US" sz="2400" i="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Categories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Broad groups of similar </a:t>
                      </a:r>
                      <a:r>
                        <a:rPr lang="en-US" sz="2400" b="1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concepts</a:t>
                      </a:r>
                      <a:r>
                        <a:rPr lang="en-US" sz="24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 that are used to generate a </a:t>
                      </a:r>
                      <a:r>
                        <a:rPr lang="en-US" sz="2400" i="1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theory</a:t>
                      </a:r>
                      <a:endParaRPr lang="en-US" sz="2400" noProof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971038"/>
                  </a:ext>
                </a:extLst>
              </a:tr>
              <a:tr h="683450">
                <a:tc>
                  <a:txBody>
                    <a:bodyPr/>
                    <a:lstStyle/>
                    <a:p>
                      <a:r>
                        <a:rPr lang="en-US" sz="2400" i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Theory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A collection of </a:t>
                      </a:r>
                      <a:r>
                        <a:rPr lang="en-US" sz="2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categories</a:t>
                      </a:r>
                      <a:r>
                        <a:rPr lang="en-US" sz="2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 that detail the subject of the research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560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34124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Closed Questions</a:t>
            </a:r>
          </a:p>
        </p:txBody>
      </p:sp>
      <p:sp>
        <p:nvSpPr>
          <p:cNvPr id="296" name="Shape 29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rPr lang="en-US" dirty="0"/>
              <a:t>Closed questions limit respondents’ choice of reply, e.g., ordered categorical (Likert) and categorical (0/1).</a:t>
            </a:r>
          </a:p>
          <a:p>
            <a:pPr marL="1016000">
              <a:buBlip>
                <a:blip r:embed="rId2"/>
              </a:buBlip>
            </a:pPr>
            <a:r>
              <a:rPr lang="en-US" dirty="0"/>
              <a:t>Easier to analyze.</a:t>
            </a:r>
          </a:p>
          <a:p>
            <a:pPr marL="1016000">
              <a:buBlip>
                <a:blip r:embed="rId2"/>
              </a:buBlip>
            </a:pPr>
            <a:r>
              <a:rPr lang="en-US" dirty="0"/>
              <a:t>Two scale types are most common:</a:t>
            </a:r>
          </a:p>
          <a:p>
            <a:pPr marL="1460500" lvl="1">
              <a:buBlip>
                <a:blip r:embed="rId2"/>
              </a:buBlip>
            </a:pPr>
            <a:r>
              <a:rPr lang="en-US" i="1" dirty="0"/>
              <a:t>Continuous/ordinal scale</a:t>
            </a:r>
            <a:r>
              <a:rPr lang="en-US" dirty="0"/>
              <a:t>: Strongly Agree to Strongly Disagree.</a:t>
            </a:r>
          </a:p>
          <a:p>
            <a:pPr marL="1460500" lvl="1">
              <a:buBlip>
                <a:blip r:embed="rId2"/>
              </a:buBlip>
            </a:pPr>
            <a:r>
              <a:rPr lang="en-US" i="1" dirty="0"/>
              <a:t>Categorical scale</a:t>
            </a:r>
            <a:r>
              <a:rPr lang="en-US" dirty="0"/>
              <a:t>: -- Yes/No (Don’t Know)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B4A6B6D-C16E-8C42-84F8-88B72BDD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Analyzing closed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text 2">
                <a:extLst>
                  <a:ext uri="{FF2B5EF4-FFF2-40B4-BE49-F238E27FC236}">
                    <a16:creationId xmlns:a16="http://schemas.microsoft.com/office/drawing/2014/main" id="{2826A45A-4262-ED47-ADB9-C8B00721AB2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Model as ordered categorical outcomes, e.g., in </a:t>
                </a:r>
                <a:r>
                  <a:rPr lang="en-US" dirty="0">
                    <a:latin typeface="Courier" pitchFamily="2" charset="0"/>
                  </a:rPr>
                  <a:t>brms</a:t>
                </a:r>
                <a:r>
                  <a:rPr lang="en-US" dirty="0"/>
                  <a:t>, we write one of the two (or both):</a:t>
                </a:r>
              </a:p>
              <a:p>
                <a:pPr lvl="1"/>
                <a:r>
                  <a:rPr lang="en-US" sz="2800" dirty="0">
                    <a:latin typeface="Courier" pitchFamily="2" charset="0"/>
                  </a:rPr>
                  <a:t>brm(y ~ mo(x) + mo(z), family = gaussian)</a:t>
                </a:r>
                <a:r>
                  <a:rPr lang="en-US" dirty="0">
                    <a:latin typeface="Courier" pitchFamily="2" charset="0"/>
                  </a:rPr>
                  <a:t> </a:t>
                </a:r>
                <a:br>
                  <a:rPr lang="en-US" dirty="0"/>
                </a:br>
                <a:r>
                  <a:rPr lang="en-US" dirty="0"/>
                  <a:t>models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as monotonic variables with a Dirichlet prior</a:t>
                </a:r>
              </a:p>
              <a:p>
                <a:pPr lvl="1"/>
                <a:r>
                  <a:rPr lang="en-US" sz="2800" dirty="0">
                    <a:latin typeface="Courier" pitchFamily="2" charset="0"/>
                  </a:rPr>
                  <a:t>brm(y ~ x + z, family = cumulative)</a:t>
                </a:r>
                <a:r>
                  <a:rPr lang="en-US" dirty="0">
                    <a:latin typeface="Courier" pitchFamily="2" charset="0"/>
                  </a:rPr>
                  <a:t> </a:t>
                </a:r>
                <a:br>
                  <a:rPr lang="en-US" dirty="0"/>
                </a:br>
                <a:r>
                  <a:rPr lang="en-US" dirty="0"/>
                  <a:t>models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 an ordered categorical (cumulative) likelihood (i.e., Likert)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Platshållare för text 2">
                <a:extLst>
                  <a:ext uri="{FF2B5EF4-FFF2-40B4-BE49-F238E27FC236}">
                    <a16:creationId xmlns:a16="http://schemas.microsoft.com/office/drawing/2014/main" id="{2826A45A-4262-ED47-ADB9-C8B00721AB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88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99274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A7FA649-6570-504D-BF2A-46378146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Rethinking II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9A8A516-4468-4946-B8F2-F4A6AED38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882900"/>
            <a:ext cx="8627821" cy="6045200"/>
          </a:xfrm>
        </p:spPr>
        <p:txBody>
          <a:bodyPr anchor="t" anchorCtr="0"/>
          <a:lstStyle/>
          <a:p>
            <a:pPr marL="0" indent="0">
              <a:buNone/>
            </a:pPr>
            <a:r>
              <a:rPr lang="en-US" dirty="0"/>
              <a:t>Ch 12 in Edition 2 provides examples where outcome </a:t>
            </a:r>
            <a:r>
              <a:rPr lang="en-US" b="1" dirty="0"/>
              <a:t>and</a:t>
            </a:r>
            <a:r>
              <a:rPr lang="en-US" dirty="0"/>
              <a:t> predictors are ordered categorical:</a:t>
            </a:r>
          </a:p>
          <a:p>
            <a:pPr marL="0" indent="0">
              <a:buNone/>
            </a:pPr>
            <a:r>
              <a:rPr lang="sv-SE" sz="2000" dirty="0">
                <a:latin typeface="Courier" pitchFamily="2" charset="0"/>
              </a:rPr>
              <a:t>m12.5 &lt;- </a:t>
            </a:r>
            <a:r>
              <a:rPr lang="sv-SE" sz="2000" dirty="0" err="1">
                <a:latin typeface="Courier" pitchFamily="2" charset="0"/>
              </a:rPr>
              <a:t>ulam</a:t>
            </a:r>
            <a:r>
              <a:rPr lang="sv-SE" sz="2000" dirty="0">
                <a:latin typeface="Courier" pitchFamily="2" charset="0"/>
              </a:rPr>
              <a:t>(</a:t>
            </a:r>
            <a:br>
              <a:rPr lang="sv-SE" sz="2000" dirty="0">
                <a:latin typeface="Courier" pitchFamily="2" charset="0"/>
              </a:rPr>
            </a:br>
            <a:r>
              <a:rPr lang="sv-SE" sz="2000" dirty="0">
                <a:latin typeface="Courier" pitchFamily="2" charset="0"/>
              </a:rPr>
              <a:t> </a:t>
            </a:r>
            <a:r>
              <a:rPr lang="sv-SE" sz="2000" dirty="0" err="1">
                <a:latin typeface="Courier" pitchFamily="2" charset="0"/>
              </a:rPr>
              <a:t>alist</a:t>
            </a:r>
            <a:r>
              <a:rPr lang="sv-SE" sz="2000" dirty="0">
                <a:latin typeface="Courier" pitchFamily="2" charset="0"/>
              </a:rPr>
              <a:t>(</a:t>
            </a:r>
            <a:br>
              <a:rPr lang="sv-SE" sz="2000" dirty="0">
                <a:latin typeface="Courier" pitchFamily="2" charset="0"/>
              </a:rPr>
            </a:br>
            <a:r>
              <a:rPr lang="sv-SE" sz="2000" dirty="0">
                <a:latin typeface="Courier" pitchFamily="2" charset="0"/>
              </a:rPr>
              <a:t>  R ~ </a:t>
            </a:r>
            <a:r>
              <a:rPr lang="sv-SE" sz="2000" b="1" dirty="0" err="1">
                <a:latin typeface="Courier" pitchFamily="2" charset="0"/>
              </a:rPr>
              <a:t>ordered_logistic</a:t>
            </a:r>
            <a:r>
              <a:rPr lang="sv-SE" sz="2000" dirty="0">
                <a:latin typeface="Courier" pitchFamily="2" charset="0"/>
              </a:rPr>
              <a:t>(</a:t>
            </a:r>
            <a:r>
              <a:rPr lang="sv-SE" sz="2000" dirty="0" err="1">
                <a:latin typeface="Courier" pitchFamily="2" charset="0"/>
              </a:rPr>
              <a:t>phi</a:t>
            </a:r>
            <a:r>
              <a:rPr lang="sv-SE" sz="2000" dirty="0">
                <a:latin typeface="Courier" pitchFamily="2" charset="0"/>
              </a:rPr>
              <a:t>, kappa),</a:t>
            </a:r>
            <a:br>
              <a:rPr lang="sv-SE" sz="2000" dirty="0">
                <a:latin typeface="Courier" pitchFamily="2" charset="0"/>
              </a:rPr>
            </a:br>
            <a:r>
              <a:rPr lang="sv-SE" sz="2000" dirty="0">
                <a:latin typeface="Courier" pitchFamily="2" charset="0"/>
              </a:rPr>
              <a:t>  </a:t>
            </a:r>
            <a:r>
              <a:rPr lang="sv-SE" sz="2000" dirty="0" err="1">
                <a:latin typeface="Courier" pitchFamily="2" charset="0"/>
              </a:rPr>
              <a:t>phi</a:t>
            </a:r>
            <a:r>
              <a:rPr lang="sv-SE" sz="2000" dirty="0">
                <a:latin typeface="Courier" pitchFamily="2" charset="0"/>
              </a:rPr>
              <a:t> &lt;- </a:t>
            </a:r>
            <a:r>
              <a:rPr lang="sv-SE" sz="2000" dirty="0" err="1">
                <a:latin typeface="Courier" pitchFamily="2" charset="0"/>
              </a:rPr>
              <a:t>bE</a:t>
            </a:r>
            <a:r>
              <a:rPr lang="sv-SE" sz="2000" dirty="0">
                <a:latin typeface="Courier" pitchFamily="2" charset="0"/>
              </a:rPr>
              <a:t>*</a:t>
            </a:r>
            <a:r>
              <a:rPr lang="sv-SE" sz="2000" dirty="0" err="1">
                <a:latin typeface="Courier" pitchFamily="2" charset="0"/>
              </a:rPr>
              <a:t>sum</a:t>
            </a:r>
            <a:r>
              <a:rPr lang="sv-SE" sz="2000" dirty="0">
                <a:latin typeface="Courier" pitchFamily="2" charset="0"/>
              </a:rPr>
              <a:t>(</a:t>
            </a:r>
            <a:r>
              <a:rPr lang="sv-SE" sz="2000" b="1" dirty="0" err="1">
                <a:latin typeface="Courier" pitchFamily="2" charset="0"/>
              </a:rPr>
              <a:t>delta_j</a:t>
            </a:r>
            <a:r>
              <a:rPr lang="sv-SE" sz="2000" b="1" dirty="0">
                <a:latin typeface="Courier" pitchFamily="2" charset="0"/>
              </a:rPr>
              <a:t>[1:E]</a:t>
            </a:r>
            <a:r>
              <a:rPr lang="sv-SE" sz="2000" dirty="0">
                <a:latin typeface="Courier" pitchFamily="2" charset="0"/>
              </a:rPr>
              <a:t>) + </a:t>
            </a:r>
            <a:r>
              <a:rPr lang="sv-SE" sz="2000" dirty="0" err="1">
                <a:latin typeface="Courier" pitchFamily="2" charset="0"/>
              </a:rPr>
              <a:t>bA</a:t>
            </a:r>
            <a:r>
              <a:rPr lang="sv-SE" sz="2000" dirty="0">
                <a:latin typeface="Courier" pitchFamily="2" charset="0"/>
              </a:rPr>
              <a:t>*action +</a:t>
            </a:r>
            <a:br>
              <a:rPr lang="sv-SE" sz="2000" dirty="0">
                <a:latin typeface="Courier" pitchFamily="2" charset="0"/>
              </a:rPr>
            </a:br>
            <a:r>
              <a:rPr lang="sv-SE" sz="2000" dirty="0">
                <a:latin typeface="Courier" pitchFamily="2" charset="0"/>
              </a:rPr>
              <a:t>   </a:t>
            </a:r>
            <a:r>
              <a:rPr lang="sv-SE" sz="2000" dirty="0" err="1">
                <a:latin typeface="Courier" pitchFamily="2" charset="0"/>
              </a:rPr>
              <a:t>bI</a:t>
            </a:r>
            <a:r>
              <a:rPr lang="sv-SE" sz="2000" dirty="0">
                <a:latin typeface="Courier" pitchFamily="2" charset="0"/>
              </a:rPr>
              <a:t>*intention + </a:t>
            </a:r>
            <a:r>
              <a:rPr lang="sv-SE" sz="2000" dirty="0" err="1">
                <a:latin typeface="Courier" pitchFamily="2" charset="0"/>
              </a:rPr>
              <a:t>bC</a:t>
            </a:r>
            <a:r>
              <a:rPr lang="sv-SE" sz="2000" dirty="0">
                <a:latin typeface="Courier" pitchFamily="2" charset="0"/>
              </a:rPr>
              <a:t>*</a:t>
            </a:r>
            <a:r>
              <a:rPr lang="sv-SE" sz="2000" dirty="0" err="1">
                <a:latin typeface="Courier" pitchFamily="2" charset="0"/>
              </a:rPr>
              <a:t>contact</a:t>
            </a:r>
            <a:r>
              <a:rPr lang="sv-SE" sz="2000" dirty="0">
                <a:latin typeface="Courier" pitchFamily="2" charset="0"/>
              </a:rPr>
              <a:t>, </a:t>
            </a:r>
            <a:br>
              <a:rPr lang="sv-SE" sz="2000" dirty="0">
                <a:latin typeface="Courier" pitchFamily="2" charset="0"/>
              </a:rPr>
            </a:br>
            <a:r>
              <a:rPr lang="sv-SE" sz="2000" dirty="0">
                <a:latin typeface="Courier" pitchFamily="2" charset="0"/>
              </a:rPr>
              <a:t>  kappa ~ normal(0, 1.5),</a:t>
            </a:r>
            <a:br>
              <a:rPr lang="sv-SE" sz="2000" dirty="0">
                <a:latin typeface="Courier" pitchFamily="2" charset="0"/>
              </a:rPr>
            </a:br>
            <a:r>
              <a:rPr lang="sv-SE" sz="2000" dirty="0">
                <a:latin typeface="Courier" pitchFamily="2" charset="0"/>
              </a:rPr>
              <a:t>  c(</a:t>
            </a:r>
            <a:r>
              <a:rPr lang="sv-SE" sz="2000" dirty="0" err="1">
                <a:latin typeface="Courier" pitchFamily="2" charset="0"/>
              </a:rPr>
              <a:t>bA,bI,bC,bE</a:t>
            </a:r>
            <a:r>
              <a:rPr lang="sv-SE" sz="2000" dirty="0">
                <a:latin typeface="Courier" pitchFamily="2" charset="0"/>
              </a:rPr>
              <a:t>) ~ normal(0, 1),</a:t>
            </a:r>
            <a:br>
              <a:rPr lang="sv-SE" sz="2000" dirty="0">
                <a:latin typeface="Courier" pitchFamily="2" charset="0"/>
              </a:rPr>
            </a:br>
            <a:r>
              <a:rPr lang="sv-SE" sz="2000" dirty="0">
                <a:latin typeface="Courier" pitchFamily="2" charset="0"/>
              </a:rPr>
              <a:t>  </a:t>
            </a:r>
            <a:r>
              <a:rPr lang="sv-SE" sz="2000" b="1" dirty="0" err="1">
                <a:latin typeface="Courier" pitchFamily="2" charset="0"/>
              </a:rPr>
              <a:t>vector</a:t>
            </a:r>
            <a:r>
              <a:rPr lang="sv-SE" sz="2000" b="1" dirty="0">
                <a:latin typeface="Courier" pitchFamily="2" charset="0"/>
              </a:rPr>
              <a:t>[8]: </a:t>
            </a:r>
            <a:r>
              <a:rPr lang="sv-SE" sz="2000" b="1" dirty="0" err="1">
                <a:latin typeface="Courier" pitchFamily="2" charset="0"/>
              </a:rPr>
              <a:t>delta_j</a:t>
            </a:r>
            <a:r>
              <a:rPr lang="sv-SE" sz="2000" b="1" dirty="0">
                <a:latin typeface="Courier" pitchFamily="2" charset="0"/>
              </a:rPr>
              <a:t> &lt;&lt;- </a:t>
            </a:r>
            <a:r>
              <a:rPr lang="sv-SE" sz="2000" b="1" dirty="0" err="1">
                <a:latin typeface="Courier" pitchFamily="2" charset="0"/>
              </a:rPr>
              <a:t>append_row</a:t>
            </a:r>
            <a:r>
              <a:rPr lang="sv-SE" sz="2000" b="1" dirty="0">
                <a:latin typeface="Courier" pitchFamily="2" charset="0"/>
              </a:rPr>
              <a:t>(0, delta),</a:t>
            </a:r>
            <a:br>
              <a:rPr lang="sv-SE" sz="2000" b="1" dirty="0">
                <a:latin typeface="Courier" pitchFamily="2" charset="0"/>
              </a:rPr>
            </a:br>
            <a:r>
              <a:rPr lang="sv-SE" sz="2000" b="1" dirty="0">
                <a:latin typeface="Courier" pitchFamily="2" charset="0"/>
              </a:rPr>
              <a:t>  simplex[7]: delta ~ </a:t>
            </a:r>
            <a:r>
              <a:rPr lang="sv-SE" sz="2000" b="1" dirty="0" err="1">
                <a:latin typeface="Courier" pitchFamily="2" charset="0"/>
              </a:rPr>
              <a:t>dirichlet</a:t>
            </a:r>
            <a:r>
              <a:rPr lang="sv-SE" sz="2000" b="1" dirty="0">
                <a:latin typeface="Courier" pitchFamily="2" charset="0"/>
              </a:rPr>
              <a:t>(</a:t>
            </a:r>
            <a:r>
              <a:rPr lang="sv-SE" sz="2000" b="1" dirty="0" err="1">
                <a:latin typeface="Courier" pitchFamily="2" charset="0"/>
              </a:rPr>
              <a:t>alpha</a:t>
            </a:r>
            <a:r>
              <a:rPr lang="sv-SE" sz="2000" b="1" dirty="0">
                <a:latin typeface="Courier" pitchFamily="2" charset="0"/>
              </a:rPr>
              <a:t>)</a:t>
            </a:r>
            <a:br>
              <a:rPr lang="sv-SE" sz="2000" b="1" dirty="0">
                <a:latin typeface="Courier" pitchFamily="2" charset="0"/>
              </a:rPr>
            </a:br>
            <a:r>
              <a:rPr lang="sv-SE" sz="2000" dirty="0">
                <a:latin typeface="Courier" pitchFamily="2" charset="0"/>
              </a:rPr>
              <a:t>), data=d)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4A0B2C9B-5E97-014B-BE15-4266C867A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821" y="3670351"/>
            <a:ext cx="2829302" cy="447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98310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16FCEE8-E7AD-B64C-94CB-82981616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(2020)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text 2">
                <a:extLst>
                  <a:ext uri="{FF2B5EF4-FFF2-40B4-BE49-F238E27FC236}">
                    <a16:creationId xmlns:a16="http://schemas.microsoft.com/office/drawing/2014/main" id="{C419219A-988E-6641-9549-092845110D4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43000" y="2882900"/>
                <a:ext cx="10718800" cy="5067731"/>
              </a:xfrm>
            </p:spPr>
            <p:txBody>
              <a:bodyPr anchor="t" anchorCtr="0"/>
              <a:lstStyle/>
              <a:p>
                <a:r>
                  <a:rPr lang="en-US" dirty="0"/>
                  <a:t>Jesper &amp; Erik’s study on emotions, feelings, and moods, i.e., A, V, and D, concerning architectural designs (within-person experiment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lang="en-US" dirty="0"/>
                  <a:t>)</a:t>
                </a:r>
                <a:r>
                  <a:rPr lang="en-US" baseline="30000" dirty="0"/>
                  <a:t>1</a:t>
                </a:r>
              </a:p>
              <a:p>
                <a:pPr lvl="1"/>
                <a:r>
                  <a:rPr lang="en-US" dirty="0">
                    <a:latin typeface="Courier" pitchFamily="2" charset="0"/>
                  </a:rPr>
                  <a:t>R</a:t>
                </a:r>
                <a:r>
                  <a:rPr lang="en-US" dirty="0"/>
                  <a:t> example: </a:t>
                </a:r>
                <a:r>
                  <a:rPr lang="en-US" dirty="0">
                    <a:hlinkClick r:id="rId2"/>
                  </a:rPr>
                  <a:t>https://torkar.github.io/affective_states/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Platshållare för text 2">
                <a:extLst>
                  <a:ext uri="{FF2B5EF4-FFF2-40B4-BE49-F238E27FC236}">
                    <a16:creationId xmlns:a16="http://schemas.microsoft.com/office/drawing/2014/main" id="{C419219A-988E-6641-9549-092845110D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43000" y="2882900"/>
                <a:ext cx="10718800" cy="5067731"/>
              </a:xfrm>
              <a:blipFill>
                <a:blip r:embed="rId3"/>
                <a:stretch>
                  <a:fillRect t="-2005" r="-2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ruta 3">
            <a:extLst>
              <a:ext uri="{FF2B5EF4-FFF2-40B4-BE49-F238E27FC236}">
                <a16:creationId xmlns:a16="http://schemas.microsoft.com/office/drawing/2014/main" id="{5DA4BCFC-3C12-F547-8ACF-E4639D770043}"/>
              </a:ext>
            </a:extLst>
          </p:cNvPr>
          <p:cNvSpPr txBox="1"/>
          <p:nvPr/>
        </p:nvSpPr>
        <p:spPr>
          <a:xfrm>
            <a:off x="1143000" y="8753693"/>
            <a:ext cx="11044690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sv-SE" sz="1600" i="0" dirty="0">
                <a:solidFill>
                  <a:schemeClr val="bg1">
                    <a:lumMod val="50000"/>
                  </a:schemeClr>
                </a:solidFill>
              </a:rPr>
              <a:t>1. </a:t>
            </a:r>
            <a:r>
              <a:rPr lang="sv-SE" sz="1600" i="0" dirty="0">
                <a:solidFill>
                  <a:schemeClr val="bg1">
                    <a:lumMod val="50000"/>
                  </a:schemeClr>
                </a:solidFill>
                <a:hlinkClick r:id="rId4"/>
              </a:rPr>
              <a:t>https://statmodeling.stat.columbia.edu/2019/11/16/why-do-a-within-person-rather-than-a-between-person-experiment/</a:t>
            </a:r>
            <a:endParaRPr kumimoji="0" lang="sv-SE" sz="1600" b="0" i="0" u="none" strike="noStrike" cap="none" spc="0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Baskerville"/>
            </a:endParaRPr>
          </a:p>
        </p:txBody>
      </p:sp>
    </p:spTree>
    <p:extLst>
      <p:ext uri="{BB962C8B-B14F-4D97-AF65-F5344CB8AC3E}">
        <p14:creationId xmlns:p14="http://schemas.microsoft.com/office/powerpoint/2010/main" val="2670162821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Guidelines for constructing a survey instrument</a:t>
            </a:r>
          </a:p>
        </p:txBody>
      </p:sp>
      <p:sp>
        <p:nvSpPr>
          <p:cNvPr id="300" name="Shape 300"/>
          <p:cNvSpPr>
            <a:spLocks noGrp="1"/>
          </p:cNvSpPr>
          <p:nvPr>
            <p:ph type="body" idx="1"/>
          </p:nvPr>
        </p:nvSpPr>
        <p:spPr>
          <a:xfrm>
            <a:off x="1143000" y="1790700"/>
            <a:ext cx="11290300" cy="8229600"/>
          </a:xfrm>
          <a:prstGeom prst="rect">
            <a:avLst/>
          </a:prstGeom>
        </p:spPr>
        <p:txBody>
          <a:bodyPr/>
          <a:lstStyle/>
          <a:p>
            <a:pPr marL="809625" indent="-365125">
              <a:buBlip>
                <a:blip r:embed="rId2"/>
              </a:buBlip>
              <a:defRPr sz="2300"/>
            </a:pPr>
            <a:r>
              <a:rPr dirty="0"/>
              <a:t>Try searching for relevant questionnaires and adapt. </a:t>
            </a:r>
          </a:p>
          <a:p>
            <a:pPr marL="1254125" lvl="1" indent="-365125">
              <a:buBlip>
                <a:blip r:embed="rId2"/>
              </a:buBlip>
              <a:defRPr sz="2300"/>
            </a:pPr>
            <a:r>
              <a:rPr lang="sv-SE" dirty="0"/>
              <a:t>E</a:t>
            </a:r>
            <a:r>
              <a:rPr dirty="0" err="1"/>
              <a:t>asier</a:t>
            </a:r>
            <a:r>
              <a:rPr dirty="0"/>
              <a:t> to compare results.</a:t>
            </a:r>
          </a:p>
          <a:p>
            <a:pPr marL="1254125" lvl="1" indent="-365125">
              <a:buBlip>
                <a:blip r:embed="rId2"/>
              </a:buBlip>
              <a:defRPr sz="2300"/>
            </a:pPr>
            <a:r>
              <a:rPr dirty="0"/>
              <a:t>SE surveys are usually developed from scratch. </a:t>
            </a:r>
          </a:p>
          <a:p>
            <a:pPr marL="809625" indent="-365125">
              <a:buBlip>
                <a:blip r:embed="rId2"/>
              </a:buBlip>
              <a:defRPr sz="2300"/>
            </a:pPr>
            <a:r>
              <a:rPr dirty="0"/>
              <a:t>Questions should relate directly to RQs/objectives, hence should be purposeful.</a:t>
            </a:r>
          </a:p>
          <a:p>
            <a:pPr marL="809625" indent="-365125">
              <a:buBlip>
                <a:blip r:embed="rId2"/>
              </a:buBlip>
              <a:defRPr sz="2300"/>
            </a:pPr>
            <a:r>
              <a:rPr dirty="0"/>
              <a:t>Questions should be easily understood and answerable so understand your respondents.</a:t>
            </a:r>
          </a:p>
          <a:p>
            <a:pPr marL="809625" indent="-365125">
              <a:buBlip>
                <a:blip r:embed="rId2"/>
              </a:buBlip>
              <a:defRPr sz="2300"/>
            </a:pPr>
            <a:r>
              <a:rPr dirty="0"/>
              <a:t>Ask an appropriate number of questions: (1) Group into topics and </a:t>
            </a:r>
            <a:r>
              <a:rPr lang="sv-SE" dirty="0"/>
              <a:t>p</a:t>
            </a:r>
            <a:r>
              <a:rPr dirty="0"/>
              <a:t>rune (2) Use standardized response format.</a:t>
            </a:r>
          </a:p>
          <a:p>
            <a:pPr marL="809625" indent="-365125">
              <a:buBlip>
                <a:blip r:embed="rId2"/>
              </a:buBlip>
              <a:defRPr sz="2300"/>
            </a:pPr>
            <a:r>
              <a:rPr dirty="0"/>
              <a:t>Avoid two-edged questions.</a:t>
            </a:r>
          </a:p>
          <a:p>
            <a:pPr marL="809625" indent="-365125">
              <a:buBlip>
                <a:blip r:embed="rId2"/>
              </a:buBlip>
              <a:defRPr sz="2300"/>
            </a:pPr>
            <a:r>
              <a:rPr dirty="0"/>
              <a:t>Use conventional language; avoid use of abbreviations &amp; slang.</a:t>
            </a:r>
          </a:p>
          <a:p>
            <a:pPr marL="809625" indent="-365125">
              <a:buBlip>
                <a:blip r:embed="rId2"/>
              </a:buBlip>
              <a:defRPr sz="2300"/>
            </a:pPr>
            <a:r>
              <a:rPr dirty="0"/>
              <a:t>Avoid using negative questions as they are difficult to understand.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Reliability &amp; validity</a:t>
            </a:r>
          </a:p>
        </p:txBody>
      </p:sp>
      <p:sp>
        <p:nvSpPr>
          <p:cNvPr id="304" name="Shape 30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143000" indent="-698500">
              <a:buBlip>
                <a:blip r:embed="rId2"/>
              </a:buBlip>
              <a:defRPr sz="4400"/>
            </a:pPr>
            <a:r>
              <a:rPr i="1"/>
              <a:t>Reliability</a:t>
            </a:r>
            <a:r>
              <a:t>: A survey is reliable if we administer it many times and get roughly the same distribution of results each time. </a:t>
            </a:r>
          </a:p>
          <a:p>
            <a:pPr marL="1143000" indent="-698500">
              <a:buBlip>
                <a:blip r:embed="rId2"/>
              </a:buBlip>
              <a:defRPr sz="4400"/>
            </a:pPr>
            <a:r>
              <a:rPr i="1"/>
              <a:t>Validity</a:t>
            </a:r>
            <a:r>
              <a:t>: How well the survey instrument measures what it is supposed to measure?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reliability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Shape 308"/>
              <p:cNvSpPr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1016000">
                  <a:buBlip>
                    <a:blip r:embed="rId2"/>
                  </a:buBlip>
                  <a:defRPr i="1"/>
                </a:pPr>
                <a:r>
                  <a:rPr lang="sv-SE" dirty="0"/>
                  <a:t>Test-retest (intra-observer) reliability:</a:t>
                </a:r>
              </a:p>
              <a:p>
                <a:pPr marL="1460500" lvl="1">
                  <a:buBlip>
                    <a:blip r:embed="rId2"/>
                  </a:buBlip>
                </a:pPr>
                <a:r>
                  <a:rPr lang="sv-SE" dirty="0"/>
                  <a:t>Ask the same respondents to complete the survey questions at different times.</a:t>
                </a:r>
              </a:p>
              <a:p>
                <a:pPr marL="1460500" lvl="1">
                  <a:buBlip>
                    <a:blip r:embed="rId2"/>
                  </a:buBlip>
                </a:pPr>
                <a:r>
                  <a:rPr lang="sv-SE" dirty="0"/>
                  <a:t>If the correlation,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sv-SE" dirty="0"/>
                  <a:t>, between the first set of answers and the second is greater than 0.7, we can assume that test-retest reliability is good.</a:t>
                </a:r>
                <a:endParaRPr dirty="0"/>
              </a:p>
            </p:txBody>
          </p:sp>
        </mc:Choice>
        <mc:Fallback xmlns="">
          <p:sp>
            <p:nvSpPr>
              <p:cNvPr id="308" name="Shape 30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r="-71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reliability</a:t>
            </a:r>
          </a:p>
        </p:txBody>
      </p:sp>
      <p:sp>
        <p:nvSpPr>
          <p:cNvPr id="312" name="Shape 312"/>
          <p:cNvSpPr>
            <a:spLocks noGrp="1"/>
          </p:cNvSpPr>
          <p:nvPr>
            <p:ph type="body" idx="1"/>
          </p:nvPr>
        </p:nvSpPr>
        <p:spPr>
          <a:xfrm>
            <a:off x="1143000" y="2882900"/>
            <a:ext cx="6590654" cy="6045200"/>
          </a:xfrm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  <a:defRPr i="1"/>
            </a:pPr>
            <a:r>
              <a:rPr dirty="0"/>
              <a:t>Alternate form reliability: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Test-retest reliability suffers from practice effect and recall problems.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Solution: Give the same respondents different versions of the questionnaire with questions being reworded or reordered.</a:t>
            </a:r>
          </a:p>
        </p:txBody>
      </p:sp>
      <p:pic>
        <p:nvPicPr>
          <p:cNvPr id="3" name="Bildobjekt 2" descr="En bild som visar klocka&#10;&#10;Automatiskt genererad beskrivning">
            <a:extLst>
              <a:ext uri="{FF2B5EF4-FFF2-40B4-BE49-F238E27FC236}">
                <a16:creationId xmlns:a16="http://schemas.microsoft.com/office/drawing/2014/main" id="{A7DF2BBD-F906-4E44-9975-7579555EA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726" y="2362200"/>
            <a:ext cx="3613310" cy="6565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reliability</a:t>
            </a:r>
          </a:p>
        </p:txBody>
      </p:sp>
      <p:sp>
        <p:nvSpPr>
          <p:cNvPr id="316" name="Shape 31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  <a:defRPr i="1"/>
            </a:pPr>
            <a:r>
              <a:t>Internal consistency:</a:t>
            </a:r>
          </a:p>
          <a:p>
            <a:pPr marL="1460500" lvl="1">
              <a:buBlip>
                <a:blip r:embed="rId2"/>
              </a:buBlip>
            </a:pPr>
            <a:r>
              <a:t>Ask group of questions that measure different aspects of the same concept. </a:t>
            </a:r>
          </a:p>
          <a:p>
            <a:pPr marL="1460500" lvl="1">
              <a:buBlip>
                <a:blip r:embed="rId2"/>
              </a:buBlip>
            </a:pPr>
            <a:r>
              <a:t>We want to make sure that these aspects are consistent with respect to the overall concept.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reliability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Shape 320"/>
              <p:cNvSpPr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>
                <a:lvl1pPr marL="1016000">
                  <a:buBlip>
                    <a:blip r:embed="rId2"/>
                  </a:buBlip>
                  <a:defRPr i="1"/>
                </a:lvl1pPr>
                <a:lvl2pPr marL="1460500">
                  <a:buBlip>
                    <a:blip r:embed="rId2"/>
                  </a:buBlip>
                </a:lvl2pPr>
              </a:lstStyle>
              <a:p>
                <a:r>
                  <a:rPr dirty="0"/>
                  <a:t>Inter-observer (inter-rater) reliability:</a:t>
                </a:r>
              </a:p>
              <a:p>
                <a:pPr lvl="1"/>
                <a:r>
                  <a:rPr dirty="0"/>
                  <a:t>We need to check whether or not different observers give similar answers when they assess the same situation.</a:t>
                </a:r>
                <a:endParaRPr lang="sv-SE" dirty="0"/>
              </a:p>
              <a:p>
                <a:pPr lvl="1"/>
                <a:r>
                  <a:rPr lang="sv-SE" dirty="0" err="1"/>
                  <a:t>Krippendorff’s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r>
                      <a:rPr lang="sv-S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sv-SE" dirty="0"/>
                  <a:t> </a:t>
                </a:r>
                <a:br>
                  <a:rPr lang="sv-SE" dirty="0"/>
                </a:br>
                <a:r>
                  <a:rPr lang="sv-SE" dirty="0"/>
                  <a:t>(</a:t>
                </a:r>
                <a:r>
                  <a:rPr lang="sv-SE" dirty="0" err="1"/>
                  <a:t>see</a:t>
                </a:r>
                <a:r>
                  <a:rPr lang="sv-SE" dirty="0"/>
                  <a:t> Hayes &amp; </a:t>
                </a:r>
                <a:r>
                  <a:rPr lang="sv-SE" dirty="0" err="1"/>
                  <a:t>Krippendorff</a:t>
                </a:r>
                <a:r>
                  <a:rPr lang="sv-SE" dirty="0"/>
                  <a:t> (2007))</a:t>
                </a:r>
                <a:endParaRPr dirty="0"/>
              </a:p>
            </p:txBody>
          </p:sp>
        </mc:Choice>
        <mc:Fallback xmlns="">
          <p:sp>
            <p:nvSpPr>
              <p:cNvPr id="320" name="Shape 32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validity</a:t>
            </a:r>
          </a:p>
        </p:txBody>
      </p:sp>
      <p:sp>
        <p:nvSpPr>
          <p:cNvPr id="324" name="Shape 32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  <a:defRPr i="1"/>
            </a:pPr>
            <a:r>
              <a:t>Content validity</a:t>
            </a:r>
          </a:p>
          <a:p>
            <a:pPr marL="1460500" lvl="1">
              <a:buBlip>
                <a:blip r:embed="rId2"/>
              </a:buBlip>
            </a:pPr>
            <a:r>
              <a:t>Subjective assessment of how appropriate the instruments seems to a group of reviewers with knowledge of the subject matter.</a:t>
            </a:r>
          </a:p>
          <a:p>
            <a:pPr marL="1016000">
              <a:buBlip>
                <a:blip r:embed="rId2"/>
              </a:buBlip>
              <a:defRPr i="1"/>
            </a:pPr>
            <a:r>
              <a:t>Criterion validity</a:t>
            </a:r>
          </a:p>
          <a:p>
            <a:pPr marL="1460500" lvl="1">
              <a:buBlip>
                <a:blip r:embed="rId2"/>
              </a:buBlip>
            </a:pPr>
            <a:r>
              <a:t>Compares one instrument to another instrument.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validity</a:t>
            </a:r>
          </a:p>
        </p:txBody>
      </p:sp>
      <p:sp>
        <p:nvSpPr>
          <p:cNvPr id="328" name="Shape 32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  <a:defRPr i="1"/>
            </a:pPr>
            <a:r>
              <a:rPr lang="en-US" dirty="0"/>
              <a:t>Construct validity</a:t>
            </a:r>
          </a:p>
          <a:p>
            <a:pPr marL="1460500" lvl="1">
              <a:buBlip>
                <a:blip r:embed="rId2"/>
              </a:buBlip>
            </a:pPr>
            <a:r>
              <a:rPr lang="en-US" dirty="0"/>
              <a:t>Assess the extent to which different data collection approaches produce similar results.</a:t>
            </a:r>
          </a:p>
          <a:p>
            <a:pPr marL="1460500" lvl="1">
              <a:buBlip>
                <a:blip r:embed="rId2"/>
              </a:buBlip>
            </a:pPr>
            <a:r>
              <a:rPr lang="en-US" dirty="0"/>
              <a:t>Often requires many years of experience to assess it.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6. Survey instrument evaluation/Pre testing</a:t>
            </a:r>
          </a:p>
        </p:txBody>
      </p:sp>
      <p:sp>
        <p:nvSpPr>
          <p:cNvPr id="332" name="Shape 33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t>Two most common ways of evaluation:</a:t>
            </a:r>
          </a:p>
          <a:p>
            <a:pPr marL="1460500" lvl="1">
              <a:buBlip>
                <a:blip r:embed="rId2"/>
              </a:buBlip>
              <a:defRPr i="1"/>
            </a:pPr>
            <a:r>
              <a:t>Focus groups</a:t>
            </a:r>
          </a:p>
          <a:p>
            <a:pPr marL="1460500" lvl="1">
              <a:buBlip>
                <a:blip r:embed="rId2"/>
              </a:buBlip>
              <a:defRPr i="1"/>
            </a:pPr>
            <a:r>
              <a:t>Pilot studies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Focus groups</a:t>
            </a:r>
          </a:p>
        </p:txBody>
      </p:sp>
      <p:sp>
        <p:nvSpPr>
          <p:cNvPr id="336" name="Shape 33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79500" indent="-635000">
              <a:buBlip>
                <a:blip r:embed="rId2"/>
              </a:buBlip>
              <a:defRPr sz="4000"/>
            </a:pPr>
            <a:r>
              <a:t>Assemble a group of people representing respondents, experts, beneficiaries of survey results.</a:t>
            </a:r>
          </a:p>
          <a:p>
            <a:pPr marL="1079500" indent="-635000">
              <a:buBlip>
                <a:blip r:embed="rId2"/>
              </a:buBlip>
              <a:defRPr sz="4000"/>
            </a:pPr>
            <a:r>
              <a:t>Ask them to complete the survey questionnaire.</a:t>
            </a:r>
          </a:p>
          <a:p>
            <a:pPr marL="1079500" indent="-635000">
              <a:buBlip>
                <a:blip r:embed="rId2"/>
              </a:buBlip>
              <a:defRPr sz="4000"/>
            </a:pPr>
            <a:r>
              <a:t>The group identifies missing or unnecessary questions, ambiguous questions and instructions.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Pilot studies</a:t>
            </a:r>
          </a:p>
        </p:txBody>
      </p:sp>
      <p:sp>
        <p:nvSpPr>
          <p:cNvPr id="340" name="Shape 34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143000" indent="-698500">
              <a:buBlip>
                <a:blip r:embed="rId2"/>
              </a:buBlip>
              <a:defRPr sz="4400"/>
            </a:pPr>
            <a:r>
              <a:rPr lang="en-US" dirty="0"/>
              <a:t>Uses the same procedures as planned for the main study but with smaller sample.</a:t>
            </a:r>
          </a:p>
          <a:p>
            <a:pPr marL="1143000" indent="-698500">
              <a:buBlip>
                <a:blip r:embed="rId2"/>
              </a:buBlip>
              <a:defRPr sz="4400"/>
            </a:pPr>
            <a:r>
              <a:rPr lang="en-US" dirty="0"/>
              <a:t>Targets not only problems with questions but also response rate and reliability assessment.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dirty="0"/>
              <a:t>7. Data analysis &amp;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Shape 344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43000" y="2590800"/>
                <a:ext cx="10718800" cy="6273800"/>
              </a:xfrm>
              <a:prstGeom prst="rect">
                <a:avLst/>
              </a:prstGeom>
            </p:spPr>
            <p:txBody>
              <a:bodyPr/>
              <a:lstStyle/>
              <a:p>
                <a:pPr marL="952500" indent="-508000">
                  <a:buBlip>
                    <a:blip r:embed="rId2"/>
                  </a:buBlip>
                  <a:defRPr sz="3200"/>
                </a:pPr>
                <a:r>
                  <a:rPr lang="en-US" sz="2800" i="1" dirty="0"/>
                  <a:t>Step 1</a:t>
                </a:r>
                <a:r>
                  <a:rPr lang="en-US" sz="2800" dirty="0"/>
                  <a:t>: Report information about the number of members of the sample who did and did not return the survey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&gt;0.51</m:t>
                    </m:r>
                  </m:oMath>
                </a14:m>
                <a:r>
                  <a:rPr lang="en-US" sz="2800" dirty="0"/>
                  <a:t> if we follow social science best practice)</a:t>
                </a:r>
              </a:p>
              <a:p>
                <a:pPr marL="952500" indent="-508000">
                  <a:buBlip>
                    <a:blip r:embed="rId2"/>
                  </a:buBlip>
                  <a:defRPr sz="3200"/>
                </a:pPr>
                <a:r>
                  <a:rPr lang="en-US" sz="2800" i="1" dirty="0"/>
                  <a:t>Step 2</a:t>
                </a:r>
                <a:r>
                  <a:rPr lang="en-US" sz="2800" dirty="0"/>
                  <a:t>: Discuss the method by which </a:t>
                </a:r>
                <a:r>
                  <a:rPr lang="en-US" sz="2800" i="1" dirty="0"/>
                  <a:t>response bias</a:t>
                </a:r>
                <a:r>
                  <a:rPr lang="en-US" sz="2800" dirty="0"/>
                  <a:t> will be determined. </a:t>
                </a:r>
              </a:p>
              <a:p>
                <a:pPr marL="1397000" lvl="1" indent="-508000">
                  <a:buBlip>
                    <a:blip r:embed="rId2"/>
                  </a:buBlip>
                  <a:defRPr sz="3200"/>
                </a:pPr>
                <a:r>
                  <a:rPr lang="en-US" sz="2800" dirty="0"/>
                  <a:t>Response bias: If non-respondents had responded, their responses would have substantially changed the overall results.</a:t>
                </a:r>
              </a:p>
              <a:p>
                <a:pPr marL="1841500" lvl="2" indent="-508000">
                  <a:buBlip>
                    <a:blip r:embed="rId2"/>
                  </a:buBlip>
                  <a:defRPr sz="3200"/>
                </a:pPr>
                <a:r>
                  <a:rPr lang="en-US" sz="2800" i="1" dirty="0"/>
                  <a:t>Respondent/non-respondent analysis</a:t>
                </a:r>
                <a:r>
                  <a:rPr lang="en-US" sz="2800" dirty="0"/>
                  <a:t>: Contact a few non-respondents and determine if their responses differ substantially from respondents.</a:t>
                </a:r>
              </a:p>
            </p:txBody>
          </p:sp>
        </mc:Choice>
        <mc:Fallback xmlns="">
          <p:sp>
            <p:nvSpPr>
              <p:cNvPr id="344" name="Shape 34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43000" y="2590800"/>
                <a:ext cx="10718800" cy="6273800"/>
              </a:xfrm>
              <a:prstGeom prst="rect">
                <a:avLst/>
              </a:prstGeom>
              <a:blipFill>
                <a:blip r:embed="rId3"/>
                <a:stretch>
                  <a:fillRect r="-224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dirty="0"/>
              <a:t>Data analysis &amp; interpretation</a:t>
            </a:r>
          </a:p>
        </p:txBody>
      </p:sp>
      <p:sp>
        <p:nvSpPr>
          <p:cNvPr id="348" name="Shape 34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rPr i="1" dirty="0"/>
              <a:t>Step 3</a:t>
            </a:r>
            <a:r>
              <a:rPr dirty="0"/>
              <a:t>: Provide a </a:t>
            </a:r>
            <a:r>
              <a:rPr i="1" dirty="0"/>
              <a:t>descriptive analysis</a:t>
            </a:r>
            <a:r>
              <a:rPr dirty="0"/>
              <a:t> of data for all independent and dependent variables in the study (means, standard deviations, range).</a:t>
            </a:r>
          </a:p>
          <a:p>
            <a:pPr marL="1460500" lvl="1">
              <a:buBlip>
                <a:blip r:embed="rId2"/>
              </a:buBlip>
            </a:pPr>
            <a:r>
              <a:rPr dirty="0"/>
              <a:t>May want to partition the responses and report results for different subgroups. </a:t>
            </a:r>
          </a:p>
          <a:p>
            <a:pPr marL="1016000">
              <a:buBlip>
                <a:blip r:embed="rId2"/>
              </a:buBlip>
            </a:pPr>
            <a:r>
              <a:rPr i="1" dirty="0"/>
              <a:t>Step 4</a:t>
            </a:r>
            <a:r>
              <a:rPr dirty="0"/>
              <a:t>: Decide on data coding for applying statistical tests.</a:t>
            </a:r>
          </a:p>
          <a:p>
            <a:pPr marL="1460500" lvl="1">
              <a:buBlip>
                <a:blip r:embed="rId2"/>
              </a:buBlip>
            </a:pPr>
            <a:r>
              <a:rPr strike="sngStrike" dirty="0"/>
              <a:t>If data is approximately normal, ordinal data </a:t>
            </a:r>
            <a:r>
              <a:rPr i="1" strike="sngStrike" dirty="0"/>
              <a:t>can</a:t>
            </a:r>
            <a:r>
              <a:rPr strike="sngStrike" dirty="0"/>
              <a:t> be converted to numerical values (continuous).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Data analysis &amp; interpretation</a:t>
            </a:r>
          </a:p>
        </p:txBody>
      </p:sp>
      <p:sp>
        <p:nvSpPr>
          <p:cNvPr id="352" name="Shape 35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rPr lang="en-US" i="1" dirty="0"/>
              <a:t>Step 5</a:t>
            </a:r>
            <a:r>
              <a:rPr lang="en-US" dirty="0"/>
              <a:t>: </a:t>
            </a:r>
            <a:r>
              <a:rPr lang="en-US" strike="sngStrike" dirty="0"/>
              <a:t>Identify the statistics for testing the major inferential research questions or hypotheses.</a:t>
            </a:r>
            <a:r>
              <a:rPr lang="en-US" dirty="0"/>
              <a:t> Inferences.</a:t>
            </a:r>
          </a:p>
          <a:p>
            <a:pPr marL="1460500" lvl="1"/>
            <a:r>
              <a:rPr lang="en-US" dirty="0"/>
              <a:t>You know what to do if you’ve passed </a:t>
            </a:r>
            <a:r>
              <a:rPr lang="en-US"/>
              <a:t>the course!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Data analysis &amp; interpretation</a:t>
            </a:r>
          </a:p>
        </p:txBody>
      </p:sp>
      <p:sp>
        <p:nvSpPr>
          <p:cNvPr id="356" name="Shape 35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49500"/>
            <a:ext cx="11353800" cy="6311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Pennanteckning 5">
                <a:extLst>
                  <a:ext uri="{FF2B5EF4-FFF2-40B4-BE49-F238E27FC236}">
                    <a16:creationId xmlns:a16="http://schemas.microsoft.com/office/drawing/2014/main" id="{A8A31BBD-29F0-9D45-9BEF-D99D7D27DA18}"/>
                  </a:ext>
                </a:extLst>
              </p14:cNvPr>
              <p14:cNvContentPartPr/>
              <p14:nvPr/>
            </p14:nvContentPartPr>
            <p14:xfrm>
              <a:off x="1687954" y="1092200"/>
              <a:ext cx="9873000" cy="7907760"/>
            </p14:xfrm>
          </p:contentPart>
        </mc:Choice>
        <mc:Fallback xmlns="">
          <p:pic>
            <p:nvPicPr>
              <p:cNvPr id="6" name="Pennanteckning 5">
                <a:extLst>
                  <a:ext uri="{FF2B5EF4-FFF2-40B4-BE49-F238E27FC236}">
                    <a16:creationId xmlns:a16="http://schemas.microsoft.com/office/drawing/2014/main" id="{A8A31BBD-29F0-9D45-9BEF-D99D7D27DA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4314" y="984560"/>
                <a:ext cx="9980640" cy="812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Data analysis &amp; interpretation</a:t>
            </a:r>
          </a:p>
        </p:txBody>
      </p:sp>
      <p:sp>
        <p:nvSpPr>
          <p:cNvPr id="361" name="Shape 3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16000">
              <a:buBlip>
                <a:blip r:embed="rId2"/>
              </a:buBlip>
            </a:pPr>
            <a:r>
              <a:rPr lang="en-US" i="1" dirty="0"/>
              <a:t>Step 6</a:t>
            </a:r>
            <a:r>
              <a:rPr lang="en-US" dirty="0"/>
              <a:t>: Present the results in tables or figures and interpret the results from the statistical test (if needed!)</a:t>
            </a:r>
          </a:p>
          <a:p>
            <a:pPr marL="1460500" lvl="1">
              <a:buBlip>
                <a:blip r:embed="rId2"/>
              </a:buBlip>
            </a:pPr>
            <a:r>
              <a:rPr lang="en-US" dirty="0"/>
              <a:t>Report </a:t>
            </a:r>
            <a:r>
              <a:rPr lang="en-US" i="1" dirty="0"/>
              <a:t>extensive description</a:t>
            </a:r>
            <a:r>
              <a:rPr lang="en-US" dirty="0"/>
              <a:t>, </a:t>
            </a:r>
            <a:r>
              <a:rPr lang="en-US" i="1" dirty="0"/>
              <a:t>statistical significance testing (if needed!)</a:t>
            </a:r>
            <a:r>
              <a:rPr lang="en-US" dirty="0"/>
              <a:t>, </a:t>
            </a:r>
            <a:r>
              <a:rPr lang="en-US" i="1" dirty="0"/>
              <a:t>credible/compatible intervals</a:t>
            </a:r>
            <a:r>
              <a:rPr lang="en-US" dirty="0"/>
              <a:t> and </a:t>
            </a:r>
            <a:r>
              <a:rPr lang="en-US" i="1" dirty="0"/>
              <a:t>effect sizes</a:t>
            </a:r>
            <a:r>
              <a:rPr lang="en-US" dirty="0"/>
              <a:t>.</a:t>
            </a:r>
          </a:p>
          <a:p>
            <a:pPr marL="1016000">
              <a:buBlip>
                <a:blip r:embed="rId2"/>
              </a:buBlip>
            </a:pPr>
            <a:r>
              <a:rPr lang="en-US" i="1" dirty="0"/>
              <a:t>Step 7</a:t>
            </a:r>
            <a:r>
              <a:rPr lang="en-US" dirty="0"/>
              <a:t>: Discuss the implications of your research for practice and for future research on the topic.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365" name="Shape 36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25500" indent="-381000">
              <a:defRPr sz="2400"/>
            </a:pPr>
            <a:r>
              <a:rPr lang="en-US" sz="2000" dirty="0"/>
              <a:t>[Borg and Gall, 1989] Borg, W. R. and Gall, M. D. (1989) Educational research. White plains, NY: Longman</a:t>
            </a:r>
          </a:p>
          <a:p>
            <a:pPr marL="825500" indent="-381000">
              <a:defRPr sz="2400"/>
            </a:pPr>
            <a:r>
              <a:rPr lang="en-US" sz="2000" dirty="0"/>
              <a:t>[Creswell, 2014] J.W. Creswell. Research design–Qualitative, Quantitative, and Mixed Method Approaches. Sage Publications. 2014</a:t>
            </a:r>
          </a:p>
          <a:p>
            <a:pPr marL="825500" indent="-381000">
              <a:defRPr sz="2400"/>
            </a:pPr>
            <a:r>
              <a:rPr lang="en-US" sz="2000" dirty="0"/>
              <a:t>[Fowler, 2009]. Fowler, F. J. Survey research methods (4th ed.). Thousand Oaks, CA: Sage</a:t>
            </a:r>
          </a:p>
          <a:p>
            <a:pPr marL="825500" indent="-381000">
              <a:defRPr sz="2400"/>
            </a:pPr>
            <a:r>
              <a:rPr lang="en-US" sz="2000" dirty="0"/>
              <a:t>[Hayes and </a:t>
            </a:r>
            <a:r>
              <a:rPr lang="en-US" sz="2000" dirty="0" err="1"/>
              <a:t>Krippendorff</a:t>
            </a:r>
            <a:r>
              <a:rPr lang="en-US" sz="2000" dirty="0"/>
              <a:t>, 2007] Hayes, A. F. and </a:t>
            </a:r>
            <a:r>
              <a:rPr lang="en-US" sz="2000" dirty="0" err="1"/>
              <a:t>Krippendorff</a:t>
            </a:r>
            <a:r>
              <a:rPr lang="en-US" sz="2000" dirty="0"/>
              <a:t>, K. Answering the call for a standard reliability measure for coding data. </a:t>
            </a:r>
            <a:r>
              <a:rPr lang="en-US" sz="2000" i="1" dirty="0"/>
              <a:t>Communication Methods and Measures</a:t>
            </a:r>
            <a:r>
              <a:rPr lang="en-US" sz="2000" dirty="0"/>
              <a:t>, 1:1, 77–89, DOI: </a:t>
            </a:r>
            <a:r>
              <a:rPr lang="en-US" sz="2000" u="sng" dirty="0">
                <a:hlinkClick r:id="rId2"/>
              </a:rPr>
              <a:t>10.1080/19312450709336664</a:t>
            </a:r>
            <a:endParaRPr lang="en-US" sz="2000" dirty="0"/>
          </a:p>
          <a:p>
            <a:pPr marL="825500" indent="-381000">
              <a:defRPr sz="2400"/>
            </a:pPr>
            <a:r>
              <a:rPr lang="en-US" sz="2000" dirty="0"/>
              <a:t>[</a:t>
            </a:r>
            <a:r>
              <a:rPr lang="en-US" sz="2000" dirty="0" err="1"/>
              <a:t>Pfleeger</a:t>
            </a:r>
            <a:r>
              <a:rPr lang="en-US" sz="2000" dirty="0"/>
              <a:t> and </a:t>
            </a:r>
            <a:r>
              <a:rPr lang="en-US" sz="2000" dirty="0" err="1"/>
              <a:t>Kitchenham</a:t>
            </a:r>
            <a:r>
              <a:rPr lang="en-US" sz="2000" dirty="0"/>
              <a:t>, 2001] </a:t>
            </a:r>
            <a:r>
              <a:rPr lang="en-US" sz="2000" dirty="0" err="1"/>
              <a:t>Pfleeger</a:t>
            </a:r>
            <a:r>
              <a:rPr lang="en-US" sz="2000" dirty="0"/>
              <a:t> and B. </a:t>
            </a:r>
            <a:r>
              <a:rPr lang="en-US" sz="2000" dirty="0" err="1"/>
              <a:t>Kitchenham</a:t>
            </a:r>
            <a:r>
              <a:rPr lang="en-US" sz="2000" dirty="0"/>
              <a:t>. Principles of survey research. Part 1–6. Software Engineering Notes, 2001–2003</a:t>
            </a:r>
          </a:p>
          <a:p>
            <a:pPr marL="825500" indent="-381000">
              <a:buBlip>
                <a:blip r:embed="rId3"/>
              </a:buBlip>
              <a:defRPr sz="2400"/>
            </a:pPr>
            <a:r>
              <a:rPr lang="en-US" sz="2000" dirty="0"/>
              <a:t>[Robson, 2002] C. Robson. Real world research. 2nd Edition. Blackwell Publishing. 2002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7B5E2F"/>
      </a:dk1>
      <a:lt1>
        <a:srgbClr val="4C5E7B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3F3F3"/>
            </a:solidFill>
            <a:effectLst>
              <a:outerShdw blurRad="50800" dist="12700" dir="5400000" rotWithShape="0">
                <a:srgbClr val="000000">
                  <a:alpha val="50000"/>
                </a:srgbClr>
              </a:outerShdw>
            </a:effectLst>
            <a:uFillTx/>
            <a:latin typeface="Baskerville SemiBold"/>
            <a:ea typeface="Baskerville SemiBold"/>
            <a:cs typeface="Baskerville SemiBold"/>
            <a:sym typeface="Baskerville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7B5E2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1" u="none" strike="noStrike" cap="none" spc="0" normalizeH="0" baseline="0">
            <a:ln>
              <a:noFill/>
            </a:ln>
            <a:solidFill>
              <a:srgbClr val="7B5E2F"/>
            </a:solidFill>
            <a:effectLst/>
            <a:uFillTx/>
            <a:latin typeface="+mn-lt"/>
            <a:ea typeface="+mn-ea"/>
            <a:cs typeface="+mn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Baskerville"/>
        <a:ea typeface="Baskerville"/>
        <a:cs typeface="Baskerville"/>
      </a:majorFont>
      <a:minorFont>
        <a:latin typeface="Baskerville"/>
        <a:ea typeface="Baskerville"/>
        <a:cs typeface="Baskervill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3F3F3"/>
            </a:solidFill>
            <a:effectLst>
              <a:outerShdw blurRad="50800" dist="12700" dir="5400000" rotWithShape="0">
                <a:srgbClr val="000000">
                  <a:alpha val="50000"/>
                </a:srgbClr>
              </a:outerShdw>
            </a:effectLst>
            <a:uFillTx/>
            <a:latin typeface="Baskerville SemiBold"/>
            <a:ea typeface="Baskerville SemiBold"/>
            <a:cs typeface="Baskerville SemiBold"/>
            <a:sym typeface="Baskerville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7B5E2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1" u="none" strike="noStrike" cap="none" spc="0" normalizeH="0" baseline="0">
            <a:ln>
              <a:noFill/>
            </a:ln>
            <a:solidFill>
              <a:srgbClr val="7B5E2F"/>
            </a:solidFill>
            <a:effectLst/>
            <a:uFillTx/>
            <a:latin typeface="+mn-lt"/>
            <a:ea typeface="+mn-ea"/>
            <a:cs typeface="+mn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2482</Words>
  <Application>Microsoft Macintosh PowerPoint</Application>
  <PresentationFormat>Custom</PresentationFormat>
  <Paragraphs>220</Paragraphs>
  <Slides>50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Cambria Math</vt:lpstr>
      <vt:lpstr>Courier</vt:lpstr>
      <vt:lpstr>Lucida Grande</vt:lpstr>
      <vt:lpstr>White</vt:lpstr>
      <vt:lpstr>survey Research </vt:lpstr>
      <vt:lpstr>contents</vt:lpstr>
      <vt:lpstr>But first some nomenclature and definitions</vt:lpstr>
      <vt:lpstr>What is a survey?</vt:lpstr>
      <vt:lpstr>Features of survey</vt:lpstr>
      <vt:lpstr>PowerPoint Presentation</vt:lpstr>
      <vt:lpstr>Types of survey</vt:lpstr>
      <vt:lpstr>Types of survey</vt:lpstr>
      <vt:lpstr>Types of survey</vt:lpstr>
      <vt:lpstr>The survey process</vt:lpstr>
      <vt:lpstr>1. Setting Survey objectives</vt:lpstr>
      <vt:lpstr>A good practice</vt:lpstr>
      <vt:lpstr>2-3: Sample &amp; population</vt:lpstr>
      <vt:lpstr>Population identification</vt:lpstr>
      <vt:lpstr>Sample identification</vt:lpstr>
      <vt:lpstr>Simple random sampling</vt:lpstr>
      <vt:lpstr>Stratified random Sampling</vt:lpstr>
      <vt:lpstr>Convenience sampling</vt:lpstr>
      <vt:lpstr>Sample size</vt:lpstr>
      <vt:lpstr>Sample size</vt:lpstr>
      <vt:lpstr>Sample size</vt:lpstr>
      <vt:lpstr>4. Mode of data collection</vt:lpstr>
      <vt:lpstr>Mode of data collection</vt:lpstr>
      <vt:lpstr>Mode of data collection</vt:lpstr>
      <vt:lpstr>Mode of data collection</vt:lpstr>
      <vt:lpstr>PowerPoint Presentation</vt:lpstr>
      <vt:lpstr>5. Constructing the survey instrument</vt:lpstr>
      <vt:lpstr>Open Questions</vt:lpstr>
      <vt:lpstr>Analyzing open questions</vt:lpstr>
      <vt:lpstr>Closed Questions</vt:lpstr>
      <vt:lpstr>Analyzing closed questions</vt:lpstr>
      <vt:lpstr>Rethinking II</vt:lpstr>
      <vt:lpstr>AN EXAMPLE (2020)</vt:lpstr>
      <vt:lpstr>Guidelines for constructing a survey instrument</vt:lpstr>
      <vt:lpstr>Reliability &amp; validity</vt:lpstr>
      <vt:lpstr>Types of reliability</vt:lpstr>
      <vt:lpstr>Types of reliability</vt:lpstr>
      <vt:lpstr>Types of reliability</vt:lpstr>
      <vt:lpstr>Types of reliability</vt:lpstr>
      <vt:lpstr>Types of validity</vt:lpstr>
      <vt:lpstr>Types of validity</vt:lpstr>
      <vt:lpstr>6. Survey instrument evaluation/Pre testing</vt:lpstr>
      <vt:lpstr>Focus groups</vt:lpstr>
      <vt:lpstr>Pilot studies</vt:lpstr>
      <vt:lpstr>7. Data analysis &amp; interpretation</vt:lpstr>
      <vt:lpstr>Data analysis &amp; interpretation</vt:lpstr>
      <vt:lpstr>Data analysis &amp; interpretation</vt:lpstr>
      <vt:lpstr>Data analysis &amp; interpretation</vt:lpstr>
      <vt:lpstr>Data analysis &amp; interpretation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survey Research</dc:title>
  <cp:lastModifiedBy>Richard Torkar</cp:lastModifiedBy>
  <cp:revision>105</cp:revision>
  <dcterms:modified xsi:type="dcterms:W3CDTF">2025-10-06T07:02:52Z</dcterms:modified>
</cp:coreProperties>
</file>